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57" r:id="rId4"/>
  </p:sldMasterIdLst>
  <p:notesMasterIdLst>
    <p:notesMasterId r:id="rId5"/>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Lst>
  <p:sldSz cy="6858000" cx="12192000"/>
  <p:notesSz cx="6858000" cy="9144000"/>
  <p:embeddedFontLst>
    <p:embeddedFont>
      <p:font typeface="Montserrat"/>
      <p:regular r:id="rId45"/>
      <p:bold r:id="rId46"/>
      <p:italic r:id="rId47"/>
      <p:boldItalic r:id="rId48"/>
    </p:embeddedFont>
    <p:embeddedFont>
      <p:font typeface="PT Serif"/>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4EEC15-A9DF-411B-84D9-FE5B546B08F0}">
  <a:tblStyle styleId="{4E4EEC15-A9DF-411B-84D9-FE5B546B08F0}" styleName="Table_0">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6D7A6AC-8C31-4B84-A4D2-314A5D9CE931}"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45" Type="http://schemas.openxmlformats.org/officeDocument/2006/relationships/font" Target="fonts/Montserrat-regular.fntdata"/><Relationship Id="rId46" Type="http://schemas.openxmlformats.org/officeDocument/2006/relationships/font" Target="fonts/Montserrat-bold.fntdata"/><Relationship Id="rId47" Type="http://schemas.openxmlformats.org/officeDocument/2006/relationships/font" Target="fonts/Montserrat-italic.fntdata"/><Relationship Id="rId48" Type="http://schemas.openxmlformats.org/officeDocument/2006/relationships/font" Target="fonts/Montserrat-boldItalic.fntdata"/><Relationship Id="rId49" Type="http://schemas.openxmlformats.org/officeDocument/2006/relationships/font" Target="fonts/PTSerif-regular.fntdata"/><Relationship Id="rId50" Type="http://schemas.openxmlformats.org/officeDocument/2006/relationships/font" Target="fonts/PTSerif-bold.fntdata"/><Relationship Id="rId51" Type="http://schemas.openxmlformats.org/officeDocument/2006/relationships/font" Target="fonts/PTSerif-italic.fntdata"/><Relationship Id="rId52" Type="http://schemas.openxmlformats.org/officeDocument/2006/relationships/font" Target="fonts/PTSerif-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idea is to make the start of a tutoring session more useful. A student's question tells us what they're working on, but it doesn't always tell us where they're stuck. Mathify uses the waiting time to ask short concept questions, then puts those answers in a brief the tutor can inspect. Today I'll walk through one example, explain why the approach is worth testing, and show exactly which evidence we have and which evidence is still missing.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this equation. The student might be stuck on brackets, balancing, or dividing at the end. Looking at the question alone doesn't distinguish those possibilities. A short probe can give the tutor something more specific to discuss. It still isn't a diagnosis: a wrong choice could be a slip or a guess. We're trying to surface a useful starting point that the tutor confirms with the student, while leaving the whiteboard available for their own work.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strongest educational reason for the design. The EEF's feedback guidance recommends using formative assessment to establish learning gaps before giving feedback. We've translated that into a simple sequence: ask about a concept, inspect the response, and let the tutor decide where to begin. The research supports that principle. It does not evaluate Mathify, and it doesn't establish that our AI questions are accurate or that this brief saves tutor time. Those are separate things we need to measure.</a:t>
            </a:r>
          </a:p>
          <a:p/>
          <a:p>
            <a:r>
              <a:t>References:</a:t>
            </a:r>
          </a:p>
          <a:p>
            <a:r>
              <a:t>EEF feedback guidance: https://educationendowmentfoundation.org.uk/education-evidence/guidance-reports/feedback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student submits a problem, and the AI breaks it into ordered concepts. For each concept, the app asks a main probe and has an easier retry ready. A wrong answer or 'I don't know' leads to that retry. The brief keeps the actual responses, including early submission and concepts that weren't reached. The tutor can inspect the gap rather than trust an unexplained summary. Whiteboard work travels with the handoff as an image preview; the current AI does not assess that handwriting.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Here's the same example all the way through. The main probe asks the student to expand 2 times x plus 3. They choose 2x plus 3, which misses multiplying the second term. The easier question asks about 2 times x plus 1, and they choose the correct 2x plus 2. That suggests a simpler example may be a useful starting point, but the tutor should check their thinking. This is a synthetic walkthrough, not an actual student or live-model accuracy result.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priority card in the working tutor view. The possible gap comes first. The tutor can compare the selected answer with the key, and see that the student got the easier retry right. That supports a specific conversation about how multiplication applies to both terms. It doesn't mean the student has a confirmed misconception. The confidence label elsewhere in the brief is also a heuristic, not calibrated accuracy. Our next usability check is whether tutors can read this quickly and interpret it correctly.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There are different kinds of checks, and they answer different questions. Schema validation checks that the response has a usable structure. The optional second AI call reviews the breakdown and the probes, including the easier question's hint and explanation. But two calls to the same provider can agree on a mistake. An independent mathematical and educator review is still needed. We have reference answers and a harness to start that work, but we haven't run a live accuracy benchmark. No live-model accuracy percentage is claimed.</a:t>
            </a:r>
          </a:p>
          <a:p/>
          <a:p>
            <a:r>
              <a:t>References:</a:t>
            </a:r>
          </a:p>
          <a:p>
            <a:r>
              <a:t>Wei et al., 2022: language-model reasoning context: https://arxiv.org/abs/2201.11903</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Here's the boundary of what we've verified. The offline suite has 111 passing tests, and three browser checks cover the synthetic handoff flows and the presentation. Eight reference solutions have also been checked. These numbers tell us about software behavior and reference mathematics, not the quality of 111 generated questions or outcomes for 111 students. Live probe correctness, tutor comprehension, and student benefit remain unmeasured.</a:t>
            </a:r>
          </a:p>
          <a:p/>
          <a:p>
            <a:r>
              <a:t>Checked reference answers: x = 4; (x + 2)(x + 3); hypotenuse 5 cm; sin θ = 5/13; 5 cups; (x, y) = (2, 5); circle area 153.9 cm²; x⁴; x ≠ 0. These are reference answers, not generated-model results.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There are zero tutor responses so far, so there's no tutor feedback analysis to present yet. The external questionnaire has been distributed and is intended to tell us about tutors' needs and layout preferences. This in-app form asks about an individual report: usefulness, breakdown accuracy, and probe quality. We checked the submission path and fixed the false-success behavior on failed saves. Once responses arrive, we'll report the count, rating distributions, and comments without overgeneralizing a small sample. A timed walkthrough will complement those opinions with observed behavior.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 validate this in stages. First, generate live items for the existing reference cases and have a reviewer check the concepts, answer keys, distractors, hints, and retries. Record the number reviewed and the errors, rather than just an overall success claim. Then give tutors matched synthetic cases with and without the brief, counterbalancing which one they see first. Measure time to the main takeaway and whether that takeaway is correct, alongside their feedback. A small student pilot should follow only if the mathematical and tutor-review gates are met.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next milestone I'd ask us to approve is a small validation round. We need live-model access, someone to independently review the mathematics, and tutors for a short walkthrough. Alec already put the breakdown, reviewer, evaluation harness, and survey scaffolding in place. The work in this session extends the whiteboard, makes feedback saving reliable, and makes the evidence and handoff easier to inspect. The remaining question isn't whether we can build more screens. It's whether tutors get a correct, useful starting point from this one.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references serve different purposes. EEF supports the educational rationale. Wei and colleagues provide context for language-model reasoning research, not evidence of student learning in Mathify. Ontario provides curriculum context, not verified textbook attribution. For the presentation design, I inspected an actual public Google Cloud executive deck and the Google Cloud Next case study from Google's design partner, Sparks. The layouts here are original, inspired by the hierarchy, spacing, and diagram-led storytelling, with no Google branding or endorsement. The PowerPoint retains its Beatrice template lineage and attribution under CC BY 4.0. The screenshots use mock data.</a:t>
            </a:r>
          </a:p>
          <a:p/>
          <a:p>
            <a:r>
              <a:t>Original template resource credits: SlidesCarnival, Unsplash, and SubtlePatterns. The original photos and textured backgrounds are not used in the visible compositions.</a:t>
            </a:r>
          </a:p>
          <a:p/>
          <a:p>
            <a:r>
              <a:t>References:</a:t>
            </a:r>
          </a:p>
          <a:p>
            <a:r>
              <a:t>EEF: formative assessment and feedback: https://educationendowmentfoundation.org.uk/education-evidence/guidance-reports/feedback</a:t>
            </a:r>
          </a:p>
          <a:p>
            <a:r>
              <a:t>Wei et al., 2022: model reasoning, not student outcomes: https://arxiv.org/abs/2201.11903</a:t>
            </a:r>
          </a:p>
          <a:p>
            <a:r>
              <a:t>Ontario MTH1W: curriculum context: https://www.dcp.edu.gov.on.ca/en/curriculum/secondary-mathematics/courses/mth1w</a:t>
            </a:r>
          </a:p>
          <a:p>
            <a:r>
              <a:t>Public Google Cloud executive deck, February 2020: https://services.google.com/fh/files/misc/goldman_sachs_keynote_google_cloud_thomas_kurian_021120.pdf</a:t>
            </a:r>
          </a:p>
          <a:p>
            <a:r>
              <a:t>Sparks: Google Cloud Next keynote design case study: https://www.wearesparks.com/our-work/google-cloud-next/</a:t>
            </a:r>
          </a:p>
          <a:p>
            <a:r>
              <a:t>Beatrice template lineage, SlidesCarnival: https://www.slidescarnival.com/template/beatrice-free-presentation-template/66</a:t>
            </a:r>
          </a:p>
          <a:p>
            <a:r>
              <a:t>CC BY 4.0: https://creativecommons.org/licenses/by/4.0/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solidFill>
          <a:srgbClr val="000000"/>
        </a:solidFill>
      </p:bgPr>
    </p:bg>
    <p:spTree>
      <p:nvGrpSpPr>
        <p:cNvPr id="9" name="Shape 9"/>
        <p:cNvGrpSpPr/>
        <p:nvPr/>
      </p:nvGrpSpPr>
      <p:grpSpPr>
        <a:xfrm>
          <a:off x="0" y="0"/>
          <a:ext cx="0" cy="0"/>
          <a:chOff x="0" y="0"/>
          <a:chExt cx="0" cy="0"/>
        </a:xfrm>
      </p:grpSpPr>
      <p:sp>
        <p:nvSpPr>
          <p:cNvPr id="10" name="Google Shape;10;p2"/>
          <p:cNvSpPr txBox="1"/>
          <p:nvPr>
            <p:ph type="ctrTitle"/>
          </p:nvPr>
        </p:nvSpPr>
        <p:spPr>
          <a:xfrm>
            <a:off x="634275" y="1839413"/>
            <a:ext cx="7888800" cy="11598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p:txBody>
      </p:sp>
      <p:cxnSp>
        <p:nvCxnSpPr>
          <p:cNvPr id="11" name="Google Shape;11;p2"/>
          <p:cNvCxnSpPr/>
          <p:nvPr/>
        </p:nvCxnSpPr>
        <p:spPr>
          <a:xfrm rot="10800000">
            <a:off x="2588100" y="3488719"/>
            <a:ext cx="3967800" cy="0"/>
          </a:xfrm>
          <a:prstGeom prst="straightConnector1">
            <a:avLst/>
          </a:prstGeom>
          <a:noFill/>
          <a:ln cap="flat" cmpd="sng" w="9525">
            <a:solidFill>
              <a:schemeClr val="lt1"/>
            </a:solidFill>
            <a:prstDash val="solid"/>
            <a:round/>
            <a:headEnd len="med" w="med" type="oval"/>
            <a:tailEnd len="med" w="med" type="oval"/>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p:cSld name="TITLE_1">
    <p:spTree>
      <p:nvGrpSpPr>
        <p:cNvPr id="12" name="Shape 12"/>
        <p:cNvGrpSpPr/>
        <p:nvPr/>
      </p:nvGrpSpPr>
      <p:grpSpPr>
        <a:xfrm>
          <a:off x="0" y="0"/>
          <a:ext cx="0" cy="0"/>
          <a:chOff x="0" y="0"/>
          <a:chExt cx="0" cy="0"/>
        </a:xfrm>
      </p:grpSpPr>
      <p:sp>
        <p:nvSpPr>
          <p:cNvPr id="13" name="Google Shape;13;p3"/>
          <p:cNvSpPr txBox="1"/>
          <p:nvPr>
            <p:ph type="ctrTitle"/>
          </p:nvPr>
        </p:nvSpPr>
        <p:spPr>
          <a:xfrm>
            <a:off x="2600500" y="2040544"/>
            <a:ext cx="5857800" cy="1159800"/>
          </a:xfrm>
          <a:prstGeom prst="rect">
            <a:avLst/>
          </a:prstGeom>
        </p:spPr>
        <p:txBody>
          <a:bodyPr anchorCtr="0" anchor="b" bIns="91425" lIns="91425" spcFirstLastPara="1" rIns="91425" wrap="square" tIns="91425">
            <a:noAutofit/>
          </a:bodyPr>
          <a:lstStyle>
            <a:lvl1pPr lvl="0" rtl="0" algn="l">
              <a:spcBef>
                <a:spcPts val="0"/>
              </a:spcBef>
              <a:spcAft>
                <a:spcPts val="0"/>
              </a:spcAft>
              <a:buSzPts val="3600"/>
              <a:buNone/>
              <a:defRPr sz="3600"/>
            </a:lvl1pPr>
            <a:lvl2pPr lvl="1" rtl="0" algn="l">
              <a:spcBef>
                <a:spcPts val="0"/>
              </a:spcBef>
              <a:spcAft>
                <a:spcPts val="0"/>
              </a:spcAft>
              <a:buSzPts val="3600"/>
              <a:buNone/>
              <a:defRPr sz="3600"/>
            </a:lvl2pPr>
            <a:lvl3pPr lvl="2" rtl="0" algn="l">
              <a:spcBef>
                <a:spcPts val="0"/>
              </a:spcBef>
              <a:spcAft>
                <a:spcPts val="0"/>
              </a:spcAft>
              <a:buSzPts val="3600"/>
              <a:buNone/>
              <a:defRPr sz="3600"/>
            </a:lvl3pPr>
            <a:lvl4pPr lvl="3" rtl="0" algn="l">
              <a:spcBef>
                <a:spcPts val="0"/>
              </a:spcBef>
              <a:spcAft>
                <a:spcPts val="0"/>
              </a:spcAft>
              <a:buSzPts val="3600"/>
              <a:buNone/>
              <a:defRPr sz="3600"/>
            </a:lvl4pPr>
            <a:lvl5pPr lvl="4" rtl="0" algn="l">
              <a:spcBef>
                <a:spcPts val="0"/>
              </a:spcBef>
              <a:spcAft>
                <a:spcPts val="0"/>
              </a:spcAft>
              <a:buSzPts val="3600"/>
              <a:buNone/>
              <a:defRPr sz="3600"/>
            </a:lvl5pPr>
            <a:lvl6pPr lvl="5" rtl="0" algn="l">
              <a:spcBef>
                <a:spcPts val="0"/>
              </a:spcBef>
              <a:spcAft>
                <a:spcPts val="0"/>
              </a:spcAft>
              <a:buSzPts val="3600"/>
              <a:buNone/>
              <a:defRPr sz="3600"/>
            </a:lvl6pPr>
            <a:lvl7pPr lvl="6" rtl="0" algn="l">
              <a:spcBef>
                <a:spcPts val="0"/>
              </a:spcBef>
              <a:spcAft>
                <a:spcPts val="0"/>
              </a:spcAft>
              <a:buSzPts val="3600"/>
              <a:buNone/>
              <a:defRPr sz="3600"/>
            </a:lvl7pPr>
            <a:lvl8pPr lvl="7" rtl="0" algn="l">
              <a:spcBef>
                <a:spcPts val="0"/>
              </a:spcBef>
              <a:spcAft>
                <a:spcPts val="0"/>
              </a:spcAft>
              <a:buSzPts val="3600"/>
              <a:buNone/>
              <a:defRPr sz="3600"/>
            </a:lvl8pPr>
            <a:lvl9pPr lvl="8" rtl="0" algn="l">
              <a:spcBef>
                <a:spcPts val="0"/>
              </a:spcBef>
              <a:spcAft>
                <a:spcPts val="0"/>
              </a:spcAft>
              <a:buSzPts val="3600"/>
              <a:buNone/>
              <a:defRPr sz="3600"/>
            </a:lvl9pPr>
          </a:lstStyle>
          <a:p/>
        </p:txBody>
      </p:sp>
      <p:sp>
        <p:nvSpPr>
          <p:cNvPr id="14" name="Google Shape;14;p3"/>
          <p:cNvSpPr txBox="1"/>
          <p:nvPr>
            <p:ph idx="1" type="subTitle"/>
          </p:nvPr>
        </p:nvSpPr>
        <p:spPr>
          <a:xfrm>
            <a:off x="2600400" y="3182963"/>
            <a:ext cx="5857800" cy="784800"/>
          </a:xfrm>
          <a:prstGeom prst="rect">
            <a:avLst/>
          </a:prstGeom>
        </p:spPr>
        <p:txBody>
          <a:bodyPr anchorCtr="0" anchor="t" bIns="91425" lIns="91425" spcFirstLastPara="1" rIns="91425" wrap="square" tIns="91425">
            <a:noAutofit/>
          </a:bodyPr>
          <a:lstStyle>
            <a:lvl1pPr lvl="0" rtl="0">
              <a:spcBef>
                <a:spcPts val="0"/>
              </a:spcBef>
              <a:spcAft>
                <a:spcPts val="0"/>
              </a:spcAft>
              <a:buClr>
                <a:schemeClr val="accent1"/>
              </a:buClr>
              <a:buSzPts val="2400"/>
              <a:buNone/>
              <a:defRPr i="1" sz="2400">
                <a:solidFill>
                  <a:schemeClr val="accent1"/>
                </a:solidFill>
              </a:defRPr>
            </a:lvl1pPr>
            <a:lvl2pPr lvl="1" rtl="0">
              <a:spcBef>
                <a:spcPts val="0"/>
              </a:spcBef>
              <a:spcAft>
                <a:spcPts val="0"/>
              </a:spcAft>
              <a:buClr>
                <a:schemeClr val="accent1"/>
              </a:buClr>
              <a:buSzPts val="2400"/>
              <a:buNone/>
              <a:defRPr i="1">
                <a:solidFill>
                  <a:schemeClr val="accent1"/>
                </a:solidFill>
              </a:defRPr>
            </a:lvl2pPr>
            <a:lvl3pPr lvl="2" rtl="0">
              <a:spcBef>
                <a:spcPts val="0"/>
              </a:spcBef>
              <a:spcAft>
                <a:spcPts val="0"/>
              </a:spcAft>
              <a:buClr>
                <a:schemeClr val="accent1"/>
              </a:buClr>
              <a:buSzPts val="2400"/>
              <a:buNone/>
              <a:defRPr i="1">
                <a:solidFill>
                  <a:schemeClr val="accent1"/>
                </a:solidFill>
              </a:defRPr>
            </a:lvl3pPr>
            <a:lvl4pPr lvl="3" rtl="0">
              <a:spcBef>
                <a:spcPts val="0"/>
              </a:spcBef>
              <a:spcAft>
                <a:spcPts val="0"/>
              </a:spcAft>
              <a:buClr>
                <a:schemeClr val="accent1"/>
              </a:buClr>
              <a:buSzPts val="2400"/>
              <a:buNone/>
              <a:defRPr i="1" sz="2400">
                <a:solidFill>
                  <a:schemeClr val="accent1"/>
                </a:solidFill>
              </a:defRPr>
            </a:lvl4pPr>
            <a:lvl5pPr lvl="4" rtl="0">
              <a:spcBef>
                <a:spcPts val="0"/>
              </a:spcBef>
              <a:spcAft>
                <a:spcPts val="0"/>
              </a:spcAft>
              <a:buClr>
                <a:schemeClr val="accent1"/>
              </a:buClr>
              <a:buSzPts val="2400"/>
              <a:buNone/>
              <a:defRPr i="1" sz="2400">
                <a:solidFill>
                  <a:schemeClr val="accent1"/>
                </a:solidFill>
              </a:defRPr>
            </a:lvl5pPr>
            <a:lvl6pPr lvl="5" rtl="0">
              <a:spcBef>
                <a:spcPts val="0"/>
              </a:spcBef>
              <a:spcAft>
                <a:spcPts val="0"/>
              </a:spcAft>
              <a:buClr>
                <a:schemeClr val="accent1"/>
              </a:buClr>
              <a:buSzPts val="2400"/>
              <a:buNone/>
              <a:defRPr i="1" sz="2400">
                <a:solidFill>
                  <a:schemeClr val="accent1"/>
                </a:solidFill>
              </a:defRPr>
            </a:lvl6pPr>
            <a:lvl7pPr lvl="6" rtl="0">
              <a:spcBef>
                <a:spcPts val="0"/>
              </a:spcBef>
              <a:spcAft>
                <a:spcPts val="0"/>
              </a:spcAft>
              <a:buClr>
                <a:schemeClr val="accent1"/>
              </a:buClr>
              <a:buSzPts val="2400"/>
              <a:buNone/>
              <a:defRPr i="1" sz="2400">
                <a:solidFill>
                  <a:schemeClr val="accent1"/>
                </a:solidFill>
              </a:defRPr>
            </a:lvl7pPr>
            <a:lvl8pPr lvl="7" rtl="0">
              <a:spcBef>
                <a:spcPts val="0"/>
              </a:spcBef>
              <a:spcAft>
                <a:spcPts val="0"/>
              </a:spcAft>
              <a:buClr>
                <a:schemeClr val="accent1"/>
              </a:buClr>
              <a:buSzPts val="2400"/>
              <a:buNone/>
              <a:defRPr i="1" sz="2400">
                <a:solidFill>
                  <a:schemeClr val="accent1"/>
                </a:solidFill>
              </a:defRPr>
            </a:lvl8pPr>
            <a:lvl9pPr lvl="8" rtl="0">
              <a:spcBef>
                <a:spcPts val="0"/>
              </a:spcBef>
              <a:spcAft>
                <a:spcPts val="0"/>
              </a:spcAft>
              <a:buClr>
                <a:schemeClr val="accent1"/>
              </a:buClr>
              <a:buSzPts val="2400"/>
              <a:buNone/>
              <a:defRPr i="1" sz="2400">
                <a:solidFill>
                  <a:schemeClr val="accent1"/>
                </a:solidFill>
              </a:defRPr>
            </a:lvl9pPr>
          </a:lstStyle>
          <a:p/>
        </p:txBody>
      </p:sp>
      <p:cxnSp>
        <p:nvCxnSpPr>
          <p:cNvPr id="15" name="Google Shape;15;p3"/>
          <p:cNvCxnSpPr/>
          <p:nvPr/>
        </p:nvCxnSpPr>
        <p:spPr>
          <a:xfrm rot="10800000">
            <a:off x="-15990" y="2933511"/>
            <a:ext cx="2476800" cy="0"/>
          </a:xfrm>
          <a:prstGeom prst="straightConnector1">
            <a:avLst/>
          </a:prstGeom>
          <a:noFill/>
          <a:ln cap="flat" cmpd="sng" w="9525">
            <a:solidFill>
              <a:schemeClr val="dk2"/>
            </a:solidFill>
            <a:prstDash val="solid"/>
            <a:round/>
            <a:headEnd len="med" w="med" type="oval"/>
            <a:tailEnd len="med" w="med"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TITLE_1_1">
    <p:spTree>
      <p:nvGrpSpPr>
        <p:cNvPr id="16" name="Shape 16"/>
        <p:cNvGrpSpPr/>
        <p:nvPr/>
      </p:nvGrpSpPr>
      <p:grpSpPr>
        <a:xfrm>
          <a:off x="0" y="0"/>
          <a:ext cx="0" cy="0"/>
          <a:chOff x="0" y="0"/>
          <a:chExt cx="0" cy="0"/>
        </a:xfrm>
      </p:grpSpPr>
      <p:sp>
        <p:nvSpPr>
          <p:cNvPr id="17" name="Google Shape;17;p4"/>
          <p:cNvSpPr/>
          <p:nvPr/>
        </p:nvSpPr>
        <p:spPr>
          <a:xfrm>
            <a:off x="4229046" y="1045786"/>
            <a:ext cx="685800" cy="653700"/>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4"/>
          <p:cNvSpPr txBox="1"/>
          <p:nvPr>
            <p:ph idx="1" type="body"/>
          </p:nvPr>
        </p:nvSpPr>
        <p:spPr>
          <a:xfrm>
            <a:off x="1555350" y="1818900"/>
            <a:ext cx="6033300" cy="819900"/>
          </a:xfrm>
          <a:prstGeom prst="rect">
            <a:avLst/>
          </a:prstGeom>
        </p:spPr>
        <p:txBody>
          <a:bodyPr anchorCtr="0" anchor="t" bIns="91425" lIns="91425" spcFirstLastPara="1" rIns="91425" wrap="square" tIns="91425">
            <a:noAutofit/>
          </a:bodyPr>
          <a:lstStyle>
            <a:lvl1pPr indent="-419100" lvl="0" marL="457200" rtl="0" algn="ctr">
              <a:lnSpc>
                <a:spcPct val="100000"/>
              </a:lnSpc>
              <a:spcBef>
                <a:spcPts val="600"/>
              </a:spcBef>
              <a:spcAft>
                <a:spcPts val="0"/>
              </a:spcAft>
              <a:buClr>
                <a:schemeClr val="accent1"/>
              </a:buClr>
              <a:buSzPts val="3000"/>
              <a:buChar char="○"/>
              <a:defRPr i="1" sz="3000">
                <a:solidFill>
                  <a:schemeClr val="accent1"/>
                </a:solidFill>
              </a:defRPr>
            </a:lvl1pPr>
            <a:lvl2pPr indent="-419100" lvl="1" marL="914400" rtl="0" algn="ctr">
              <a:lnSpc>
                <a:spcPct val="100000"/>
              </a:lnSpc>
              <a:spcBef>
                <a:spcPts val="0"/>
              </a:spcBef>
              <a:spcAft>
                <a:spcPts val="0"/>
              </a:spcAft>
              <a:buClr>
                <a:schemeClr val="accent1"/>
              </a:buClr>
              <a:buSzPts val="3000"/>
              <a:buChar char="□"/>
              <a:defRPr i="1" sz="3000">
                <a:solidFill>
                  <a:schemeClr val="accent1"/>
                </a:solidFill>
              </a:defRPr>
            </a:lvl2pPr>
            <a:lvl3pPr indent="-419100" lvl="2" marL="1371600" rtl="0" algn="ctr">
              <a:lnSpc>
                <a:spcPct val="100000"/>
              </a:lnSpc>
              <a:spcBef>
                <a:spcPts val="0"/>
              </a:spcBef>
              <a:spcAft>
                <a:spcPts val="0"/>
              </a:spcAft>
              <a:buClr>
                <a:schemeClr val="accent1"/>
              </a:buClr>
              <a:buSzPts val="3000"/>
              <a:buChar char="○"/>
              <a:defRPr i="1" sz="3000">
                <a:solidFill>
                  <a:schemeClr val="accent1"/>
                </a:solidFill>
              </a:defRPr>
            </a:lvl3pPr>
            <a:lvl4pPr indent="-419100" lvl="3" marL="1828800" rtl="0" algn="ctr">
              <a:lnSpc>
                <a:spcPct val="100000"/>
              </a:lnSpc>
              <a:spcBef>
                <a:spcPts val="0"/>
              </a:spcBef>
              <a:spcAft>
                <a:spcPts val="0"/>
              </a:spcAft>
              <a:buClr>
                <a:schemeClr val="accent1"/>
              </a:buClr>
              <a:buSzPts val="3000"/>
              <a:buChar char="□"/>
              <a:defRPr i="1" sz="3000">
                <a:solidFill>
                  <a:schemeClr val="accent1"/>
                </a:solidFill>
              </a:defRPr>
            </a:lvl4pPr>
            <a:lvl5pPr indent="-419100" lvl="4" marL="2286000" rtl="0" algn="ctr">
              <a:lnSpc>
                <a:spcPct val="100000"/>
              </a:lnSpc>
              <a:spcBef>
                <a:spcPts val="0"/>
              </a:spcBef>
              <a:spcAft>
                <a:spcPts val="0"/>
              </a:spcAft>
              <a:buClr>
                <a:schemeClr val="accent1"/>
              </a:buClr>
              <a:buSzPts val="3000"/>
              <a:buChar char="○"/>
              <a:defRPr i="1" sz="3000">
                <a:solidFill>
                  <a:schemeClr val="accent1"/>
                </a:solidFill>
              </a:defRPr>
            </a:lvl5pPr>
            <a:lvl6pPr indent="-419100" lvl="5" marL="2743200" rtl="0" algn="ctr">
              <a:lnSpc>
                <a:spcPct val="100000"/>
              </a:lnSpc>
              <a:spcBef>
                <a:spcPts val="0"/>
              </a:spcBef>
              <a:spcAft>
                <a:spcPts val="0"/>
              </a:spcAft>
              <a:buClr>
                <a:schemeClr val="accent1"/>
              </a:buClr>
              <a:buSzPts val="3000"/>
              <a:buChar char="■"/>
              <a:defRPr i="1" sz="3000">
                <a:solidFill>
                  <a:schemeClr val="accent1"/>
                </a:solidFill>
              </a:defRPr>
            </a:lvl6pPr>
            <a:lvl7pPr indent="-419100" lvl="6" marL="3200400" rtl="0" algn="ctr">
              <a:lnSpc>
                <a:spcPct val="100000"/>
              </a:lnSpc>
              <a:spcBef>
                <a:spcPts val="0"/>
              </a:spcBef>
              <a:spcAft>
                <a:spcPts val="0"/>
              </a:spcAft>
              <a:buClr>
                <a:schemeClr val="accent1"/>
              </a:buClr>
              <a:buSzPts val="3000"/>
              <a:buChar char="●"/>
              <a:defRPr i="1" sz="3000">
                <a:solidFill>
                  <a:schemeClr val="accent1"/>
                </a:solidFill>
              </a:defRPr>
            </a:lvl7pPr>
            <a:lvl8pPr indent="-419100" lvl="7" marL="3657600" rtl="0" algn="ctr">
              <a:lnSpc>
                <a:spcPct val="100000"/>
              </a:lnSpc>
              <a:spcBef>
                <a:spcPts val="0"/>
              </a:spcBef>
              <a:spcAft>
                <a:spcPts val="0"/>
              </a:spcAft>
              <a:buClr>
                <a:schemeClr val="accent1"/>
              </a:buClr>
              <a:buSzPts val="3000"/>
              <a:buChar char="○"/>
              <a:defRPr i="1" sz="3000">
                <a:solidFill>
                  <a:schemeClr val="accent1"/>
                </a:solidFill>
              </a:defRPr>
            </a:lvl8pPr>
            <a:lvl9pPr indent="-419100" lvl="8" marL="4114800" algn="ctr">
              <a:lnSpc>
                <a:spcPct val="100000"/>
              </a:lnSpc>
              <a:spcBef>
                <a:spcPts val="0"/>
              </a:spcBef>
              <a:spcAft>
                <a:spcPts val="0"/>
              </a:spcAft>
              <a:buClr>
                <a:schemeClr val="accent1"/>
              </a:buClr>
              <a:buSzPts val="3000"/>
              <a:buChar char="■"/>
              <a:defRPr i="1" sz="3000">
                <a:solidFill>
                  <a:schemeClr val="accent1"/>
                </a:solidFill>
              </a:defRPr>
            </a:lvl9pPr>
          </a:lstStyle>
          <a:p/>
        </p:txBody>
      </p:sp>
      <p:sp>
        <p:nvSpPr>
          <p:cNvPr id="19" name="Google Shape;19;p4"/>
          <p:cNvSpPr txBox="1"/>
          <p:nvPr/>
        </p:nvSpPr>
        <p:spPr>
          <a:xfrm>
            <a:off x="3801800" y="854771"/>
            <a:ext cx="1540500" cy="653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9600">
                <a:solidFill>
                  <a:schemeClr val="lt2"/>
                </a:solidFill>
                <a:latin typeface="Montserrat"/>
                <a:ea typeface="Montserrat"/>
                <a:cs typeface="Montserrat"/>
                <a:sym typeface="Montserrat"/>
              </a:rPr>
              <a:t>“</a:t>
            </a:r>
            <a:endParaRPr sz="9600">
              <a:solidFill>
                <a:schemeClr val="lt2"/>
              </a:solidFill>
              <a:latin typeface="Montserrat"/>
              <a:ea typeface="Montserrat"/>
              <a:cs typeface="Montserrat"/>
              <a:sym typeface="Montserrat"/>
            </a:endParaRPr>
          </a:p>
        </p:txBody>
      </p:sp>
      <p:sp>
        <p:nvSpPr>
          <p:cNvPr id="20" name="Google Shape;20;p4"/>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solidFill>
                  <a:srgbClr val="8F7B87"/>
                </a:solidFill>
              </a:defRPr>
            </a:lvl1pPr>
            <a:lvl2pPr lvl="1">
              <a:buNone/>
              <a:defRPr>
                <a:solidFill>
                  <a:srgbClr val="8F7B87"/>
                </a:solidFill>
              </a:defRPr>
            </a:lvl2pPr>
            <a:lvl3pPr lvl="2">
              <a:buNone/>
              <a:defRPr>
                <a:solidFill>
                  <a:srgbClr val="8F7B87"/>
                </a:solidFill>
              </a:defRPr>
            </a:lvl3pPr>
            <a:lvl4pPr lvl="3">
              <a:buNone/>
              <a:defRPr>
                <a:solidFill>
                  <a:srgbClr val="8F7B87"/>
                </a:solidFill>
              </a:defRPr>
            </a:lvl4pPr>
            <a:lvl5pPr lvl="4">
              <a:buNone/>
              <a:defRPr>
                <a:solidFill>
                  <a:srgbClr val="8F7B87"/>
                </a:solidFill>
              </a:defRPr>
            </a:lvl5pPr>
            <a:lvl6pPr lvl="5">
              <a:buNone/>
              <a:defRPr>
                <a:solidFill>
                  <a:srgbClr val="8F7B87"/>
                </a:solidFill>
              </a:defRPr>
            </a:lvl6pPr>
            <a:lvl7pPr lvl="6">
              <a:buNone/>
              <a:defRPr>
                <a:solidFill>
                  <a:srgbClr val="8F7B87"/>
                </a:solidFill>
              </a:defRPr>
            </a:lvl7pPr>
            <a:lvl8pPr lvl="7">
              <a:buNone/>
              <a:defRPr>
                <a:solidFill>
                  <a:srgbClr val="8F7B87"/>
                </a:solidFill>
              </a:defRPr>
            </a:lvl8pPr>
            <a:lvl9pPr lvl="8">
              <a:buNone/>
              <a:defRPr>
                <a:solidFill>
                  <a:srgbClr val="8F7B87"/>
                </a:solidFill>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1 column" type="tx">
  <p:cSld name="TITLE_AND_BODY">
    <p:spTree>
      <p:nvGrpSpPr>
        <p:cNvPr id="21" name="Shape 21"/>
        <p:cNvGrpSpPr/>
        <p:nvPr/>
      </p:nvGrpSpPr>
      <p:grpSpPr>
        <a:xfrm>
          <a:off x="0" y="0"/>
          <a:ext cx="0" cy="0"/>
          <a:chOff x="0" y="0"/>
          <a:chExt cx="0" cy="0"/>
        </a:xfrm>
      </p:grpSpPr>
      <p:sp>
        <p:nvSpPr>
          <p:cNvPr id="22" name="Google Shape;22;p5"/>
          <p:cNvSpPr txBox="1"/>
          <p:nvPr>
            <p:ph type="title"/>
          </p:nvPr>
        </p:nvSpPr>
        <p:spPr>
          <a:xfrm>
            <a:off x="2318100" y="113175"/>
            <a:ext cx="4507800" cy="857400"/>
          </a:xfrm>
          <a:prstGeom prst="rect">
            <a:avLst/>
          </a:prstGeom>
        </p:spPr>
        <p:txBody>
          <a:bodyPr anchorCtr="0" anchor="ctr"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p:txBody>
      </p:sp>
      <p:sp>
        <p:nvSpPr>
          <p:cNvPr id="23" name="Google Shape;23;p5"/>
          <p:cNvSpPr txBox="1"/>
          <p:nvPr>
            <p:ph idx="1" type="body"/>
          </p:nvPr>
        </p:nvSpPr>
        <p:spPr>
          <a:xfrm>
            <a:off x="617100" y="1269863"/>
            <a:ext cx="7909800" cy="3215400"/>
          </a:xfrm>
          <a:prstGeom prst="rect">
            <a:avLst/>
          </a:prstGeom>
        </p:spPr>
        <p:txBody>
          <a:bodyPr anchorCtr="0" anchor="t" bIns="91425" lIns="91425" spcFirstLastPara="1" rIns="91425" wrap="square" tIns="91425">
            <a:noAutofit/>
          </a:bodyPr>
          <a:lstStyle>
            <a:lvl1pPr indent="-381000" lvl="0" marL="457200">
              <a:spcBef>
                <a:spcPts val="600"/>
              </a:spcBef>
              <a:spcAft>
                <a:spcPts val="0"/>
              </a:spcAft>
              <a:buSzPts val="2400"/>
              <a:buChar char="○"/>
              <a:defRPr/>
            </a:lvl1pPr>
            <a:lvl2pPr indent="-381000" lvl="1" marL="914400">
              <a:spcBef>
                <a:spcPts val="0"/>
              </a:spcBef>
              <a:spcAft>
                <a:spcPts val="0"/>
              </a:spcAft>
              <a:buSzPts val="2400"/>
              <a:buChar char="□"/>
              <a:defRPr/>
            </a:lvl2pPr>
            <a:lvl3pPr indent="-381000" lvl="2" marL="1371600">
              <a:spcBef>
                <a:spcPts val="0"/>
              </a:spcBef>
              <a:spcAft>
                <a:spcPts val="0"/>
              </a:spcAft>
              <a:buSzPts val="2400"/>
              <a:buChar char="○"/>
              <a:defRPr/>
            </a:lvl3pPr>
            <a:lvl4pPr indent="-381000" lvl="3" marL="1828800">
              <a:spcBef>
                <a:spcPts val="0"/>
              </a:spcBef>
              <a:spcAft>
                <a:spcPts val="0"/>
              </a:spcAft>
              <a:buSzPts val="2400"/>
              <a:buChar char="□"/>
              <a:defRPr/>
            </a:lvl4pPr>
            <a:lvl5pPr indent="-381000" lvl="4" marL="2286000">
              <a:spcBef>
                <a:spcPts val="0"/>
              </a:spcBef>
              <a:spcAft>
                <a:spcPts val="0"/>
              </a:spcAft>
              <a:buSzPts val="2400"/>
              <a:buChar char="○"/>
              <a:defRPr/>
            </a:lvl5pPr>
            <a:lvl6pPr indent="-381000" lvl="5" marL="2743200">
              <a:spcBef>
                <a:spcPts val="0"/>
              </a:spcBef>
              <a:spcAft>
                <a:spcPts val="0"/>
              </a:spcAft>
              <a:buSzPts val="2400"/>
              <a:buChar char="■"/>
              <a:defRPr/>
            </a:lvl6pPr>
            <a:lvl7pPr indent="-381000" lvl="6" marL="3200400">
              <a:spcBef>
                <a:spcPts val="0"/>
              </a:spcBef>
              <a:spcAft>
                <a:spcPts val="0"/>
              </a:spcAft>
              <a:buSzPts val="2400"/>
              <a:buChar char="●"/>
              <a:defRPr/>
            </a:lvl7pPr>
            <a:lvl8pPr indent="-381000" lvl="7" marL="3657600">
              <a:spcBef>
                <a:spcPts val="0"/>
              </a:spcBef>
              <a:spcAft>
                <a:spcPts val="0"/>
              </a:spcAft>
              <a:buSzPts val="2400"/>
              <a:buChar char="○"/>
              <a:defRPr/>
            </a:lvl8pPr>
            <a:lvl9pPr indent="-381000" lvl="8" marL="4114800">
              <a:spcBef>
                <a:spcPts val="0"/>
              </a:spcBef>
              <a:spcAft>
                <a:spcPts val="0"/>
              </a:spcAft>
              <a:buSzPts val="2400"/>
              <a:buChar char="■"/>
              <a:defRPr/>
            </a:lvl9pPr>
          </a:lstStyle>
          <a:p/>
        </p:txBody>
      </p:sp>
      <p:cxnSp>
        <p:nvCxnSpPr>
          <p:cNvPr id="24" name="Google Shape;24;p5"/>
          <p:cNvCxnSpPr/>
          <p:nvPr/>
        </p:nvCxnSpPr>
        <p:spPr>
          <a:xfrm rot="10800000">
            <a:off x="-23700" y="541800"/>
            <a:ext cx="2341800" cy="0"/>
          </a:xfrm>
          <a:prstGeom prst="straightConnector1">
            <a:avLst/>
          </a:prstGeom>
          <a:noFill/>
          <a:ln cap="flat" cmpd="sng" w="9525">
            <a:solidFill>
              <a:schemeClr val="dk2"/>
            </a:solidFill>
            <a:prstDash val="solid"/>
            <a:round/>
            <a:headEnd len="med" w="med" type="oval"/>
            <a:tailEnd len="med" w="med" type="none"/>
          </a:ln>
        </p:spPr>
      </p:cxnSp>
      <p:cxnSp>
        <p:nvCxnSpPr>
          <p:cNvPr id="25" name="Google Shape;25;p5"/>
          <p:cNvCxnSpPr/>
          <p:nvPr/>
        </p:nvCxnSpPr>
        <p:spPr>
          <a:xfrm>
            <a:off x="6825900" y="541800"/>
            <a:ext cx="2331300" cy="0"/>
          </a:xfrm>
          <a:prstGeom prst="straightConnector1">
            <a:avLst/>
          </a:prstGeom>
          <a:noFill/>
          <a:ln cap="flat" cmpd="sng" w="9525">
            <a:solidFill>
              <a:schemeClr val="dk2"/>
            </a:solidFill>
            <a:prstDash val="solid"/>
            <a:round/>
            <a:headEnd len="med" w="med" type="oval"/>
            <a:tailEnd len="med" w="med" type="none"/>
          </a:ln>
        </p:spPr>
      </p:cxnSp>
      <p:sp>
        <p:nvSpPr>
          <p:cNvPr id="26" name="Google Shape;26;p5"/>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2 columns" type="twoColTx">
  <p:cSld name="TITLE_AND_TWO_COLUMNS">
    <p:spTree>
      <p:nvGrpSpPr>
        <p:cNvPr id="27" name="Shape 27"/>
        <p:cNvGrpSpPr/>
        <p:nvPr/>
      </p:nvGrpSpPr>
      <p:grpSpPr>
        <a:xfrm>
          <a:off x="0" y="0"/>
          <a:ext cx="0" cy="0"/>
          <a:chOff x="0" y="0"/>
          <a:chExt cx="0" cy="0"/>
        </a:xfrm>
      </p:grpSpPr>
      <p:sp>
        <p:nvSpPr>
          <p:cNvPr id="28" name="Google Shape;28;p6"/>
          <p:cNvSpPr txBox="1"/>
          <p:nvPr>
            <p:ph idx="1" type="body"/>
          </p:nvPr>
        </p:nvSpPr>
        <p:spPr>
          <a:xfrm>
            <a:off x="626350" y="1346063"/>
            <a:ext cx="3644400" cy="3204900"/>
          </a:xfrm>
          <a:prstGeom prst="rect">
            <a:avLst/>
          </a:prstGeom>
        </p:spPr>
        <p:txBody>
          <a:bodyPr anchorCtr="0" anchor="t" bIns="91425" lIns="91425" spcFirstLastPara="1" rIns="91425" wrap="square" tIns="91425">
            <a:noAutofit/>
          </a:bodyPr>
          <a:lstStyle>
            <a:lvl1pPr indent="-355600" lvl="0" marL="457200">
              <a:spcBef>
                <a:spcPts val="600"/>
              </a:spcBef>
              <a:spcAft>
                <a:spcPts val="0"/>
              </a:spcAft>
              <a:buSzPts val="2000"/>
              <a:buChar char="○"/>
              <a:defRPr sz="2000"/>
            </a:lvl1pPr>
            <a:lvl2pPr indent="-355600" lvl="1" marL="914400">
              <a:spcBef>
                <a:spcPts val="0"/>
              </a:spcBef>
              <a:spcAft>
                <a:spcPts val="0"/>
              </a:spcAft>
              <a:buSzPts val="2000"/>
              <a:buChar char="□"/>
              <a:defRPr sz="2000"/>
            </a:lvl2pPr>
            <a:lvl3pPr indent="-355600" lvl="2" marL="1371600">
              <a:spcBef>
                <a:spcPts val="0"/>
              </a:spcBef>
              <a:spcAft>
                <a:spcPts val="0"/>
              </a:spcAft>
              <a:buSzPts val="2000"/>
              <a:buChar char="○"/>
              <a:defRPr sz="2000"/>
            </a:lvl3pPr>
            <a:lvl4pPr indent="-355600" lvl="3" marL="1828800">
              <a:spcBef>
                <a:spcPts val="0"/>
              </a:spcBef>
              <a:spcAft>
                <a:spcPts val="0"/>
              </a:spcAft>
              <a:buSzPts val="2000"/>
              <a:buChar char="□"/>
              <a:defRPr sz="2000"/>
            </a:lvl4pPr>
            <a:lvl5pPr indent="-355600" lvl="4" marL="2286000">
              <a:spcBef>
                <a:spcPts val="0"/>
              </a:spcBef>
              <a:spcAft>
                <a:spcPts val="0"/>
              </a:spcAft>
              <a:buSzPts val="2000"/>
              <a:buChar char="○"/>
              <a:defRPr sz="2000"/>
            </a:lvl5pPr>
            <a:lvl6pPr indent="-355600" lvl="5" marL="2743200">
              <a:spcBef>
                <a:spcPts val="0"/>
              </a:spcBef>
              <a:spcAft>
                <a:spcPts val="0"/>
              </a:spcAft>
              <a:buSzPts val="2000"/>
              <a:buChar char="■"/>
              <a:defRPr sz="2000"/>
            </a:lvl6pPr>
            <a:lvl7pPr indent="-355600" lvl="6" marL="3200400">
              <a:spcBef>
                <a:spcPts val="0"/>
              </a:spcBef>
              <a:spcAft>
                <a:spcPts val="0"/>
              </a:spcAft>
              <a:buSzPts val="2000"/>
              <a:buChar char="●"/>
              <a:defRPr sz="2000"/>
            </a:lvl7pPr>
            <a:lvl8pPr indent="-355600" lvl="7" marL="3657600">
              <a:spcBef>
                <a:spcPts val="0"/>
              </a:spcBef>
              <a:spcAft>
                <a:spcPts val="0"/>
              </a:spcAft>
              <a:buSzPts val="2000"/>
              <a:buChar char="○"/>
              <a:defRPr sz="2000"/>
            </a:lvl8pPr>
            <a:lvl9pPr indent="-355600" lvl="8" marL="4114800">
              <a:spcBef>
                <a:spcPts val="0"/>
              </a:spcBef>
              <a:spcAft>
                <a:spcPts val="0"/>
              </a:spcAft>
              <a:buSzPts val="2000"/>
              <a:buChar char="■"/>
              <a:defRPr sz="2000"/>
            </a:lvl9pPr>
          </a:lstStyle>
          <a:p/>
        </p:txBody>
      </p:sp>
      <p:sp>
        <p:nvSpPr>
          <p:cNvPr id="29" name="Google Shape;29;p6"/>
          <p:cNvSpPr txBox="1"/>
          <p:nvPr>
            <p:ph idx="2" type="body"/>
          </p:nvPr>
        </p:nvSpPr>
        <p:spPr>
          <a:xfrm>
            <a:off x="4870698" y="1346063"/>
            <a:ext cx="3644400" cy="3204900"/>
          </a:xfrm>
          <a:prstGeom prst="rect">
            <a:avLst/>
          </a:prstGeom>
        </p:spPr>
        <p:txBody>
          <a:bodyPr anchorCtr="0" anchor="t" bIns="91425" lIns="91425" spcFirstLastPara="1" rIns="91425" wrap="square" tIns="91425">
            <a:noAutofit/>
          </a:bodyPr>
          <a:lstStyle>
            <a:lvl1pPr indent="-355600" lvl="0" marL="457200">
              <a:spcBef>
                <a:spcPts val="600"/>
              </a:spcBef>
              <a:spcAft>
                <a:spcPts val="0"/>
              </a:spcAft>
              <a:buSzPts val="2000"/>
              <a:buChar char="○"/>
              <a:defRPr sz="2000"/>
            </a:lvl1pPr>
            <a:lvl2pPr indent="-355600" lvl="1" marL="914400">
              <a:spcBef>
                <a:spcPts val="0"/>
              </a:spcBef>
              <a:spcAft>
                <a:spcPts val="0"/>
              </a:spcAft>
              <a:buSzPts val="2000"/>
              <a:buChar char="□"/>
              <a:defRPr sz="2000"/>
            </a:lvl2pPr>
            <a:lvl3pPr indent="-355600" lvl="2" marL="1371600">
              <a:spcBef>
                <a:spcPts val="0"/>
              </a:spcBef>
              <a:spcAft>
                <a:spcPts val="0"/>
              </a:spcAft>
              <a:buSzPts val="2000"/>
              <a:buChar char="○"/>
              <a:defRPr sz="2000"/>
            </a:lvl3pPr>
            <a:lvl4pPr indent="-355600" lvl="3" marL="1828800">
              <a:spcBef>
                <a:spcPts val="0"/>
              </a:spcBef>
              <a:spcAft>
                <a:spcPts val="0"/>
              </a:spcAft>
              <a:buSzPts val="2000"/>
              <a:buChar char="□"/>
              <a:defRPr sz="2000"/>
            </a:lvl4pPr>
            <a:lvl5pPr indent="-355600" lvl="4" marL="2286000">
              <a:spcBef>
                <a:spcPts val="0"/>
              </a:spcBef>
              <a:spcAft>
                <a:spcPts val="0"/>
              </a:spcAft>
              <a:buSzPts val="2000"/>
              <a:buChar char="○"/>
              <a:defRPr sz="2000"/>
            </a:lvl5pPr>
            <a:lvl6pPr indent="-355600" lvl="5" marL="2743200">
              <a:spcBef>
                <a:spcPts val="0"/>
              </a:spcBef>
              <a:spcAft>
                <a:spcPts val="0"/>
              </a:spcAft>
              <a:buSzPts val="2000"/>
              <a:buChar char="■"/>
              <a:defRPr sz="2000"/>
            </a:lvl6pPr>
            <a:lvl7pPr indent="-355600" lvl="6" marL="3200400">
              <a:spcBef>
                <a:spcPts val="0"/>
              </a:spcBef>
              <a:spcAft>
                <a:spcPts val="0"/>
              </a:spcAft>
              <a:buSzPts val="2000"/>
              <a:buChar char="●"/>
              <a:defRPr sz="2000"/>
            </a:lvl7pPr>
            <a:lvl8pPr indent="-355600" lvl="7" marL="3657600">
              <a:spcBef>
                <a:spcPts val="0"/>
              </a:spcBef>
              <a:spcAft>
                <a:spcPts val="0"/>
              </a:spcAft>
              <a:buSzPts val="2000"/>
              <a:buChar char="○"/>
              <a:defRPr sz="2000"/>
            </a:lvl8pPr>
            <a:lvl9pPr indent="-355600" lvl="8" marL="4114800">
              <a:spcBef>
                <a:spcPts val="0"/>
              </a:spcBef>
              <a:spcAft>
                <a:spcPts val="0"/>
              </a:spcAft>
              <a:buSzPts val="2000"/>
              <a:buChar char="■"/>
              <a:defRPr sz="2000"/>
            </a:lvl9pPr>
          </a:lstStyle>
          <a:p/>
        </p:txBody>
      </p:sp>
      <p:sp>
        <p:nvSpPr>
          <p:cNvPr id="30" name="Google Shape;30;p6"/>
          <p:cNvSpPr txBox="1"/>
          <p:nvPr>
            <p:ph type="title"/>
          </p:nvPr>
        </p:nvSpPr>
        <p:spPr>
          <a:xfrm>
            <a:off x="2318100" y="113175"/>
            <a:ext cx="4507800" cy="857400"/>
          </a:xfrm>
          <a:prstGeom prst="rect">
            <a:avLst/>
          </a:prstGeom>
        </p:spPr>
        <p:txBody>
          <a:bodyPr anchorCtr="0" anchor="ctr"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p:txBody>
      </p:sp>
      <p:cxnSp>
        <p:nvCxnSpPr>
          <p:cNvPr id="31" name="Google Shape;31;p6"/>
          <p:cNvCxnSpPr/>
          <p:nvPr/>
        </p:nvCxnSpPr>
        <p:spPr>
          <a:xfrm rot="10800000">
            <a:off x="-23700" y="541800"/>
            <a:ext cx="2341800" cy="0"/>
          </a:xfrm>
          <a:prstGeom prst="straightConnector1">
            <a:avLst/>
          </a:prstGeom>
          <a:noFill/>
          <a:ln cap="flat" cmpd="sng" w="9525">
            <a:solidFill>
              <a:schemeClr val="dk2"/>
            </a:solidFill>
            <a:prstDash val="solid"/>
            <a:round/>
            <a:headEnd len="med" w="med" type="oval"/>
            <a:tailEnd len="med" w="med" type="none"/>
          </a:ln>
        </p:spPr>
      </p:cxnSp>
      <p:cxnSp>
        <p:nvCxnSpPr>
          <p:cNvPr id="32" name="Google Shape;32;p6"/>
          <p:cNvCxnSpPr/>
          <p:nvPr/>
        </p:nvCxnSpPr>
        <p:spPr>
          <a:xfrm>
            <a:off x="6825900" y="541800"/>
            <a:ext cx="2331300" cy="0"/>
          </a:xfrm>
          <a:prstGeom prst="straightConnector1">
            <a:avLst/>
          </a:prstGeom>
          <a:noFill/>
          <a:ln cap="flat" cmpd="sng" w="9525">
            <a:solidFill>
              <a:schemeClr val="dk2"/>
            </a:solidFill>
            <a:prstDash val="solid"/>
            <a:round/>
            <a:headEnd len="med" w="med" type="oval"/>
            <a:tailEnd len="med" w="med" type="none"/>
          </a:ln>
        </p:spPr>
      </p:cxnSp>
      <p:sp>
        <p:nvSpPr>
          <p:cNvPr id="33" name="Google Shape;33;p6"/>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3 columns">
  <p:cSld name="TITLE_AND_TWO_COLUMNS_1">
    <p:spTree>
      <p:nvGrpSpPr>
        <p:cNvPr id="34" name="Shape 34"/>
        <p:cNvGrpSpPr/>
        <p:nvPr/>
      </p:nvGrpSpPr>
      <p:grpSpPr>
        <a:xfrm>
          <a:off x="0" y="0"/>
          <a:ext cx="0" cy="0"/>
          <a:chOff x="0" y="0"/>
          <a:chExt cx="0" cy="0"/>
        </a:xfrm>
      </p:grpSpPr>
      <p:sp>
        <p:nvSpPr>
          <p:cNvPr id="35" name="Google Shape;35;p7"/>
          <p:cNvSpPr txBox="1"/>
          <p:nvPr>
            <p:ph idx="1" type="body"/>
          </p:nvPr>
        </p:nvSpPr>
        <p:spPr>
          <a:xfrm>
            <a:off x="626350" y="1281750"/>
            <a:ext cx="2547900" cy="3193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sz="1800"/>
            </a:lvl1pPr>
            <a:lvl2pPr indent="-342900" lvl="1" marL="914400" rtl="0">
              <a:spcBef>
                <a:spcPts val="0"/>
              </a:spcBef>
              <a:spcAft>
                <a:spcPts val="0"/>
              </a:spcAft>
              <a:buSzPts val="1800"/>
              <a:buChar char="□"/>
              <a:defRPr sz="1800"/>
            </a:lvl2pPr>
            <a:lvl3pPr indent="-342900" lvl="2" marL="1371600" rtl="0">
              <a:spcBef>
                <a:spcPts val="0"/>
              </a:spcBef>
              <a:spcAft>
                <a:spcPts val="0"/>
              </a:spcAft>
              <a:buSzPts val="1800"/>
              <a:buChar char="○"/>
              <a:defRPr sz="1800"/>
            </a:lvl3pPr>
            <a:lvl4pPr indent="-342900" lvl="3" marL="1828800" rtl="0">
              <a:spcBef>
                <a:spcPts val="0"/>
              </a:spcBef>
              <a:spcAft>
                <a:spcPts val="0"/>
              </a:spcAft>
              <a:buSzPts val="1800"/>
              <a:buChar char="□"/>
              <a:defRPr sz="1800"/>
            </a:lvl4pPr>
            <a:lvl5pPr indent="-342900" lvl="4" marL="2286000" rtl="0">
              <a:spcBef>
                <a:spcPts val="0"/>
              </a:spcBef>
              <a:spcAft>
                <a:spcPts val="0"/>
              </a:spcAft>
              <a:buSzPts val="1800"/>
              <a:buChar char="○"/>
              <a:defRPr sz="1800"/>
            </a:lvl5pPr>
            <a:lvl6pPr indent="-342900" lvl="5" marL="2743200" rtl="0">
              <a:spcBef>
                <a:spcPts val="0"/>
              </a:spcBef>
              <a:spcAft>
                <a:spcPts val="0"/>
              </a:spcAft>
              <a:buSzPts val="1800"/>
              <a:buChar char="■"/>
              <a:defRPr sz="1800"/>
            </a:lvl6pPr>
            <a:lvl7pPr indent="-342900" lvl="6" marL="3200400" rtl="0">
              <a:spcBef>
                <a:spcPts val="0"/>
              </a:spcBef>
              <a:spcAft>
                <a:spcPts val="0"/>
              </a:spcAft>
              <a:buSzPts val="1800"/>
              <a:buChar char="●"/>
              <a:defRPr sz="1800"/>
            </a:lvl7pPr>
            <a:lvl8pPr indent="-342900" lvl="7" marL="3657600" rtl="0">
              <a:spcBef>
                <a:spcPts val="0"/>
              </a:spcBef>
              <a:spcAft>
                <a:spcPts val="0"/>
              </a:spcAft>
              <a:buSzPts val="1800"/>
              <a:buChar char="○"/>
              <a:defRPr sz="1800"/>
            </a:lvl8pPr>
            <a:lvl9pPr indent="-342900" lvl="8" marL="4114800" rtl="0">
              <a:spcBef>
                <a:spcPts val="0"/>
              </a:spcBef>
              <a:spcAft>
                <a:spcPts val="0"/>
              </a:spcAft>
              <a:buSzPts val="1800"/>
              <a:buChar char="■"/>
              <a:defRPr sz="1800"/>
            </a:lvl9pPr>
          </a:lstStyle>
          <a:p/>
        </p:txBody>
      </p:sp>
      <p:sp>
        <p:nvSpPr>
          <p:cNvPr id="36" name="Google Shape;36;p7"/>
          <p:cNvSpPr txBox="1"/>
          <p:nvPr>
            <p:ph idx="2" type="body"/>
          </p:nvPr>
        </p:nvSpPr>
        <p:spPr>
          <a:xfrm>
            <a:off x="3304738" y="1281750"/>
            <a:ext cx="2547900" cy="3193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sz="1800"/>
            </a:lvl1pPr>
            <a:lvl2pPr indent="-342900" lvl="1" marL="914400" rtl="0">
              <a:spcBef>
                <a:spcPts val="0"/>
              </a:spcBef>
              <a:spcAft>
                <a:spcPts val="0"/>
              </a:spcAft>
              <a:buSzPts val="1800"/>
              <a:buChar char="□"/>
              <a:defRPr sz="1800"/>
            </a:lvl2pPr>
            <a:lvl3pPr indent="-342900" lvl="2" marL="1371600" rtl="0">
              <a:spcBef>
                <a:spcPts val="0"/>
              </a:spcBef>
              <a:spcAft>
                <a:spcPts val="0"/>
              </a:spcAft>
              <a:buSzPts val="1800"/>
              <a:buChar char="○"/>
              <a:defRPr sz="1800"/>
            </a:lvl3pPr>
            <a:lvl4pPr indent="-342900" lvl="3" marL="1828800" rtl="0">
              <a:spcBef>
                <a:spcPts val="0"/>
              </a:spcBef>
              <a:spcAft>
                <a:spcPts val="0"/>
              </a:spcAft>
              <a:buSzPts val="1800"/>
              <a:buChar char="□"/>
              <a:defRPr sz="1800"/>
            </a:lvl4pPr>
            <a:lvl5pPr indent="-342900" lvl="4" marL="2286000" rtl="0">
              <a:spcBef>
                <a:spcPts val="0"/>
              </a:spcBef>
              <a:spcAft>
                <a:spcPts val="0"/>
              </a:spcAft>
              <a:buSzPts val="1800"/>
              <a:buChar char="○"/>
              <a:defRPr sz="1800"/>
            </a:lvl5pPr>
            <a:lvl6pPr indent="-342900" lvl="5" marL="2743200" rtl="0">
              <a:spcBef>
                <a:spcPts val="0"/>
              </a:spcBef>
              <a:spcAft>
                <a:spcPts val="0"/>
              </a:spcAft>
              <a:buSzPts val="1800"/>
              <a:buChar char="■"/>
              <a:defRPr sz="1800"/>
            </a:lvl6pPr>
            <a:lvl7pPr indent="-342900" lvl="6" marL="3200400" rtl="0">
              <a:spcBef>
                <a:spcPts val="0"/>
              </a:spcBef>
              <a:spcAft>
                <a:spcPts val="0"/>
              </a:spcAft>
              <a:buSzPts val="1800"/>
              <a:buChar char="●"/>
              <a:defRPr sz="1800"/>
            </a:lvl7pPr>
            <a:lvl8pPr indent="-342900" lvl="7" marL="3657600" rtl="0">
              <a:spcBef>
                <a:spcPts val="0"/>
              </a:spcBef>
              <a:spcAft>
                <a:spcPts val="0"/>
              </a:spcAft>
              <a:buSzPts val="1800"/>
              <a:buChar char="○"/>
              <a:defRPr sz="1800"/>
            </a:lvl8pPr>
            <a:lvl9pPr indent="-342900" lvl="8" marL="4114800" rtl="0">
              <a:spcBef>
                <a:spcPts val="0"/>
              </a:spcBef>
              <a:spcAft>
                <a:spcPts val="0"/>
              </a:spcAft>
              <a:buSzPts val="1800"/>
              <a:buChar char="■"/>
              <a:defRPr sz="1800"/>
            </a:lvl9pPr>
          </a:lstStyle>
          <a:p/>
        </p:txBody>
      </p:sp>
      <p:sp>
        <p:nvSpPr>
          <p:cNvPr id="37" name="Google Shape;37;p7"/>
          <p:cNvSpPr txBox="1"/>
          <p:nvPr>
            <p:ph idx="3" type="body"/>
          </p:nvPr>
        </p:nvSpPr>
        <p:spPr>
          <a:xfrm>
            <a:off x="5983125" y="1281750"/>
            <a:ext cx="2547900" cy="3193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sz="1800"/>
            </a:lvl1pPr>
            <a:lvl2pPr indent="-342900" lvl="1" marL="914400" rtl="0">
              <a:spcBef>
                <a:spcPts val="0"/>
              </a:spcBef>
              <a:spcAft>
                <a:spcPts val="0"/>
              </a:spcAft>
              <a:buSzPts val="1800"/>
              <a:buChar char="□"/>
              <a:defRPr sz="1800"/>
            </a:lvl2pPr>
            <a:lvl3pPr indent="-342900" lvl="2" marL="1371600" rtl="0">
              <a:spcBef>
                <a:spcPts val="0"/>
              </a:spcBef>
              <a:spcAft>
                <a:spcPts val="0"/>
              </a:spcAft>
              <a:buSzPts val="1800"/>
              <a:buChar char="○"/>
              <a:defRPr sz="1800"/>
            </a:lvl3pPr>
            <a:lvl4pPr indent="-342900" lvl="3" marL="1828800" rtl="0">
              <a:spcBef>
                <a:spcPts val="0"/>
              </a:spcBef>
              <a:spcAft>
                <a:spcPts val="0"/>
              </a:spcAft>
              <a:buSzPts val="1800"/>
              <a:buChar char="□"/>
              <a:defRPr sz="1800"/>
            </a:lvl4pPr>
            <a:lvl5pPr indent="-342900" lvl="4" marL="2286000" rtl="0">
              <a:spcBef>
                <a:spcPts val="0"/>
              </a:spcBef>
              <a:spcAft>
                <a:spcPts val="0"/>
              </a:spcAft>
              <a:buSzPts val="1800"/>
              <a:buChar char="○"/>
              <a:defRPr sz="1800"/>
            </a:lvl5pPr>
            <a:lvl6pPr indent="-342900" lvl="5" marL="2743200" rtl="0">
              <a:spcBef>
                <a:spcPts val="0"/>
              </a:spcBef>
              <a:spcAft>
                <a:spcPts val="0"/>
              </a:spcAft>
              <a:buSzPts val="1800"/>
              <a:buChar char="■"/>
              <a:defRPr sz="1800"/>
            </a:lvl6pPr>
            <a:lvl7pPr indent="-342900" lvl="6" marL="3200400" rtl="0">
              <a:spcBef>
                <a:spcPts val="0"/>
              </a:spcBef>
              <a:spcAft>
                <a:spcPts val="0"/>
              </a:spcAft>
              <a:buSzPts val="1800"/>
              <a:buChar char="●"/>
              <a:defRPr sz="1800"/>
            </a:lvl7pPr>
            <a:lvl8pPr indent="-342900" lvl="7" marL="3657600" rtl="0">
              <a:spcBef>
                <a:spcPts val="0"/>
              </a:spcBef>
              <a:spcAft>
                <a:spcPts val="0"/>
              </a:spcAft>
              <a:buSzPts val="1800"/>
              <a:buChar char="○"/>
              <a:defRPr sz="1800"/>
            </a:lvl8pPr>
            <a:lvl9pPr indent="-342900" lvl="8" marL="4114800" rtl="0">
              <a:spcBef>
                <a:spcPts val="0"/>
              </a:spcBef>
              <a:spcAft>
                <a:spcPts val="0"/>
              </a:spcAft>
              <a:buSzPts val="1800"/>
              <a:buChar char="■"/>
              <a:defRPr sz="1800"/>
            </a:lvl9pPr>
          </a:lstStyle>
          <a:p/>
        </p:txBody>
      </p:sp>
      <p:sp>
        <p:nvSpPr>
          <p:cNvPr id="38" name="Google Shape;38;p7"/>
          <p:cNvSpPr txBox="1"/>
          <p:nvPr>
            <p:ph type="title"/>
          </p:nvPr>
        </p:nvSpPr>
        <p:spPr>
          <a:xfrm>
            <a:off x="2318100" y="113175"/>
            <a:ext cx="4507800" cy="857400"/>
          </a:xfrm>
          <a:prstGeom prst="rect">
            <a:avLst/>
          </a:prstGeom>
        </p:spPr>
        <p:txBody>
          <a:bodyPr anchorCtr="0" anchor="ctr"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p:txBody>
      </p:sp>
      <p:cxnSp>
        <p:nvCxnSpPr>
          <p:cNvPr id="39" name="Google Shape;39;p7"/>
          <p:cNvCxnSpPr/>
          <p:nvPr/>
        </p:nvCxnSpPr>
        <p:spPr>
          <a:xfrm rot="10800000">
            <a:off x="-23700" y="541800"/>
            <a:ext cx="2341800" cy="0"/>
          </a:xfrm>
          <a:prstGeom prst="straightConnector1">
            <a:avLst/>
          </a:prstGeom>
          <a:noFill/>
          <a:ln cap="flat" cmpd="sng" w="9525">
            <a:solidFill>
              <a:schemeClr val="dk2"/>
            </a:solidFill>
            <a:prstDash val="solid"/>
            <a:round/>
            <a:headEnd len="med" w="med" type="oval"/>
            <a:tailEnd len="med" w="med" type="none"/>
          </a:ln>
        </p:spPr>
      </p:cxnSp>
      <p:cxnSp>
        <p:nvCxnSpPr>
          <p:cNvPr id="40" name="Google Shape;40;p7"/>
          <p:cNvCxnSpPr/>
          <p:nvPr/>
        </p:nvCxnSpPr>
        <p:spPr>
          <a:xfrm>
            <a:off x="6825900" y="541800"/>
            <a:ext cx="2331300" cy="0"/>
          </a:xfrm>
          <a:prstGeom prst="straightConnector1">
            <a:avLst/>
          </a:prstGeom>
          <a:noFill/>
          <a:ln cap="flat" cmpd="sng" w="9525">
            <a:solidFill>
              <a:schemeClr val="dk2"/>
            </a:solidFill>
            <a:prstDash val="solid"/>
            <a:round/>
            <a:headEnd len="med" w="med" type="oval"/>
            <a:tailEnd len="med" w="med" type="none"/>
          </a:ln>
        </p:spPr>
      </p:cxnSp>
      <p:sp>
        <p:nvSpPr>
          <p:cNvPr id="41" name="Google Shape;41;p7"/>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 name="Shape 42"/>
        <p:cNvGrpSpPr/>
        <p:nvPr/>
      </p:nvGrpSpPr>
      <p:grpSpPr>
        <a:xfrm>
          <a:off x="0" y="0"/>
          <a:ext cx="0" cy="0"/>
          <a:chOff x="0" y="0"/>
          <a:chExt cx="0" cy="0"/>
        </a:xfrm>
      </p:grpSpPr>
      <p:sp>
        <p:nvSpPr>
          <p:cNvPr id="43" name="Google Shape;43;p8"/>
          <p:cNvSpPr txBox="1"/>
          <p:nvPr>
            <p:ph type="title"/>
          </p:nvPr>
        </p:nvSpPr>
        <p:spPr>
          <a:xfrm>
            <a:off x="2318100" y="113175"/>
            <a:ext cx="4507800" cy="857400"/>
          </a:xfrm>
          <a:prstGeom prst="rect">
            <a:avLst/>
          </a:prstGeom>
        </p:spPr>
        <p:txBody>
          <a:bodyPr anchorCtr="0" anchor="ctr"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p:txBody>
      </p:sp>
      <p:cxnSp>
        <p:nvCxnSpPr>
          <p:cNvPr id="44" name="Google Shape;44;p8"/>
          <p:cNvCxnSpPr/>
          <p:nvPr/>
        </p:nvCxnSpPr>
        <p:spPr>
          <a:xfrm rot="10800000">
            <a:off x="-23700" y="541800"/>
            <a:ext cx="2341800" cy="0"/>
          </a:xfrm>
          <a:prstGeom prst="straightConnector1">
            <a:avLst/>
          </a:prstGeom>
          <a:noFill/>
          <a:ln cap="flat" cmpd="sng" w="9525">
            <a:solidFill>
              <a:schemeClr val="dk2"/>
            </a:solidFill>
            <a:prstDash val="solid"/>
            <a:round/>
            <a:headEnd len="med" w="med" type="oval"/>
            <a:tailEnd len="med" w="med" type="none"/>
          </a:ln>
        </p:spPr>
      </p:cxnSp>
      <p:cxnSp>
        <p:nvCxnSpPr>
          <p:cNvPr id="45" name="Google Shape;45;p8"/>
          <p:cNvCxnSpPr/>
          <p:nvPr/>
        </p:nvCxnSpPr>
        <p:spPr>
          <a:xfrm>
            <a:off x="6825900" y="541800"/>
            <a:ext cx="2331300" cy="0"/>
          </a:xfrm>
          <a:prstGeom prst="straightConnector1">
            <a:avLst/>
          </a:prstGeom>
          <a:noFill/>
          <a:ln cap="flat" cmpd="sng" w="9525">
            <a:solidFill>
              <a:schemeClr val="dk2"/>
            </a:solidFill>
            <a:prstDash val="solid"/>
            <a:round/>
            <a:headEnd len="med" w="med" type="oval"/>
            <a:tailEnd len="med" w="med" type="none"/>
          </a:ln>
        </p:spPr>
      </p:cxnSp>
      <p:sp>
        <p:nvSpPr>
          <p:cNvPr id="46" name="Google Shape;46;p8"/>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7" name="Shape 47"/>
        <p:cNvGrpSpPr/>
        <p:nvPr/>
      </p:nvGrpSpPr>
      <p:grpSpPr>
        <a:xfrm>
          <a:off x="0" y="0"/>
          <a:ext cx="0" cy="0"/>
          <a:chOff x="0" y="0"/>
          <a:chExt cx="0" cy="0"/>
        </a:xfrm>
      </p:grpSpPr>
      <p:sp>
        <p:nvSpPr>
          <p:cNvPr id="48" name="Google Shape;48;p9"/>
          <p:cNvSpPr txBox="1"/>
          <p:nvPr>
            <p:ph idx="1" type="body"/>
          </p:nvPr>
        </p:nvSpPr>
        <p:spPr>
          <a:xfrm>
            <a:off x="2600500" y="4396706"/>
            <a:ext cx="3957600" cy="519600"/>
          </a:xfrm>
          <a:prstGeom prst="rect">
            <a:avLst/>
          </a:prstGeom>
        </p:spPr>
        <p:txBody>
          <a:bodyPr anchorCtr="0" anchor="ctr" bIns="91425" lIns="91425" spcFirstLastPara="1" rIns="91425" wrap="square" tIns="91425">
            <a:noAutofit/>
          </a:bodyPr>
          <a:lstStyle>
            <a:lvl1pPr indent="-228600" lvl="0" marL="457200" algn="ctr">
              <a:spcBef>
                <a:spcPts val="360"/>
              </a:spcBef>
              <a:spcAft>
                <a:spcPts val="0"/>
              </a:spcAft>
              <a:buSzPts val="1800"/>
              <a:buNone/>
              <a:defRPr i="1" sz="1800"/>
            </a:lvl1pPr>
          </a:lstStyle>
          <a:p/>
        </p:txBody>
      </p:sp>
      <p:cxnSp>
        <p:nvCxnSpPr>
          <p:cNvPr id="49" name="Google Shape;49;p9"/>
          <p:cNvCxnSpPr/>
          <p:nvPr/>
        </p:nvCxnSpPr>
        <p:spPr>
          <a:xfrm rot="10800000">
            <a:off x="-15900" y="4689847"/>
            <a:ext cx="2334000" cy="0"/>
          </a:xfrm>
          <a:prstGeom prst="straightConnector1">
            <a:avLst/>
          </a:prstGeom>
          <a:noFill/>
          <a:ln cap="flat" cmpd="sng" w="9525">
            <a:solidFill>
              <a:schemeClr val="dk2"/>
            </a:solidFill>
            <a:prstDash val="solid"/>
            <a:round/>
            <a:headEnd len="med" w="med" type="oval"/>
            <a:tailEnd len="med" w="med" type="none"/>
          </a:ln>
        </p:spPr>
      </p:cxnSp>
      <p:cxnSp>
        <p:nvCxnSpPr>
          <p:cNvPr id="50" name="Google Shape;50;p9"/>
          <p:cNvCxnSpPr/>
          <p:nvPr/>
        </p:nvCxnSpPr>
        <p:spPr>
          <a:xfrm>
            <a:off x="6825900" y="4689847"/>
            <a:ext cx="2339400" cy="0"/>
          </a:xfrm>
          <a:prstGeom prst="straightConnector1">
            <a:avLst/>
          </a:prstGeom>
          <a:noFill/>
          <a:ln cap="flat" cmpd="sng" w="9525">
            <a:solidFill>
              <a:schemeClr val="dk2"/>
            </a:solidFill>
            <a:prstDash val="solid"/>
            <a:round/>
            <a:headEnd len="med" w="med" type="oval"/>
            <a:tailEnd len="med" w="med" type="none"/>
          </a:ln>
        </p:spPr>
      </p:cxnSp>
      <p:sp>
        <p:nvSpPr>
          <p:cNvPr id="51" name="Google Shape;51;p9"/>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0"/>
          <p:cNvSpPr txBox="1"/>
          <p:nvPr>
            <p:ph idx="12" type="sldNum"/>
          </p:nvPr>
        </p:nvSpPr>
        <p:spPr>
          <a:xfrm>
            <a:off x="4297650"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ct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430350" y="206000"/>
            <a:ext cx="4283400" cy="8574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1pPr>
            <a:lvl2pPr lvl="1"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2pPr>
            <a:lvl3pPr lvl="2"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3pPr>
            <a:lvl4pPr lvl="3"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4pPr>
            <a:lvl5pPr lvl="4"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5pPr>
            <a:lvl6pPr lvl="5"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6pPr>
            <a:lvl7pPr lvl="6"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7pPr>
            <a:lvl8pPr lvl="7"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8pPr>
            <a:lvl9pPr lvl="8" algn="ctr">
              <a:spcBef>
                <a:spcPts val="0"/>
              </a:spcBef>
              <a:spcAft>
                <a:spcPts val="0"/>
              </a:spcAft>
              <a:buClr>
                <a:schemeClr val="dk1"/>
              </a:buClr>
              <a:buSzPts val="1600"/>
              <a:buFont typeface="Montserrat"/>
              <a:buNone/>
              <a:defRPr b="1" sz="1600">
                <a:solidFill>
                  <a:schemeClr val="dk1"/>
                </a:solidFill>
                <a:latin typeface="Montserrat"/>
                <a:ea typeface="Montserrat"/>
                <a:cs typeface="Montserrat"/>
                <a:sym typeface="Montserrat"/>
              </a:defRPr>
            </a:lvl9pPr>
          </a:lstStyle>
          <a:p/>
        </p:txBody>
      </p:sp>
      <p:sp>
        <p:nvSpPr>
          <p:cNvPr id="7" name="Google Shape;7;p1"/>
          <p:cNvSpPr txBox="1"/>
          <p:nvPr>
            <p:ph idx="1" type="body"/>
          </p:nvPr>
        </p:nvSpPr>
        <p:spPr>
          <a:xfrm>
            <a:off x="617100" y="1269863"/>
            <a:ext cx="7909800" cy="3215400"/>
          </a:xfrm>
          <a:prstGeom prst="rect">
            <a:avLst/>
          </a:prstGeom>
          <a:noFill/>
          <a:ln>
            <a:noFill/>
          </a:ln>
        </p:spPr>
        <p:txBody>
          <a:bodyPr anchorCtr="0" anchor="t" bIns="91425" lIns="91425" spcFirstLastPara="1" rIns="91425" wrap="square" tIns="91425">
            <a:noAutofit/>
          </a:bodyPr>
          <a:lstStyle>
            <a:lvl1pPr indent="-381000" lvl="0" marL="457200">
              <a:lnSpc>
                <a:spcPct val="115000"/>
              </a:lnSpc>
              <a:spcBef>
                <a:spcPts val="600"/>
              </a:spcBef>
              <a:spcAft>
                <a:spcPts val="0"/>
              </a:spcAft>
              <a:buClr>
                <a:schemeClr val="accent3"/>
              </a:buClr>
              <a:buSzPts val="2400"/>
              <a:buFont typeface="PT Serif"/>
              <a:buChar char="○"/>
              <a:defRPr sz="2400">
                <a:solidFill>
                  <a:schemeClr val="dk1"/>
                </a:solidFill>
                <a:latin typeface="PT Serif"/>
                <a:ea typeface="PT Serif"/>
                <a:cs typeface="PT Serif"/>
                <a:sym typeface="PT Serif"/>
              </a:defRPr>
            </a:lvl1pPr>
            <a:lvl2pPr indent="-381000" lvl="1" marL="914400">
              <a:lnSpc>
                <a:spcPct val="115000"/>
              </a:lnSpc>
              <a:spcBef>
                <a:spcPts val="0"/>
              </a:spcBef>
              <a:spcAft>
                <a:spcPts val="0"/>
              </a:spcAft>
              <a:buClr>
                <a:schemeClr val="accent3"/>
              </a:buClr>
              <a:buSzPts val="2400"/>
              <a:buFont typeface="PT Serif"/>
              <a:buChar char="□"/>
              <a:defRPr sz="2400">
                <a:solidFill>
                  <a:schemeClr val="dk1"/>
                </a:solidFill>
                <a:latin typeface="PT Serif"/>
                <a:ea typeface="PT Serif"/>
                <a:cs typeface="PT Serif"/>
                <a:sym typeface="PT Serif"/>
              </a:defRPr>
            </a:lvl2pPr>
            <a:lvl3pPr indent="-381000" lvl="2" marL="1371600">
              <a:lnSpc>
                <a:spcPct val="115000"/>
              </a:lnSpc>
              <a:spcBef>
                <a:spcPts val="0"/>
              </a:spcBef>
              <a:spcAft>
                <a:spcPts val="0"/>
              </a:spcAft>
              <a:buClr>
                <a:schemeClr val="accent3"/>
              </a:buClr>
              <a:buSzPts val="2400"/>
              <a:buFont typeface="PT Serif"/>
              <a:buChar char="○"/>
              <a:defRPr sz="2400">
                <a:solidFill>
                  <a:schemeClr val="dk1"/>
                </a:solidFill>
                <a:latin typeface="PT Serif"/>
                <a:ea typeface="PT Serif"/>
                <a:cs typeface="PT Serif"/>
                <a:sym typeface="PT Serif"/>
              </a:defRPr>
            </a:lvl3pPr>
            <a:lvl4pPr indent="-381000" lvl="3" marL="18288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4pPr>
            <a:lvl5pPr indent="-381000" lvl="4" marL="22860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5pPr>
            <a:lvl6pPr indent="-381000" lvl="5" marL="27432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6pPr>
            <a:lvl7pPr indent="-381000" lvl="6" marL="32004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7pPr>
            <a:lvl8pPr indent="-381000" lvl="7" marL="36576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8pPr>
            <a:lvl9pPr indent="-381000" lvl="8" marL="4114800">
              <a:lnSpc>
                <a:spcPct val="115000"/>
              </a:lnSpc>
              <a:spcBef>
                <a:spcPts val="0"/>
              </a:spcBef>
              <a:spcAft>
                <a:spcPts val="0"/>
              </a:spcAft>
              <a:buClr>
                <a:schemeClr val="dk1"/>
              </a:buClr>
              <a:buSzPts val="2400"/>
              <a:buFont typeface="PT Serif"/>
              <a:buChar char="■"/>
              <a:defRPr sz="2400">
                <a:solidFill>
                  <a:schemeClr val="dk1"/>
                </a:solidFill>
                <a:latin typeface="PT Serif"/>
                <a:ea typeface="PT Serif"/>
                <a:cs typeface="PT Serif"/>
                <a:sym typeface="PT Serif"/>
              </a:defRPr>
            </a:lvl9pPr>
          </a:lstStyle>
          <a:p/>
        </p:txBody>
      </p:sp>
      <p:sp>
        <p:nvSpPr>
          <p:cNvPr id="8" name="Google Shape;8;p1"/>
          <p:cNvSpPr txBox="1"/>
          <p:nvPr>
            <p:ph idx="12" type="sldNum"/>
          </p:nvPr>
        </p:nvSpPr>
        <p:spPr>
          <a:xfrm>
            <a:off x="4297650" y="4749851"/>
            <a:ext cx="548700" cy="393600"/>
          </a:xfrm>
          <a:prstGeom prst="rect">
            <a:avLst/>
          </a:prstGeom>
          <a:noFill/>
          <a:ln>
            <a:noFill/>
          </a:ln>
        </p:spPr>
        <p:txBody>
          <a:bodyPr anchorCtr="0" anchor="t" bIns="91425" lIns="91425" spcFirstLastPara="1" rIns="91425" wrap="square" tIns="91425">
            <a:noAutofit/>
          </a:bodyPr>
          <a:lstStyle>
            <a:lvl1pPr lvl="0" algn="ctr">
              <a:buNone/>
              <a:defRPr sz="1300">
                <a:solidFill>
                  <a:schemeClr val="accent1"/>
                </a:solidFill>
                <a:latin typeface="PT Serif"/>
                <a:ea typeface="PT Serif"/>
                <a:cs typeface="PT Serif"/>
                <a:sym typeface="PT Serif"/>
              </a:defRPr>
            </a:lvl1pPr>
            <a:lvl2pPr lvl="1" algn="ctr">
              <a:buNone/>
              <a:defRPr sz="1300">
                <a:solidFill>
                  <a:schemeClr val="accent1"/>
                </a:solidFill>
                <a:latin typeface="PT Serif"/>
                <a:ea typeface="PT Serif"/>
                <a:cs typeface="PT Serif"/>
                <a:sym typeface="PT Serif"/>
              </a:defRPr>
            </a:lvl2pPr>
            <a:lvl3pPr lvl="2" algn="ctr">
              <a:buNone/>
              <a:defRPr sz="1300">
                <a:solidFill>
                  <a:schemeClr val="accent1"/>
                </a:solidFill>
                <a:latin typeface="PT Serif"/>
                <a:ea typeface="PT Serif"/>
                <a:cs typeface="PT Serif"/>
                <a:sym typeface="PT Serif"/>
              </a:defRPr>
            </a:lvl3pPr>
            <a:lvl4pPr lvl="3" algn="ctr">
              <a:buNone/>
              <a:defRPr sz="1300">
                <a:solidFill>
                  <a:schemeClr val="accent1"/>
                </a:solidFill>
                <a:latin typeface="PT Serif"/>
                <a:ea typeface="PT Serif"/>
                <a:cs typeface="PT Serif"/>
                <a:sym typeface="PT Serif"/>
              </a:defRPr>
            </a:lvl4pPr>
            <a:lvl5pPr lvl="4" algn="ctr">
              <a:buNone/>
              <a:defRPr sz="1300">
                <a:solidFill>
                  <a:schemeClr val="accent1"/>
                </a:solidFill>
                <a:latin typeface="PT Serif"/>
                <a:ea typeface="PT Serif"/>
                <a:cs typeface="PT Serif"/>
                <a:sym typeface="PT Serif"/>
              </a:defRPr>
            </a:lvl5pPr>
            <a:lvl6pPr lvl="5" algn="ctr">
              <a:buNone/>
              <a:defRPr sz="1300">
                <a:solidFill>
                  <a:schemeClr val="accent1"/>
                </a:solidFill>
                <a:latin typeface="PT Serif"/>
                <a:ea typeface="PT Serif"/>
                <a:cs typeface="PT Serif"/>
                <a:sym typeface="PT Serif"/>
              </a:defRPr>
            </a:lvl6pPr>
            <a:lvl7pPr lvl="6" algn="ctr">
              <a:buNone/>
              <a:defRPr sz="1300">
                <a:solidFill>
                  <a:schemeClr val="accent1"/>
                </a:solidFill>
                <a:latin typeface="PT Serif"/>
                <a:ea typeface="PT Serif"/>
                <a:cs typeface="PT Serif"/>
                <a:sym typeface="PT Serif"/>
              </a:defRPr>
            </a:lvl7pPr>
            <a:lvl8pPr lvl="7" algn="ctr">
              <a:buNone/>
              <a:defRPr sz="1300">
                <a:solidFill>
                  <a:schemeClr val="accent1"/>
                </a:solidFill>
                <a:latin typeface="PT Serif"/>
                <a:ea typeface="PT Serif"/>
                <a:cs typeface="PT Serif"/>
                <a:sym typeface="PT Serif"/>
              </a:defRPr>
            </a:lvl8pPr>
            <a:lvl9pPr lvl="8" algn="ctr">
              <a:buNone/>
              <a:defRPr sz="1300">
                <a:solidFill>
                  <a:schemeClr val="accent1"/>
                </a:solidFill>
                <a:latin typeface="PT Serif"/>
                <a:ea typeface="PT Serif"/>
                <a:cs typeface="PT Serif"/>
                <a:sym typeface="PT Serif"/>
              </a:defRPr>
            </a:lvl9pPr>
          </a:lstStyle>
          <a:p>
            <a:pPr indent="0" lvl="0" marL="0" rtl="0" algn="ct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Lst>
  <p:transition>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8FAFD"/>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PRODUCT REVIEW</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A clearer starting point</a:t>
            </a:r>
          </a:p>
          <a:p>
            <a:pPr algn="l">
              <a:lnSpc>
                <a:spcPts val="4140"/>
              </a:lnSpc>
              <a:spcBef>
                <a:spcPts val="0"/>
              </a:spcBef>
              <a:spcAft>
                <a:spcPts val="0"/>
              </a:spcAft>
            </a:pPr>
            <a:r>
              <a:rPr sz="3000" b="0">
                <a:solidFill>
                  <a:srgbClr val="202124"/>
                </a:solidFill>
                <a:latin typeface="Segoe UI"/>
              </a:rPr>
              <a:t>for tutoring.</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01</a:t>
            </a:r>
          </a:p>
        </p:txBody>
      </p:sp>
      <p:sp>
        <p:nvSpPr>
          <p:cNvPr id="8" name="TextBox 7"/>
          <p:cNvSpPr txBox="1"/>
          <p:nvPr/>
        </p:nvSpPr>
        <p:spPr>
          <a:xfrm>
            <a:off x="579120" y="2362200"/>
            <a:ext cx="5410200" cy="703478"/>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5F6368"/>
                </a:solidFill>
                <a:latin typeface="Segoe UI"/>
              </a:rPr>
              <a:t>Turn a student's question into</a:t>
            </a:r>
          </a:p>
          <a:p>
            <a:pPr algn="l">
              <a:lnSpc>
                <a:spcPts val="2649"/>
              </a:lnSpc>
              <a:spcBef>
                <a:spcPts val="0"/>
              </a:spcBef>
              <a:spcAft>
                <a:spcPts val="0"/>
              </a:spcAft>
            </a:pPr>
            <a:r>
              <a:rPr sz="1920" b="0">
                <a:solidFill>
                  <a:srgbClr val="5F6368"/>
                </a:solidFill>
                <a:latin typeface="Segoe UI"/>
              </a:rPr>
              <a:t>a focused tutor handoff.</a:t>
            </a:r>
          </a:p>
        </p:txBody>
      </p:sp>
      <p:sp>
        <p:nvSpPr>
          <p:cNvPr id="9" name="TextBox 8"/>
          <p:cNvSpPr txBox="1"/>
          <p:nvPr/>
        </p:nvSpPr>
        <p:spPr>
          <a:xfrm>
            <a:off x="579120" y="5212080"/>
            <a:ext cx="4953000" cy="756056"/>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Research rationale</a:t>
            </a:r>
          </a:p>
          <a:p>
            <a:pPr algn="l">
              <a:lnSpc>
                <a:spcPts val="1904"/>
              </a:lnSpc>
              <a:spcBef>
                <a:spcPts val="0"/>
              </a:spcBef>
              <a:spcAft>
                <a:spcPts val="0"/>
              </a:spcAft>
            </a:pPr>
            <a:r>
              <a:rPr sz="1380" b="0">
                <a:solidFill>
                  <a:srgbClr val="5F6368"/>
                </a:solidFill>
                <a:latin typeface="Segoe UI"/>
              </a:rPr>
              <a:t>Working prototype</a:t>
            </a:r>
          </a:p>
          <a:p>
            <a:pPr algn="l">
              <a:lnSpc>
                <a:spcPts val="1904"/>
              </a:lnSpc>
              <a:spcBef>
                <a:spcPts val="0"/>
              </a:spcBef>
              <a:spcAft>
                <a:spcPts val="0"/>
              </a:spcAft>
            </a:pPr>
            <a:r>
              <a:rPr sz="1380" b="0">
                <a:solidFill>
                  <a:srgbClr val="5F6368"/>
                </a:solidFill>
                <a:latin typeface="Segoe UI"/>
              </a:rPr>
              <a:t>Validation plan</a:t>
            </a:r>
          </a:p>
        </p:txBody>
      </p:sp>
      <p:sp>
        <p:nvSpPr>
          <p:cNvPr id="10" name="Rounded Rectangle 9"/>
          <p:cNvSpPr/>
          <p:nvPr/>
        </p:nvSpPr>
        <p:spPr>
          <a:xfrm>
            <a:off x="6583680" y="2026920"/>
            <a:ext cx="4953000" cy="1493520"/>
          </a:xfrm>
          <a:prstGeom prst="roundRect">
            <a:avLst>
              <a:gd name="adj" fmla="val 8163"/>
            </a:avLst>
          </a:prstGeom>
          <a:solidFill>
            <a:srgbClr val="FFFFFF"/>
          </a:solidFill>
          <a:ln w="12700">
            <a:solidFill>
              <a:srgbClr val="DADCE0"/>
            </a:solidFill>
          </a:ln>
        </p:spPr>
        <p:txBody>
          <a:bodyPr rtlCol="0" anchor="ctr"/>
          <a:lstStyle/>
          <a:p>
            <a:pPr algn="ctr"/>
          </a:p>
        </p:txBody>
      </p:sp>
      <p:sp>
        <p:nvSpPr>
          <p:cNvPr id="11" name="Rounded Rectangle 10"/>
          <p:cNvSpPr/>
          <p:nvPr/>
        </p:nvSpPr>
        <p:spPr>
          <a:xfrm>
            <a:off x="6797040" y="2179320"/>
            <a:ext cx="1600200" cy="289560"/>
          </a:xfrm>
          <a:prstGeom prst="roundRect">
            <a:avLst>
              <a:gd name="adj" fmla="val 26315"/>
            </a:avLst>
          </a:prstGeom>
          <a:solidFill>
            <a:srgbClr val="EAF2FF"/>
          </a:solidFill>
          <a:ln>
            <a:noFill/>
          </a:ln>
        </p:spPr>
        <p:txBody>
          <a:bodyPr rtlCol="0" anchor="ctr"/>
          <a:lstStyle/>
          <a:p>
            <a:pPr algn="ctr"/>
          </a:p>
        </p:txBody>
      </p:sp>
      <p:sp>
        <p:nvSpPr>
          <p:cNvPr id="12" name="TextBox 11"/>
          <p:cNvSpPr txBox="1"/>
          <p:nvPr/>
        </p:nvSpPr>
        <p:spPr>
          <a:xfrm>
            <a:off x="6903720" y="2225040"/>
            <a:ext cx="138684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STUDENT QUESTION</a:t>
            </a:r>
          </a:p>
        </p:txBody>
      </p:sp>
      <p:sp>
        <p:nvSpPr>
          <p:cNvPr id="13" name="TextBox 12"/>
          <p:cNvSpPr txBox="1"/>
          <p:nvPr/>
        </p:nvSpPr>
        <p:spPr>
          <a:xfrm>
            <a:off x="6873240" y="2651760"/>
            <a:ext cx="4190999" cy="577291"/>
          </a:xfrm>
          <a:prstGeom prst="rect">
            <a:avLst/>
          </a:prstGeom>
          <a:noFill/>
        </p:spPr>
        <p:txBody>
          <a:bodyPr wrap="none" tIns="0" bIns="0" lIns="0" rIns="0">
            <a:spAutoFit/>
          </a:bodyPr>
          <a:lstStyle/>
          <a:p>
            <a:pPr algn="l">
              <a:lnSpc>
                <a:spcPts val="4305"/>
              </a:lnSpc>
              <a:spcBef>
                <a:spcPts val="0"/>
              </a:spcBef>
              <a:spcAft>
                <a:spcPts val="0"/>
              </a:spcAft>
            </a:pPr>
            <a:r>
              <a:rPr sz="3120" b="0">
                <a:solidFill>
                  <a:srgbClr val="202124"/>
                </a:solidFill>
                <a:latin typeface="Segoe UI"/>
              </a:rPr>
              <a:t>2(x + 3) = 14</a:t>
            </a:r>
          </a:p>
        </p:txBody>
      </p:sp>
      <p:cxnSp>
        <p:nvCxnSpPr>
          <p:cNvPr id="14" name="Connector 13"/>
          <p:cNvCxnSpPr/>
          <p:nvPr/>
        </p:nvCxnSpPr>
        <p:spPr>
          <a:xfrm>
            <a:off x="9060180" y="3520440"/>
            <a:ext cx="0" cy="381000"/>
          </a:xfrm>
          <a:prstGeom prst="line">
            <a:avLst/>
          </a:prstGeom>
          <a:ln w="22859">
            <a:solidFill>
              <a:srgbClr val="1A73E8"/>
            </a:solidFill>
          </a:ln>
        </p:spPr>
      </p:cxnSp>
      <p:sp>
        <p:nvSpPr>
          <p:cNvPr id="15" name="Rounded Rectangle 14"/>
          <p:cNvSpPr/>
          <p:nvPr/>
        </p:nvSpPr>
        <p:spPr>
          <a:xfrm>
            <a:off x="6918960" y="3901440"/>
            <a:ext cx="4617720" cy="1927860"/>
          </a:xfrm>
          <a:prstGeom prst="roundRect">
            <a:avLst>
              <a:gd name="adj" fmla="val 6324"/>
            </a:avLst>
          </a:prstGeom>
          <a:solidFill>
            <a:srgbClr val="EAF2FF"/>
          </a:solidFill>
          <a:ln>
            <a:noFill/>
          </a:ln>
        </p:spPr>
        <p:txBody>
          <a:bodyPr rtlCol="0" anchor="ctr"/>
          <a:lstStyle/>
          <a:p>
            <a:pPr algn="ctr"/>
          </a:p>
        </p:txBody>
      </p:sp>
      <p:sp>
        <p:nvSpPr>
          <p:cNvPr id="16" name="TextBox 15"/>
          <p:cNvSpPr txBox="1"/>
          <p:nvPr/>
        </p:nvSpPr>
        <p:spPr>
          <a:xfrm>
            <a:off x="7162800" y="4122420"/>
            <a:ext cx="41148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TUTOR STARTING POINT</a:t>
            </a:r>
          </a:p>
        </p:txBody>
      </p:sp>
      <p:sp>
        <p:nvSpPr>
          <p:cNvPr id="17" name="TextBox 16"/>
          <p:cNvSpPr txBox="1"/>
          <p:nvPr/>
        </p:nvSpPr>
        <p:spPr>
          <a:xfrm>
            <a:off x="7162800" y="4495800"/>
            <a:ext cx="4038600" cy="745540"/>
          </a:xfrm>
          <a:prstGeom prst="rect">
            <a:avLst/>
          </a:prstGeom>
          <a:noFill/>
        </p:spPr>
        <p:txBody>
          <a:bodyPr wrap="none" tIns="0" bIns="0" lIns="0" rIns="0">
            <a:spAutoFit/>
          </a:bodyPr>
          <a:lstStyle/>
          <a:p>
            <a:pPr algn="l">
              <a:lnSpc>
                <a:spcPts val="2815"/>
              </a:lnSpc>
              <a:spcBef>
                <a:spcPts val="0"/>
              </a:spcBef>
              <a:spcAft>
                <a:spcPts val="0"/>
              </a:spcAft>
            </a:pPr>
            <a:r>
              <a:rPr sz="2039" b="0">
                <a:solidFill>
                  <a:srgbClr val="202124"/>
                </a:solidFill>
                <a:latin typeface="Segoe UI"/>
              </a:rPr>
              <a:t>Check distribution</a:t>
            </a:r>
          </a:p>
          <a:p>
            <a:pPr algn="l">
              <a:lnSpc>
                <a:spcPts val="2815"/>
              </a:lnSpc>
              <a:spcBef>
                <a:spcPts val="0"/>
              </a:spcBef>
              <a:spcAft>
                <a:spcPts val="0"/>
              </a:spcAft>
            </a:pPr>
            <a:r>
              <a:rPr sz="2039" b="0">
                <a:solidFill>
                  <a:srgbClr val="202124"/>
                </a:solidFill>
                <a:latin typeface="Segoe UI"/>
              </a:rPr>
              <a:t>before solving.</a:t>
            </a:r>
          </a:p>
        </p:txBody>
      </p:sp>
      <p:sp>
        <p:nvSpPr>
          <p:cNvPr id="18" name="TextBox 17"/>
          <p:cNvSpPr txBox="1"/>
          <p:nvPr/>
        </p:nvSpPr>
        <p:spPr>
          <a:xfrm>
            <a:off x="7162800" y="5341620"/>
            <a:ext cx="403860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A possible gap to confirm.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THE OPPORTUNITY</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The question shows the task.</a:t>
            </a:r>
          </a:p>
          <a:p>
            <a:pPr algn="l">
              <a:lnSpc>
                <a:spcPts val="4140"/>
              </a:lnSpc>
              <a:spcBef>
                <a:spcPts val="0"/>
              </a:spcBef>
              <a:spcAft>
                <a:spcPts val="0"/>
              </a:spcAft>
            </a:pPr>
            <a:r>
              <a:rPr sz="3000" b="0">
                <a:solidFill>
                  <a:srgbClr val="202124"/>
                </a:solidFill>
                <a:latin typeface="Segoe UI"/>
              </a:rPr>
              <a:t>It does not show the gap.</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02</a:t>
            </a:r>
          </a:p>
        </p:txBody>
      </p:sp>
      <p:sp>
        <p:nvSpPr>
          <p:cNvPr id="8" name="Rounded Rectangle 7"/>
          <p:cNvSpPr/>
          <p:nvPr/>
        </p:nvSpPr>
        <p:spPr>
          <a:xfrm>
            <a:off x="548640" y="2362200"/>
            <a:ext cx="4686300" cy="3215640"/>
          </a:xfrm>
          <a:prstGeom prst="roundRect">
            <a:avLst>
              <a:gd name="adj" fmla="val 3791"/>
            </a:avLst>
          </a:prstGeom>
          <a:solidFill>
            <a:srgbClr val="F8FAFD"/>
          </a:solidFill>
          <a:ln>
            <a:noFill/>
          </a:ln>
        </p:spPr>
        <p:txBody>
          <a:bodyPr rtlCol="0" anchor="ctr"/>
          <a:lstStyle/>
          <a:p>
            <a:pPr algn="ctr"/>
          </a:p>
        </p:txBody>
      </p:sp>
      <p:sp>
        <p:nvSpPr>
          <p:cNvPr id="9" name="TextBox 8"/>
          <p:cNvSpPr txBox="1"/>
          <p:nvPr/>
        </p:nvSpPr>
        <p:spPr>
          <a:xfrm>
            <a:off x="792480" y="2598420"/>
            <a:ext cx="4190999"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5F6368"/>
                </a:solidFill>
                <a:latin typeface="Segoe UI"/>
              </a:rPr>
              <a:t>WHAT WE KNOW</a:t>
            </a:r>
          </a:p>
        </p:txBody>
      </p:sp>
      <p:sp>
        <p:nvSpPr>
          <p:cNvPr id="10" name="TextBox 9"/>
          <p:cNvSpPr txBox="1"/>
          <p:nvPr/>
        </p:nvSpPr>
        <p:spPr>
          <a:xfrm>
            <a:off x="792480" y="3223260"/>
            <a:ext cx="4190999" cy="619353"/>
          </a:xfrm>
          <a:prstGeom prst="rect">
            <a:avLst/>
          </a:prstGeom>
          <a:noFill/>
        </p:spPr>
        <p:txBody>
          <a:bodyPr wrap="none" tIns="0" bIns="0" lIns="0" rIns="0">
            <a:spAutoFit/>
          </a:bodyPr>
          <a:lstStyle/>
          <a:p>
            <a:pPr algn="l">
              <a:lnSpc>
                <a:spcPts val="4636"/>
              </a:lnSpc>
              <a:spcBef>
                <a:spcPts val="0"/>
              </a:spcBef>
              <a:spcAft>
                <a:spcPts val="0"/>
              </a:spcAft>
            </a:pPr>
            <a:r>
              <a:rPr sz="3360" b="0">
                <a:solidFill>
                  <a:srgbClr val="202124"/>
                </a:solidFill>
                <a:latin typeface="Segoe UI"/>
              </a:rPr>
              <a:t>2(x + 3) = 14</a:t>
            </a:r>
          </a:p>
        </p:txBody>
      </p:sp>
      <p:sp>
        <p:nvSpPr>
          <p:cNvPr id="11" name="TextBox 10"/>
          <p:cNvSpPr txBox="1"/>
          <p:nvPr/>
        </p:nvSpPr>
        <p:spPr>
          <a:xfrm>
            <a:off x="792480" y="4419600"/>
            <a:ext cx="4190999" cy="598322"/>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5F6368"/>
                </a:solidFill>
                <a:latin typeface="Segoe UI"/>
              </a:rPr>
              <a:t>The problem.</a:t>
            </a:r>
          </a:p>
          <a:p>
            <a:pPr algn="l">
              <a:lnSpc>
                <a:spcPts val="2235"/>
              </a:lnSpc>
              <a:spcBef>
                <a:spcPts val="0"/>
              </a:spcBef>
              <a:spcAft>
                <a:spcPts val="0"/>
              </a:spcAft>
            </a:pPr>
            <a:r>
              <a:rPr sz="1620" b="0">
                <a:solidFill>
                  <a:srgbClr val="5F6368"/>
                </a:solidFill>
                <a:latin typeface="Segoe UI"/>
              </a:rPr>
              <a:t>Not yet the student's thinking.</a:t>
            </a:r>
          </a:p>
        </p:txBody>
      </p:sp>
      <p:sp>
        <p:nvSpPr>
          <p:cNvPr id="12" name="TextBox 11"/>
          <p:cNvSpPr txBox="1"/>
          <p:nvPr/>
        </p:nvSpPr>
        <p:spPr>
          <a:xfrm>
            <a:off x="6065520" y="2369820"/>
            <a:ext cx="55626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WHAT WE NEED TO CHECK</a:t>
            </a:r>
          </a:p>
        </p:txBody>
      </p:sp>
      <p:sp>
        <p:nvSpPr>
          <p:cNvPr id="13" name="TextBox 12"/>
          <p:cNvSpPr txBox="1"/>
          <p:nvPr/>
        </p:nvSpPr>
        <p:spPr>
          <a:xfrm>
            <a:off x="6065520" y="2926080"/>
            <a:ext cx="53340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1A73E8"/>
                </a:solidFill>
                <a:latin typeface="Segoe UI"/>
              </a:rPr>
              <a:t>01</a:t>
            </a:r>
          </a:p>
        </p:txBody>
      </p:sp>
      <p:sp>
        <p:nvSpPr>
          <p:cNvPr id="14" name="TextBox 13"/>
          <p:cNvSpPr txBox="1"/>
          <p:nvPr/>
        </p:nvSpPr>
        <p:spPr>
          <a:xfrm>
            <a:off x="6736080" y="2926080"/>
            <a:ext cx="22479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Distribute</a:t>
            </a:r>
          </a:p>
        </p:txBody>
      </p:sp>
      <p:sp>
        <p:nvSpPr>
          <p:cNvPr id="15" name="TextBox 14"/>
          <p:cNvSpPr txBox="1"/>
          <p:nvPr/>
        </p:nvSpPr>
        <p:spPr>
          <a:xfrm>
            <a:off x="9296400" y="2926080"/>
            <a:ext cx="23241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5F6368"/>
                </a:solidFill>
                <a:latin typeface="Segoe UI"/>
              </a:rPr>
              <a:t>2x + 6 = 14</a:t>
            </a:r>
          </a:p>
        </p:txBody>
      </p:sp>
      <p:cxnSp>
        <p:nvCxnSpPr>
          <p:cNvPr id="16" name="Connector 15"/>
          <p:cNvCxnSpPr/>
          <p:nvPr/>
        </p:nvCxnSpPr>
        <p:spPr>
          <a:xfrm>
            <a:off x="6065520" y="3520440"/>
            <a:ext cx="5577840" cy="0"/>
          </a:xfrm>
          <a:prstGeom prst="line">
            <a:avLst/>
          </a:prstGeom>
          <a:ln w="15240">
            <a:solidFill>
              <a:srgbClr val="DADCE0"/>
            </a:solidFill>
          </a:ln>
        </p:spPr>
      </p:cxnSp>
      <p:sp>
        <p:nvSpPr>
          <p:cNvPr id="17" name="TextBox 16"/>
          <p:cNvSpPr txBox="1"/>
          <p:nvPr/>
        </p:nvSpPr>
        <p:spPr>
          <a:xfrm>
            <a:off x="6065520" y="3878579"/>
            <a:ext cx="53340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1A73E8"/>
                </a:solidFill>
                <a:latin typeface="Segoe UI"/>
              </a:rPr>
              <a:t>02</a:t>
            </a:r>
          </a:p>
        </p:txBody>
      </p:sp>
      <p:sp>
        <p:nvSpPr>
          <p:cNvPr id="18" name="TextBox 17"/>
          <p:cNvSpPr txBox="1"/>
          <p:nvPr/>
        </p:nvSpPr>
        <p:spPr>
          <a:xfrm>
            <a:off x="6736080" y="3878579"/>
            <a:ext cx="22479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Balance</a:t>
            </a:r>
          </a:p>
        </p:txBody>
      </p:sp>
      <p:sp>
        <p:nvSpPr>
          <p:cNvPr id="19" name="TextBox 18"/>
          <p:cNvSpPr txBox="1"/>
          <p:nvPr/>
        </p:nvSpPr>
        <p:spPr>
          <a:xfrm>
            <a:off x="9296400" y="3878579"/>
            <a:ext cx="23241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5F6368"/>
                </a:solidFill>
                <a:latin typeface="Segoe UI"/>
              </a:rPr>
              <a:t>2x = 8</a:t>
            </a:r>
          </a:p>
        </p:txBody>
      </p:sp>
      <p:cxnSp>
        <p:nvCxnSpPr>
          <p:cNvPr id="20" name="Connector 19"/>
          <p:cNvCxnSpPr/>
          <p:nvPr/>
        </p:nvCxnSpPr>
        <p:spPr>
          <a:xfrm>
            <a:off x="6065520" y="4472940"/>
            <a:ext cx="5577840" cy="0"/>
          </a:xfrm>
          <a:prstGeom prst="line">
            <a:avLst/>
          </a:prstGeom>
          <a:ln w="15240">
            <a:solidFill>
              <a:srgbClr val="DADCE0"/>
            </a:solidFill>
          </a:ln>
        </p:spPr>
      </p:cxnSp>
      <p:sp>
        <p:nvSpPr>
          <p:cNvPr id="21" name="TextBox 20"/>
          <p:cNvSpPr txBox="1"/>
          <p:nvPr/>
        </p:nvSpPr>
        <p:spPr>
          <a:xfrm>
            <a:off x="6065520" y="4831080"/>
            <a:ext cx="53340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1A73E8"/>
                </a:solidFill>
                <a:latin typeface="Segoe UI"/>
              </a:rPr>
              <a:t>03</a:t>
            </a:r>
          </a:p>
        </p:txBody>
      </p:sp>
      <p:sp>
        <p:nvSpPr>
          <p:cNvPr id="22" name="TextBox 21"/>
          <p:cNvSpPr txBox="1"/>
          <p:nvPr/>
        </p:nvSpPr>
        <p:spPr>
          <a:xfrm>
            <a:off x="6736080" y="4831080"/>
            <a:ext cx="22479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Divide</a:t>
            </a:r>
          </a:p>
        </p:txBody>
      </p:sp>
      <p:sp>
        <p:nvSpPr>
          <p:cNvPr id="23" name="TextBox 22"/>
          <p:cNvSpPr txBox="1"/>
          <p:nvPr/>
        </p:nvSpPr>
        <p:spPr>
          <a:xfrm>
            <a:off x="9296400" y="4831080"/>
            <a:ext cx="23241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5F6368"/>
                </a:solidFill>
                <a:latin typeface="Segoe UI"/>
              </a:rPr>
              <a:t>x = 4</a:t>
            </a:r>
          </a:p>
        </p:txBody>
      </p:sp>
      <p:cxnSp>
        <p:nvCxnSpPr>
          <p:cNvPr id="24" name="Connector 23"/>
          <p:cNvCxnSpPr/>
          <p:nvPr/>
        </p:nvCxnSpPr>
        <p:spPr>
          <a:xfrm>
            <a:off x="6065520" y="5425440"/>
            <a:ext cx="5577840" cy="0"/>
          </a:xfrm>
          <a:prstGeom prst="line">
            <a:avLst/>
          </a:prstGeom>
          <a:ln w="15240">
            <a:solidFill>
              <a:srgbClr val="DADCE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RESEARCH RATIONALE</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Check understanding</a:t>
            </a:r>
          </a:p>
          <a:p>
            <a:pPr algn="l">
              <a:lnSpc>
                <a:spcPts val="4140"/>
              </a:lnSpc>
              <a:spcBef>
                <a:spcPts val="0"/>
              </a:spcBef>
              <a:spcAft>
                <a:spcPts val="0"/>
              </a:spcAft>
            </a:pPr>
            <a:r>
              <a:rPr sz="3000" b="0">
                <a:solidFill>
                  <a:srgbClr val="202124"/>
                </a:solidFill>
                <a:latin typeface="Segoe UI"/>
              </a:rPr>
              <a:t>before choosing the feedback.</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Design rationale: EEF, Teacher Feedback to Improve Pupil Learning, 2021.</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03</a:t>
            </a:r>
          </a:p>
        </p:txBody>
      </p:sp>
      <p:sp>
        <p:nvSpPr>
          <p:cNvPr id="8" name="Rounded Rectangle 7"/>
          <p:cNvSpPr/>
          <p:nvPr/>
        </p:nvSpPr>
        <p:spPr>
          <a:xfrm>
            <a:off x="548640" y="2423160"/>
            <a:ext cx="5257800" cy="3192780"/>
          </a:xfrm>
          <a:prstGeom prst="roundRect">
            <a:avLst>
              <a:gd name="adj" fmla="val 3818"/>
            </a:avLst>
          </a:prstGeom>
          <a:solidFill>
            <a:srgbClr val="EAF2FF"/>
          </a:solidFill>
          <a:ln>
            <a:noFill/>
          </a:ln>
        </p:spPr>
        <p:txBody>
          <a:bodyPr rtlCol="0" anchor="ctr"/>
          <a:lstStyle/>
          <a:p>
            <a:pPr algn="ctr"/>
          </a:p>
        </p:txBody>
      </p:sp>
      <p:sp>
        <p:nvSpPr>
          <p:cNvPr id="9" name="TextBox 8"/>
          <p:cNvSpPr txBox="1"/>
          <p:nvPr/>
        </p:nvSpPr>
        <p:spPr>
          <a:xfrm>
            <a:off x="807720" y="2697480"/>
            <a:ext cx="46482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THE DESIGN FOUNDATION</a:t>
            </a:r>
          </a:p>
        </p:txBody>
      </p:sp>
      <p:sp>
        <p:nvSpPr>
          <p:cNvPr id="10" name="TextBox 9"/>
          <p:cNvSpPr txBox="1"/>
          <p:nvPr/>
        </p:nvSpPr>
        <p:spPr>
          <a:xfrm>
            <a:off x="807720" y="3238500"/>
            <a:ext cx="4648200" cy="1166164"/>
          </a:xfrm>
          <a:prstGeom prst="rect">
            <a:avLst/>
          </a:prstGeom>
          <a:noFill/>
        </p:spPr>
        <p:txBody>
          <a:bodyPr wrap="none" tIns="0" bIns="0" lIns="0" rIns="0">
            <a:spAutoFit/>
          </a:bodyPr>
          <a:lstStyle/>
          <a:p>
            <a:pPr algn="l">
              <a:lnSpc>
                <a:spcPts val="2980"/>
              </a:lnSpc>
              <a:spcBef>
                <a:spcPts val="0"/>
              </a:spcBef>
              <a:spcAft>
                <a:spcPts val="0"/>
              </a:spcAft>
            </a:pPr>
            <a:r>
              <a:rPr sz="2160" b="0">
                <a:solidFill>
                  <a:srgbClr val="202124"/>
                </a:solidFill>
                <a:latin typeface="Segoe UI"/>
              </a:rPr>
              <a:t>Formative assessment</a:t>
            </a:r>
          </a:p>
          <a:p>
            <a:pPr algn="l">
              <a:lnSpc>
                <a:spcPts val="2980"/>
              </a:lnSpc>
              <a:spcBef>
                <a:spcPts val="0"/>
              </a:spcBef>
              <a:spcAft>
                <a:spcPts val="0"/>
              </a:spcAft>
            </a:pPr>
            <a:r>
              <a:rPr sz="2160" b="0">
                <a:solidFill>
                  <a:srgbClr val="202124"/>
                </a:solidFill>
                <a:latin typeface="Segoe UI"/>
              </a:rPr>
              <a:t>helps establish the gap</a:t>
            </a:r>
          </a:p>
          <a:p>
            <a:pPr algn="l">
              <a:lnSpc>
                <a:spcPts val="2980"/>
              </a:lnSpc>
              <a:spcBef>
                <a:spcPts val="0"/>
              </a:spcBef>
              <a:spcAft>
                <a:spcPts val="0"/>
              </a:spcAft>
            </a:pPr>
            <a:r>
              <a:rPr sz="2160" b="0">
                <a:solidFill>
                  <a:srgbClr val="202124"/>
                </a:solidFill>
                <a:latin typeface="Segoe UI"/>
              </a:rPr>
              <a:t>before feedback.</a:t>
            </a:r>
          </a:p>
        </p:txBody>
      </p:sp>
      <p:sp>
        <p:nvSpPr>
          <p:cNvPr id="11" name="TextBox 10"/>
          <p:cNvSpPr txBox="1"/>
          <p:nvPr/>
        </p:nvSpPr>
        <p:spPr>
          <a:xfrm>
            <a:off x="807720" y="4975860"/>
            <a:ext cx="464820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EEF guidance, 2021  /  Recommendation 1</a:t>
            </a:r>
          </a:p>
        </p:txBody>
      </p:sp>
      <p:sp>
        <p:nvSpPr>
          <p:cNvPr id="12" name="Oval 11"/>
          <p:cNvSpPr/>
          <p:nvPr/>
        </p:nvSpPr>
        <p:spPr>
          <a:xfrm>
            <a:off x="6355080" y="2529840"/>
            <a:ext cx="335280" cy="335280"/>
          </a:xfrm>
          <a:prstGeom prst="ellipse">
            <a:avLst/>
          </a:prstGeom>
          <a:solidFill>
            <a:srgbClr val="EAF2FF"/>
          </a:solidFill>
          <a:ln>
            <a:noFill/>
          </a:ln>
        </p:spPr>
        <p:txBody>
          <a:bodyPr rtlCol="0" anchor="ctr"/>
          <a:lstStyle/>
          <a:p>
            <a:pPr algn="ctr"/>
          </a:p>
        </p:txBody>
      </p:sp>
      <p:sp>
        <p:nvSpPr>
          <p:cNvPr id="13" name="TextBox 12"/>
          <p:cNvSpPr txBox="1"/>
          <p:nvPr/>
        </p:nvSpPr>
        <p:spPr>
          <a:xfrm>
            <a:off x="6461760" y="2545080"/>
            <a:ext cx="22860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1A73E8"/>
                </a:solidFill>
                <a:latin typeface="Segoe UI"/>
              </a:rPr>
              <a:t>1</a:t>
            </a:r>
          </a:p>
        </p:txBody>
      </p:sp>
      <p:sp>
        <p:nvSpPr>
          <p:cNvPr id="14" name="TextBox 13"/>
          <p:cNvSpPr txBox="1"/>
          <p:nvPr/>
        </p:nvSpPr>
        <p:spPr>
          <a:xfrm>
            <a:off x="6873240" y="2499360"/>
            <a:ext cx="477012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Ask about one concept</a:t>
            </a:r>
          </a:p>
        </p:txBody>
      </p:sp>
      <p:sp>
        <p:nvSpPr>
          <p:cNvPr id="15" name="TextBox 14"/>
          <p:cNvSpPr txBox="1"/>
          <p:nvPr/>
        </p:nvSpPr>
        <p:spPr>
          <a:xfrm>
            <a:off x="6873240" y="2865120"/>
            <a:ext cx="477012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A short probe, not the full solution.</a:t>
            </a:r>
          </a:p>
        </p:txBody>
      </p:sp>
      <p:sp>
        <p:nvSpPr>
          <p:cNvPr id="16" name="Oval 15"/>
          <p:cNvSpPr/>
          <p:nvPr/>
        </p:nvSpPr>
        <p:spPr>
          <a:xfrm>
            <a:off x="6355080" y="3566160"/>
            <a:ext cx="335280" cy="335280"/>
          </a:xfrm>
          <a:prstGeom prst="ellipse">
            <a:avLst/>
          </a:prstGeom>
          <a:solidFill>
            <a:srgbClr val="EAF2FF"/>
          </a:solidFill>
          <a:ln>
            <a:noFill/>
          </a:ln>
        </p:spPr>
        <p:txBody>
          <a:bodyPr rtlCol="0" anchor="ctr"/>
          <a:lstStyle/>
          <a:p>
            <a:pPr algn="ctr"/>
          </a:p>
        </p:txBody>
      </p:sp>
      <p:sp>
        <p:nvSpPr>
          <p:cNvPr id="17" name="TextBox 16"/>
          <p:cNvSpPr txBox="1"/>
          <p:nvPr/>
        </p:nvSpPr>
        <p:spPr>
          <a:xfrm>
            <a:off x="6461760" y="3581400"/>
            <a:ext cx="22860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1A73E8"/>
                </a:solidFill>
                <a:latin typeface="Segoe UI"/>
              </a:rPr>
              <a:t>2</a:t>
            </a:r>
          </a:p>
        </p:txBody>
      </p:sp>
      <p:sp>
        <p:nvSpPr>
          <p:cNvPr id="18" name="TextBox 17"/>
          <p:cNvSpPr txBox="1"/>
          <p:nvPr/>
        </p:nvSpPr>
        <p:spPr>
          <a:xfrm>
            <a:off x="6873240" y="3535680"/>
            <a:ext cx="477012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Inspect the answer</a:t>
            </a:r>
          </a:p>
        </p:txBody>
      </p:sp>
      <p:sp>
        <p:nvSpPr>
          <p:cNvPr id="19" name="TextBox 18"/>
          <p:cNvSpPr txBox="1"/>
          <p:nvPr/>
        </p:nvSpPr>
        <p:spPr>
          <a:xfrm>
            <a:off x="6873240" y="3901440"/>
            <a:ext cx="477012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Keep the response, not just a score.</a:t>
            </a:r>
          </a:p>
        </p:txBody>
      </p:sp>
      <p:sp>
        <p:nvSpPr>
          <p:cNvPr id="20" name="Oval 19"/>
          <p:cNvSpPr/>
          <p:nvPr/>
        </p:nvSpPr>
        <p:spPr>
          <a:xfrm>
            <a:off x="6355080" y="4602480"/>
            <a:ext cx="335280" cy="335280"/>
          </a:xfrm>
          <a:prstGeom prst="ellipse">
            <a:avLst/>
          </a:prstGeom>
          <a:solidFill>
            <a:srgbClr val="EAF2FF"/>
          </a:solidFill>
          <a:ln>
            <a:noFill/>
          </a:ln>
        </p:spPr>
        <p:txBody>
          <a:bodyPr rtlCol="0" anchor="ctr"/>
          <a:lstStyle/>
          <a:p>
            <a:pPr algn="ctr"/>
          </a:p>
        </p:txBody>
      </p:sp>
      <p:sp>
        <p:nvSpPr>
          <p:cNvPr id="21" name="TextBox 20"/>
          <p:cNvSpPr txBox="1"/>
          <p:nvPr/>
        </p:nvSpPr>
        <p:spPr>
          <a:xfrm>
            <a:off x="6461760" y="4617720"/>
            <a:ext cx="22860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1A73E8"/>
                </a:solidFill>
                <a:latin typeface="Segoe UI"/>
              </a:rPr>
              <a:t>3</a:t>
            </a:r>
          </a:p>
        </p:txBody>
      </p:sp>
      <p:sp>
        <p:nvSpPr>
          <p:cNvPr id="22" name="TextBox 21"/>
          <p:cNvSpPr txBox="1"/>
          <p:nvPr/>
        </p:nvSpPr>
        <p:spPr>
          <a:xfrm>
            <a:off x="6873240" y="4572000"/>
            <a:ext cx="477012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Let the tutor confirm</a:t>
            </a:r>
          </a:p>
        </p:txBody>
      </p:sp>
      <p:sp>
        <p:nvSpPr>
          <p:cNvPr id="23" name="TextBox 22"/>
          <p:cNvSpPr txBox="1"/>
          <p:nvPr/>
        </p:nvSpPr>
        <p:spPr>
          <a:xfrm>
            <a:off x="6873240" y="4937760"/>
            <a:ext cx="477012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Choose the next explanation together.</a:t>
            </a:r>
          </a:p>
        </p:txBody>
      </p:sp>
      <p:sp>
        <p:nvSpPr>
          <p:cNvPr id="24" name="TextBox 23"/>
          <p:cNvSpPr txBox="1"/>
          <p:nvPr/>
        </p:nvSpPr>
        <p:spPr>
          <a:xfrm>
            <a:off x="548640" y="5882640"/>
            <a:ext cx="1109472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Supports the rationale. Does not prove this prototype works.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PRODUCT FLOW</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One problem becomes</a:t>
            </a:r>
          </a:p>
          <a:p>
            <a:pPr algn="l">
              <a:lnSpc>
                <a:spcPts val="4140"/>
              </a:lnSpc>
              <a:spcBef>
                <a:spcPts val="0"/>
              </a:spcBef>
              <a:spcAft>
                <a:spcPts val="0"/>
              </a:spcAft>
            </a:pPr>
            <a:r>
              <a:rPr sz="3000" b="0">
                <a:solidFill>
                  <a:srgbClr val="202124"/>
                </a:solidFill>
                <a:latin typeface="Segoe UI"/>
              </a:rPr>
              <a:t>a traceable tutor handoff.</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04</a:t>
            </a:r>
          </a:p>
        </p:txBody>
      </p:sp>
      <p:sp>
        <p:nvSpPr>
          <p:cNvPr id="8" name="Rounded Rectangle 7"/>
          <p:cNvSpPr/>
          <p:nvPr/>
        </p:nvSpPr>
        <p:spPr>
          <a:xfrm>
            <a:off x="548640" y="2506980"/>
            <a:ext cx="1905000" cy="1203960"/>
          </a:xfrm>
          <a:prstGeom prst="roundRect">
            <a:avLst>
              <a:gd name="adj" fmla="val 7594"/>
            </a:avLst>
          </a:prstGeom>
          <a:solidFill>
            <a:srgbClr val="F8FAFD"/>
          </a:solidFill>
          <a:ln>
            <a:noFill/>
          </a:ln>
        </p:spPr>
        <p:txBody>
          <a:bodyPr rtlCol="0" anchor="ctr"/>
          <a:lstStyle/>
          <a:p>
            <a:pPr algn="ctr"/>
          </a:p>
        </p:txBody>
      </p:sp>
      <p:sp>
        <p:nvSpPr>
          <p:cNvPr id="9" name="TextBox 8"/>
          <p:cNvSpPr txBox="1"/>
          <p:nvPr/>
        </p:nvSpPr>
        <p:spPr>
          <a:xfrm>
            <a:off x="716280" y="2659380"/>
            <a:ext cx="1524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01</a:t>
            </a:r>
          </a:p>
        </p:txBody>
      </p:sp>
      <p:sp>
        <p:nvSpPr>
          <p:cNvPr id="10" name="TextBox 9"/>
          <p:cNvSpPr txBox="1"/>
          <p:nvPr/>
        </p:nvSpPr>
        <p:spPr>
          <a:xfrm>
            <a:off x="716280" y="2971800"/>
            <a:ext cx="169164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Question</a:t>
            </a:r>
          </a:p>
        </p:txBody>
      </p:sp>
      <p:sp>
        <p:nvSpPr>
          <p:cNvPr id="11" name="TextBox 10"/>
          <p:cNvSpPr txBox="1"/>
          <p:nvPr/>
        </p:nvSpPr>
        <p:spPr>
          <a:xfrm>
            <a:off x="716280" y="3375660"/>
            <a:ext cx="17145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Text or image</a:t>
            </a:r>
          </a:p>
        </p:txBody>
      </p:sp>
      <p:sp>
        <p:nvSpPr>
          <p:cNvPr id="12" name="TextBox 11"/>
          <p:cNvSpPr txBox="1"/>
          <p:nvPr/>
        </p:nvSpPr>
        <p:spPr>
          <a:xfrm>
            <a:off x="2514600" y="2964180"/>
            <a:ext cx="3429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1A73E8"/>
                </a:solidFill>
                <a:latin typeface="Segoe UI"/>
              </a:rPr>
              <a:t>→</a:t>
            </a:r>
          </a:p>
        </p:txBody>
      </p:sp>
      <p:sp>
        <p:nvSpPr>
          <p:cNvPr id="13" name="Rounded Rectangle 12"/>
          <p:cNvSpPr/>
          <p:nvPr/>
        </p:nvSpPr>
        <p:spPr>
          <a:xfrm>
            <a:off x="2842260" y="2506980"/>
            <a:ext cx="1905000" cy="1203960"/>
          </a:xfrm>
          <a:prstGeom prst="roundRect">
            <a:avLst>
              <a:gd name="adj" fmla="val 7594"/>
            </a:avLst>
          </a:prstGeom>
          <a:solidFill>
            <a:srgbClr val="EAF2FF"/>
          </a:solidFill>
          <a:ln>
            <a:noFill/>
          </a:ln>
        </p:spPr>
        <p:txBody>
          <a:bodyPr rtlCol="0" anchor="ctr"/>
          <a:lstStyle/>
          <a:p>
            <a:pPr algn="ctr"/>
          </a:p>
        </p:txBody>
      </p:sp>
      <p:sp>
        <p:nvSpPr>
          <p:cNvPr id="14" name="TextBox 13"/>
          <p:cNvSpPr txBox="1"/>
          <p:nvPr/>
        </p:nvSpPr>
        <p:spPr>
          <a:xfrm>
            <a:off x="3009900" y="2659380"/>
            <a:ext cx="1524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02</a:t>
            </a:r>
          </a:p>
        </p:txBody>
      </p:sp>
      <p:sp>
        <p:nvSpPr>
          <p:cNvPr id="15" name="TextBox 14"/>
          <p:cNvSpPr txBox="1"/>
          <p:nvPr/>
        </p:nvSpPr>
        <p:spPr>
          <a:xfrm>
            <a:off x="3009900" y="2971800"/>
            <a:ext cx="169164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Breakdown</a:t>
            </a:r>
          </a:p>
        </p:txBody>
      </p:sp>
      <p:sp>
        <p:nvSpPr>
          <p:cNvPr id="16" name="TextBox 15"/>
          <p:cNvSpPr txBox="1"/>
          <p:nvPr/>
        </p:nvSpPr>
        <p:spPr>
          <a:xfrm>
            <a:off x="3009900" y="3375660"/>
            <a:ext cx="17145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Ordered concepts</a:t>
            </a:r>
          </a:p>
        </p:txBody>
      </p:sp>
      <p:sp>
        <p:nvSpPr>
          <p:cNvPr id="17" name="TextBox 16"/>
          <p:cNvSpPr txBox="1"/>
          <p:nvPr/>
        </p:nvSpPr>
        <p:spPr>
          <a:xfrm>
            <a:off x="4808220" y="2964180"/>
            <a:ext cx="3429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1A73E8"/>
                </a:solidFill>
                <a:latin typeface="Segoe UI"/>
              </a:rPr>
              <a:t>→</a:t>
            </a:r>
          </a:p>
        </p:txBody>
      </p:sp>
      <p:sp>
        <p:nvSpPr>
          <p:cNvPr id="18" name="Rounded Rectangle 17"/>
          <p:cNvSpPr/>
          <p:nvPr/>
        </p:nvSpPr>
        <p:spPr>
          <a:xfrm>
            <a:off x="5135880" y="2506980"/>
            <a:ext cx="1905000" cy="1203960"/>
          </a:xfrm>
          <a:prstGeom prst="roundRect">
            <a:avLst>
              <a:gd name="adj" fmla="val 7594"/>
            </a:avLst>
          </a:prstGeom>
          <a:solidFill>
            <a:srgbClr val="EAF2FF"/>
          </a:solidFill>
          <a:ln>
            <a:noFill/>
          </a:ln>
        </p:spPr>
        <p:txBody>
          <a:bodyPr rtlCol="0" anchor="ctr"/>
          <a:lstStyle/>
          <a:p>
            <a:pPr algn="ctr"/>
          </a:p>
        </p:txBody>
      </p:sp>
      <p:sp>
        <p:nvSpPr>
          <p:cNvPr id="19" name="TextBox 18"/>
          <p:cNvSpPr txBox="1"/>
          <p:nvPr/>
        </p:nvSpPr>
        <p:spPr>
          <a:xfrm>
            <a:off x="5303520" y="2659380"/>
            <a:ext cx="1524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03</a:t>
            </a:r>
          </a:p>
        </p:txBody>
      </p:sp>
      <p:sp>
        <p:nvSpPr>
          <p:cNvPr id="20" name="TextBox 19"/>
          <p:cNvSpPr txBox="1"/>
          <p:nvPr/>
        </p:nvSpPr>
        <p:spPr>
          <a:xfrm>
            <a:off x="5303520" y="2971800"/>
            <a:ext cx="169164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Probes</a:t>
            </a:r>
          </a:p>
        </p:txBody>
      </p:sp>
      <p:sp>
        <p:nvSpPr>
          <p:cNvPr id="21" name="TextBox 20"/>
          <p:cNvSpPr txBox="1"/>
          <p:nvPr/>
        </p:nvSpPr>
        <p:spPr>
          <a:xfrm>
            <a:off x="5303520" y="3375660"/>
            <a:ext cx="17145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Main + easier retry</a:t>
            </a:r>
          </a:p>
        </p:txBody>
      </p:sp>
      <p:sp>
        <p:nvSpPr>
          <p:cNvPr id="22" name="TextBox 21"/>
          <p:cNvSpPr txBox="1"/>
          <p:nvPr/>
        </p:nvSpPr>
        <p:spPr>
          <a:xfrm>
            <a:off x="7101840" y="2964180"/>
            <a:ext cx="3429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1A73E8"/>
                </a:solidFill>
                <a:latin typeface="Segoe UI"/>
              </a:rPr>
              <a:t>→</a:t>
            </a:r>
          </a:p>
        </p:txBody>
      </p:sp>
      <p:sp>
        <p:nvSpPr>
          <p:cNvPr id="23" name="Rounded Rectangle 22"/>
          <p:cNvSpPr/>
          <p:nvPr/>
        </p:nvSpPr>
        <p:spPr>
          <a:xfrm>
            <a:off x="7429500" y="2506980"/>
            <a:ext cx="1905000" cy="1203960"/>
          </a:xfrm>
          <a:prstGeom prst="roundRect">
            <a:avLst>
              <a:gd name="adj" fmla="val 7594"/>
            </a:avLst>
          </a:prstGeom>
          <a:solidFill>
            <a:srgbClr val="F8FAFD"/>
          </a:solidFill>
          <a:ln>
            <a:noFill/>
          </a:ln>
        </p:spPr>
        <p:txBody>
          <a:bodyPr rtlCol="0" anchor="ctr"/>
          <a:lstStyle/>
          <a:p>
            <a:pPr algn="ctr"/>
          </a:p>
        </p:txBody>
      </p:sp>
      <p:sp>
        <p:nvSpPr>
          <p:cNvPr id="24" name="TextBox 23"/>
          <p:cNvSpPr txBox="1"/>
          <p:nvPr/>
        </p:nvSpPr>
        <p:spPr>
          <a:xfrm>
            <a:off x="7597140" y="2659380"/>
            <a:ext cx="1524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04</a:t>
            </a:r>
          </a:p>
        </p:txBody>
      </p:sp>
      <p:sp>
        <p:nvSpPr>
          <p:cNvPr id="25" name="TextBox 24"/>
          <p:cNvSpPr txBox="1"/>
          <p:nvPr/>
        </p:nvSpPr>
        <p:spPr>
          <a:xfrm>
            <a:off x="7597140" y="2971800"/>
            <a:ext cx="169164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Responses</a:t>
            </a:r>
          </a:p>
        </p:txBody>
      </p:sp>
      <p:sp>
        <p:nvSpPr>
          <p:cNvPr id="26" name="TextBox 25"/>
          <p:cNvSpPr txBox="1"/>
          <p:nvPr/>
        </p:nvSpPr>
        <p:spPr>
          <a:xfrm>
            <a:off x="7597140" y="3375660"/>
            <a:ext cx="17145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Answers + work</a:t>
            </a:r>
          </a:p>
        </p:txBody>
      </p:sp>
      <p:sp>
        <p:nvSpPr>
          <p:cNvPr id="27" name="TextBox 26"/>
          <p:cNvSpPr txBox="1"/>
          <p:nvPr/>
        </p:nvSpPr>
        <p:spPr>
          <a:xfrm>
            <a:off x="9395460" y="2964180"/>
            <a:ext cx="3429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1A73E8"/>
                </a:solidFill>
                <a:latin typeface="Segoe UI"/>
              </a:rPr>
              <a:t>→</a:t>
            </a:r>
          </a:p>
        </p:txBody>
      </p:sp>
      <p:sp>
        <p:nvSpPr>
          <p:cNvPr id="28" name="Rounded Rectangle 27"/>
          <p:cNvSpPr/>
          <p:nvPr/>
        </p:nvSpPr>
        <p:spPr>
          <a:xfrm>
            <a:off x="9723120" y="2506980"/>
            <a:ext cx="1905000" cy="1203960"/>
          </a:xfrm>
          <a:prstGeom prst="roundRect">
            <a:avLst>
              <a:gd name="adj" fmla="val 7594"/>
            </a:avLst>
          </a:prstGeom>
          <a:solidFill>
            <a:srgbClr val="F8FAFD"/>
          </a:solidFill>
          <a:ln>
            <a:noFill/>
          </a:ln>
        </p:spPr>
        <p:txBody>
          <a:bodyPr rtlCol="0" anchor="ctr"/>
          <a:lstStyle/>
          <a:p>
            <a:pPr algn="ctr"/>
          </a:p>
        </p:txBody>
      </p:sp>
      <p:sp>
        <p:nvSpPr>
          <p:cNvPr id="29" name="TextBox 28"/>
          <p:cNvSpPr txBox="1"/>
          <p:nvPr/>
        </p:nvSpPr>
        <p:spPr>
          <a:xfrm>
            <a:off x="9890760" y="2659380"/>
            <a:ext cx="1524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05</a:t>
            </a:r>
          </a:p>
        </p:txBody>
      </p:sp>
      <p:sp>
        <p:nvSpPr>
          <p:cNvPr id="30" name="TextBox 29"/>
          <p:cNvSpPr txBox="1"/>
          <p:nvPr/>
        </p:nvSpPr>
        <p:spPr>
          <a:xfrm>
            <a:off x="9890760" y="2971800"/>
            <a:ext cx="169164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Tutor brief</a:t>
            </a:r>
          </a:p>
        </p:txBody>
      </p:sp>
      <p:sp>
        <p:nvSpPr>
          <p:cNvPr id="31" name="TextBox 30"/>
          <p:cNvSpPr txBox="1"/>
          <p:nvPr/>
        </p:nvSpPr>
        <p:spPr>
          <a:xfrm>
            <a:off x="9890760" y="3375660"/>
            <a:ext cx="17145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Priority + evidence</a:t>
            </a:r>
          </a:p>
        </p:txBody>
      </p:sp>
      <p:sp>
        <p:nvSpPr>
          <p:cNvPr id="32" name="TextBox 31"/>
          <p:cNvSpPr txBox="1"/>
          <p:nvPr/>
        </p:nvSpPr>
        <p:spPr>
          <a:xfrm>
            <a:off x="548640" y="4305300"/>
            <a:ext cx="1109472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5F6368"/>
                </a:solidFill>
                <a:latin typeface="Segoe UI"/>
              </a:rPr>
              <a:t>THE ADAPTIVE STEP</a:t>
            </a:r>
          </a:p>
        </p:txBody>
      </p:sp>
      <p:sp>
        <p:nvSpPr>
          <p:cNvPr id="33" name="TextBox 32"/>
          <p:cNvSpPr txBox="1"/>
          <p:nvPr/>
        </p:nvSpPr>
        <p:spPr>
          <a:xfrm>
            <a:off x="548640" y="4678680"/>
            <a:ext cx="2667000" cy="356463"/>
          </a:xfrm>
          <a:prstGeom prst="rect">
            <a:avLst/>
          </a:prstGeom>
          <a:noFill/>
        </p:spPr>
        <p:txBody>
          <a:bodyPr wrap="none" tIns="0" bIns="0" lIns="0" rIns="0">
            <a:spAutoFit/>
          </a:bodyPr>
          <a:lstStyle/>
          <a:p>
            <a:pPr algn="l">
              <a:lnSpc>
                <a:spcPts val="2566"/>
              </a:lnSpc>
              <a:spcBef>
                <a:spcPts val="0"/>
              </a:spcBef>
              <a:spcAft>
                <a:spcPts val="0"/>
              </a:spcAft>
            </a:pPr>
            <a:r>
              <a:rPr sz="1859" b="0">
                <a:solidFill>
                  <a:srgbClr val="202124"/>
                </a:solidFill>
                <a:latin typeface="Segoe UI"/>
              </a:rPr>
              <a:t>Main probe</a:t>
            </a:r>
          </a:p>
        </p:txBody>
      </p:sp>
      <p:sp>
        <p:nvSpPr>
          <p:cNvPr id="34" name="TextBox 33"/>
          <p:cNvSpPr txBox="1"/>
          <p:nvPr/>
        </p:nvSpPr>
        <p:spPr>
          <a:xfrm>
            <a:off x="2941320" y="4678680"/>
            <a:ext cx="1905000" cy="293370"/>
          </a:xfrm>
          <a:prstGeom prst="rect">
            <a:avLst/>
          </a:prstGeom>
          <a:noFill/>
        </p:spPr>
        <p:txBody>
          <a:bodyPr wrap="none" tIns="0" bIns="0" lIns="0" rIns="0">
            <a:spAutoFit/>
          </a:bodyPr>
          <a:lstStyle/>
          <a:p>
            <a:pPr algn="l">
              <a:lnSpc>
                <a:spcPts val="2070"/>
              </a:lnSpc>
              <a:spcBef>
                <a:spcPts val="0"/>
              </a:spcBef>
              <a:spcAft>
                <a:spcPts val="0"/>
              </a:spcAft>
            </a:pPr>
            <a:r>
              <a:rPr sz="1500" b="0">
                <a:solidFill>
                  <a:srgbClr val="A14400"/>
                </a:solidFill>
                <a:latin typeface="Segoe UI"/>
              </a:rPr>
              <a:t>Wrong / IDK</a:t>
            </a:r>
          </a:p>
        </p:txBody>
      </p:sp>
      <p:sp>
        <p:nvSpPr>
          <p:cNvPr id="35" name="TextBox 34"/>
          <p:cNvSpPr txBox="1"/>
          <p:nvPr/>
        </p:nvSpPr>
        <p:spPr>
          <a:xfrm>
            <a:off x="4914900" y="4678680"/>
            <a:ext cx="457200" cy="366979"/>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1A73E8"/>
                </a:solidFill>
                <a:latin typeface="Segoe UI"/>
              </a:rPr>
              <a:t>→</a:t>
            </a:r>
          </a:p>
        </p:txBody>
      </p:sp>
      <p:sp>
        <p:nvSpPr>
          <p:cNvPr id="36" name="TextBox 35"/>
          <p:cNvSpPr txBox="1"/>
          <p:nvPr/>
        </p:nvSpPr>
        <p:spPr>
          <a:xfrm>
            <a:off x="5585460" y="4678680"/>
            <a:ext cx="2895600" cy="356463"/>
          </a:xfrm>
          <a:prstGeom prst="rect">
            <a:avLst/>
          </a:prstGeom>
          <a:noFill/>
        </p:spPr>
        <p:txBody>
          <a:bodyPr wrap="none" tIns="0" bIns="0" lIns="0" rIns="0">
            <a:spAutoFit/>
          </a:bodyPr>
          <a:lstStyle/>
          <a:p>
            <a:pPr algn="l">
              <a:lnSpc>
                <a:spcPts val="2566"/>
              </a:lnSpc>
              <a:spcBef>
                <a:spcPts val="0"/>
              </a:spcBef>
              <a:spcAft>
                <a:spcPts val="0"/>
              </a:spcAft>
            </a:pPr>
            <a:r>
              <a:rPr sz="1859" b="0">
                <a:solidFill>
                  <a:srgbClr val="202124"/>
                </a:solidFill>
                <a:latin typeface="Segoe UI"/>
              </a:rPr>
              <a:t>One easier retry</a:t>
            </a:r>
          </a:p>
        </p:txBody>
      </p:sp>
      <p:sp>
        <p:nvSpPr>
          <p:cNvPr id="37" name="TextBox 36"/>
          <p:cNvSpPr txBox="1"/>
          <p:nvPr/>
        </p:nvSpPr>
        <p:spPr>
          <a:xfrm>
            <a:off x="8976360" y="4678680"/>
            <a:ext cx="457200" cy="366979"/>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1A73E8"/>
                </a:solidFill>
                <a:latin typeface="Segoe UI"/>
              </a:rPr>
              <a:t>→</a:t>
            </a:r>
          </a:p>
        </p:txBody>
      </p:sp>
      <p:sp>
        <p:nvSpPr>
          <p:cNvPr id="38" name="TextBox 37"/>
          <p:cNvSpPr txBox="1"/>
          <p:nvPr/>
        </p:nvSpPr>
        <p:spPr>
          <a:xfrm>
            <a:off x="9601200" y="4678680"/>
            <a:ext cx="20574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Both retained</a:t>
            </a:r>
          </a:p>
        </p:txBody>
      </p:sp>
      <p:cxnSp>
        <p:nvCxnSpPr>
          <p:cNvPr id="39" name="Connector 38"/>
          <p:cNvCxnSpPr/>
          <p:nvPr/>
        </p:nvCxnSpPr>
        <p:spPr>
          <a:xfrm>
            <a:off x="548640" y="5364480"/>
            <a:ext cx="11094720" cy="0"/>
          </a:xfrm>
          <a:prstGeom prst="line">
            <a:avLst/>
          </a:prstGeom>
          <a:ln w="15240">
            <a:solidFill>
              <a:srgbClr val="DADCE0"/>
            </a:solidFill>
          </a:ln>
        </p:spPr>
      </p:cxnSp>
      <p:sp>
        <p:nvSpPr>
          <p:cNvPr id="40" name="TextBox 39"/>
          <p:cNvSpPr txBox="1"/>
          <p:nvPr/>
        </p:nvSpPr>
        <p:spPr>
          <a:xfrm>
            <a:off x="548640" y="5608320"/>
            <a:ext cx="1109472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5F6368"/>
                </a:solidFill>
                <a:latin typeface="Segoe UI"/>
              </a:rPr>
              <a:t>Metadata makes the path inspectable. Whiteboard work stays 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SYNTHETIC WALKTHROUGH</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A missed bracket question</a:t>
            </a:r>
          </a:p>
          <a:p>
            <a:pPr algn="l">
              <a:lnSpc>
                <a:spcPts val="4140"/>
              </a:lnSpc>
              <a:spcBef>
                <a:spcPts val="0"/>
              </a:spcBef>
              <a:spcAft>
                <a:spcPts val="0"/>
              </a:spcAft>
            </a:pPr>
            <a:r>
              <a:rPr sz="3000" b="0">
                <a:solidFill>
                  <a:srgbClr val="202124"/>
                </a:solidFill>
                <a:latin typeface="Segoe UI"/>
              </a:rPr>
              <a:t>leads to a simpler check.</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Actual prototype screenshot with synthetic answers. Not a live-model benchmark.</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05</a:t>
            </a:r>
          </a:p>
        </p:txBody>
      </p:sp>
      <p:sp>
        <p:nvSpPr>
          <p:cNvPr id="8" name="Rounded Rectangle 7"/>
          <p:cNvSpPr/>
          <p:nvPr/>
        </p:nvSpPr>
        <p:spPr>
          <a:xfrm>
            <a:off x="548640" y="2324100"/>
            <a:ext cx="4861560" cy="3261360"/>
          </a:xfrm>
          <a:prstGeom prst="roundRect">
            <a:avLst>
              <a:gd name="adj" fmla="val 3738"/>
            </a:avLst>
          </a:prstGeom>
          <a:solidFill>
            <a:srgbClr val="F8FAFD"/>
          </a:solidFill>
          <a:ln>
            <a:noFill/>
          </a:ln>
        </p:spPr>
        <p:txBody>
          <a:bodyPr rtlCol="0" anchor="ctr"/>
          <a:lstStyle/>
          <a:p>
            <a:pPr algn="ctr"/>
          </a:p>
        </p:txBody>
      </p:sp>
      <p:sp>
        <p:nvSpPr>
          <p:cNvPr id="9" name="Rounded Rectangle 8"/>
          <p:cNvSpPr/>
          <p:nvPr/>
        </p:nvSpPr>
        <p:spPr>
          <a:xfrm>
            <a:off x="784860" y="2567940"/>
            <a:ext cx="1600200" cy="289560"/>
          </a:xfrm>
          <a:prstGeom prst="roundRect">
            <a:avLst>
              <a:gd name="adj" fmla="val 26315"/>
            </a:avLst>
          </a:prstGeom>
          <a:solidFill>
            <a:srgbClr val="EAF2FF"/>
          </a:solidFill>
          <a:ln>
            <a:noFill/>
          </a:ln>
        </p:spPr>
        <p:txBody>
          <a:bodyPr rtlCol="0" anchor="ctr"/>
          <a:lstStyle/>
          <a:p>
            <a:pPr algn="ctr"/>
          </a:p>
        </p:txBody>
      </p:sp>
      <p:sp>
        <p:nvSpPr>
          <p:cNvPr id="10" name="TextBox 9"/>
          <p:cNvSpPr txBox="1"/>
          <p:nvPr/>
        </p:nvSpPr>
        <p:spPr>
          <a:xfrm>
            <a:off x="891540" y="2613660"/>
            <a:ext cx="138684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MAIN PROBE</a:t>
            </a:r>
          </a:p>
        </p:txBody>
      </p:sp>
      <p:sp>
        <p:nvSpPr>
          <p:cNvPr id="11" name="TextBox 10"/>
          <p:cNvSpPr txBox="1"/>
          <p:nvPr/>
        </p:nvSpPr>
        <p:spPr>
          <a:xfrm>
            <a:off x="784860" y="3078480"/>
            <a:ext cx="4381500" cy="440588"/>
          </a:xfrm>
          <a:prstGeom prst="rect">
            <a:avLst/>
          </a:prstGeom>
          <a:noFill/>
        </p:spPr>
        <p:txBody>
          <a:bodyPr wrap="none" tIns="0" bIns="0" lIns="0" rIns="0">
            <a:spAutoFit/>
          </a:bodyPr>
          <a:lstStyle/>
          <a:p>
            <a:pPr algn="l">
              <a:lnSpc>
                <a:spcPts val="3229"/>
              </a:lnSpc>
              <a:spcBef>
                <a:spcPts val="0"/>
              </a:spcBef>
              <a:spcAft>
                <a:spcPts val="0"/>
              </a:spcAft>
            </a:pPr>
            <a:r>
              <a:rPr sz="2340" b="0">
                <a:solidFill>
                  <a:srgbClr val="202124"/>
                </a:solidFill>
                <a:latin typeface="Segoe UI"/>
              </a:rPr>
              <a:t>Expand 2(x + 3)</a:t>
            </a:r>
          </a:p>
        </p:txBody>
      </p:sp>
      <p:sp>
        <p:nvSpPr>
          <p:cNvPr id="12" name="TextBox 11"/>
          <p:cNvSpPr txBox="1"/>
          <p:nvPr/>
        </p:nvSpPr>
        <p:spPr>
          <a:xfrm>
            <a:off x="784860" y="3771900"/>
            <a:ext cx="18288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Selected</a:t>
            </a:r>
          </a:p>
        </p:txBody>
      </p:sp>
      <p:sp>
        <p:nvSpPr>
          <p:cNvPr id="13" name="TextBox 12"/>
          <p:cNvSpPr txBox="1"/>
          <p:nvPr/>
        </p:nvSpPr>
        <p:spPr>
          <a:xfrm>
            <a:off x="3101340" y="3771900"/>
            <a:ext cx="1981199"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5F6368"/>
                </a:solidFill>
                <a:latin typeface="Segoe UI"/>
              </a:rPr>
              <a:t>Answer key</a:t>
            </a:r>
          </a:p>
        </p:txBody>
      </p:sp>
      <p:sp>
        <p:nvSpPr>
          <p:cNvPr id="14" name="TextBox 13"/>
          <p:cNvSpPr txBox="1"/>
          <p:nvPr/>
        </p:nvSpPr>
        <p:spPr>
          <a:xfrm>
            <a:off x="784860" y="4114800"/>
            <a:ext cx="1905000" cy="535228"/>
          </a:xfrm>
          <a:prstGeom prst="rect">
            <a:avLst/>
          </a:prstGeom>
          <a:noFill/>
        </p:spPr>
        <p:txBody>
          <a:bodyPr wrap="none" tIns="0" bIns="0" lIns="0" rIns="0">
            <a:spAutoFit/>
          </a:bodyPr>
          <a:lstStyle/>
          <a:p>
            <a:pPr algn="l">
              <a:lnSpc>
                <a:spcPts val="3974"/>
              </a:lnSpc>
              <a:spcBef>
                <a:spcPts val="0"/>
              </a:spcBef>
              <a:spcAft>
                <a:spcPts val="0"/>
              </a:spcAft>
            </a:pPr>
            <a:r>
              <a:rPr sz="2879" b="0">
                <a:solidFill>
                  <a:srgbClr val="A14400"/>
                </a:solidFill>
                <a:latin typeface="Segoe UI"/>
              </a:rPr>
              <a:t>2x + 3</a:t>
            </a:r>
          </a:p>
        </p:txBody>
      </p:sp>
      <p:sp>
        <p:nvSpPr>
          <p:cNvPr id="15" name="TextBox 14"/>
          <p:cNvSpPr txBox="1"/>
          <p:nvPr/>
        </p:nvSpPr>
        <p:spPr>
          <a:xfrm>
            <a:off x="3101340" y="4114800"/>
            <a:ext cx="1981199" cy="535228"/>
          </a:xfrm>
          <a:prstGeom prst="rect">
            <a:avLst/>
          </a:prstGeom>
          <a:noFill/>
        </p:spPr>
        <p:txBody>
          <a:bodyPr wrap="none" tIns="0" bIns="0" lIns="0" rIns="0">
            <a:spAutoFit/>
          </a:bodyPr>
          <a:lstStyle/>
          <a:p>
            <a:pPr algn="l">
              <a:lnSpc>
                <a:spcPts val="3974"/>
              </a:lnSpc>
              <a:spcBef>
                <a:spcPts val="0"/>
              </a:spcBef>
              <a:spcAft>
                <a:spcPts val="0"/>
              </a:spcAft>
            </a:pPr>
            <a:r>
              <a:rPr sz="2879" b="0">
                <a:solidFill>
                  <a:srgbClr val="13795B"/>
                </a:solidFill>
                <a:latin typeface="Segoe UI"/>
              </a:rPr>
              <a:t>2x + 6</a:t>
            </a:r>
          </a:p>
        </p:txBody>
      </p:sp>
      <p:cxnSp>
        <p:nvCxnSpPr>
          <p:cNvPr id="16" name="Connector 15"/>
          <p:cNvCxnSpPr/>
          <p:nvPr/>
        </p:nvCxnSpPr>
        <p:spPr>
          <a:xfrm>
            <a:off x="784860" y="4838700"/>
            <a:ext cx="4381500" cy="0"/>
          </a:xfrm>
          <a:prstGeom prst="line">
            <a:avLst/>
          </a:prstGeom>
          <a:ln w="15240">
            <a:solidFill>
              <a:srgbClr val="DADCE0"/>
            </a:solidFill>
          </a:ln>
        </p:spPr>
      </p:cxnSp>
      <p:sp>
        <p:nvSpPr>
          <p:cNvPr id="17" name="TextBox 16"/>
          <p:cNvSpPr txBox="1"/>
          <p:nvPr/>
        </p:nvSpPr>
        <p:spPr>
          <a:xfrm>
            <a:off x="784860" y="5052060"/>
            <a:ext cx="438150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A14400"/>
                </a:solidFill>
                <a:latin typeface="Segoe UI"/>
              </a:rPr>
              <a:t>Second term not multiplied.</a:t>
            </a:r>
          </a:p>
        </p:txBody>
      </p:sp>
      <p:sp>
        <p:nvSpPr>
          <p:cNvPr id="18" name="TextBox 17"/>
          <p:cNvSpPr txBox="1"/>
          <p:nvPr/>
        </p:nvSpPr>
        <p:spPr>
          <a:xfrm>
            <a:off x="5585460" y="3573780"/>
            <a:ext cx="533400" cy="409041"/>
          </a:xfrm>
          <a:prstGeom prst="rect">
            <a:avLst/>
          </a:prstGeom>
          <a:noFill/>
        </p:spPr>
        <p:txBody>
          <a:bodyPr wrap="none" tIns="0" bIns="0" lIns="0" rIns="0">
            <a:spAutoFit/>
          </a:bodyPr>
          <a:lstStyle/>
          <a:p>
            <a:pPr algn="l">
              <a:lnSpc>
                <a:spcPts val="2980"/>
              </a:lnSpc>
              <a:spcBef>
                <a:spcPts val="0"/>
              </a:spcBef>
              <a:spcAft>
                <a:spcPts val="0"/>
              </a:spcAft>
            </a:pPr>
            <a:r>
              <a:rPr sz="2160" b="0">
                <a:solidFill>
                  <a:srgbClr val="1A73E8"/>
                </a:solidFill>
                <a:latin typeface="Segoe UI"/>
              </a:rPr>
              <a:t>→</a:t>
            </a:r>
          </a:p>
        </p:txBody>
      </p:sp>
      <p:sp>
        <p:nvSpPr>
          <p:cNvPr id="19" name="Rounded Rectangle 18"/>
          <p:cNvSpPr/>
          <p:nvPr/>
        </p:nvSpPr>
        <p:spPr>
          <a:xfrm>
            <a:off x="6431280" y="2148840"/>
            <a:ext cx="1600200" cy="289560"/>
          </a:xfrm>
          <a:prstGeom prst="roundRect">
            <a:avLst>
              <a:gd name="adj" fmla="val 26315"/>
            </a:avLst>
          </a:prstGeom>
          <a:solidFill>
            <a:srgbClr val="EAF2FF"/>
          </a:solidFill>
          <a:ln>
            <a:noFill/>
          </a:ln>
        </p:spPr>
        <p:txBody>
          <a:bodyPr rtlCol="0" anchor="ctr"/>
          <a:lstStyle/>
          <a:p>
            <a:pPr algn="ctr"/>
          </a:p>
        </p:txBody>
      </p:sp>
      <p:sp>
        <p:nvSpPr>
          <p:cNvPr id="20" name="TextBox 19"/>
          <p:cNvSpPr txBox="1"/>
          <p:nvPr/>
        </p:nvSpPr>
        <p:spPr>
          <a:xfrm>
            <a:off x="6537960" y="2194560"/>
            <a:ext cx="138684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EASIER RETRY</a:t>
            </a:r>
          </a:p>
        </p:txBody>
      </p:sp>
      <p:pic>
        <p:nvPicPr>
          <p:cNvPr id="21" name="Picture 20" descr="Actual easier probe: expand 2(x+1), selected 2x+2."/>
          <p:cNvPicPr>
            <a:picLocks noChangeAspect="1"/>
          </p:cNvPicPr>
          <p:nvPr/>
        </p:nvPicPr>
        <p:blipFill>
          <a:blip r:embed="rId2"/>
          <a:stretch>
            <a:fillRect/>
          </a:stretch>
        </p:blipFill>
        <p:spPr>
          <a:xfrm>
            <a:off x="6431280" y="2575560"/>
            <a:ext cx="4315441" cy="3124200"/>
          </a:xfrm>
          <a:prstGeom prst="rect">
            <a:avLst/>
          </a:prstGeom>
        </p:spPr>
      </p:pic>
      <p:sp>
        <p:nvSpPr>
          <p:cNvPr id="22" name="TextBox 21"/>
          <p:cNvSpPr txBox="1"/>
          <p:nvPr/>
        </p:nvSpPr>
        <p:spPr>
          <a:xfrm>
            <a:off x="548640" y="5859780"/>
            <a:ext cx="11094720" cy="261823"/>
          </a:xfrm>
          <a:prstGeom prst="rect">
            <a:avLst/>
          </a:prstGeom>
          <a:noFill/>
        </p:spPr>
        <p:txBody>
          <a:bodyPr wrap="none" tIns="0" bIns="0" lIns="0" rIns="0">
            <a:spAutoFit/>
          </a:bodyPr>
          <a:lstStyle/>
          <a:p>
            <a:pPr algn="l">
              <a:lnSpc>
                <a:spcPts val="1821"/>
              </a:lnSpc>
              <a:spcBef>
                <a:spcPts val="0"/>
              </a:spcBef>
              <a:spcAft>
                <a:spcPts val="0"/>
              </a:spcAft>
            </a:pPr>
            <a:r>
              <a:rPr sz="1320" b="0">
                <a:solidFill>
                  <a:srgbClr val="5F6368"/>
                </a:solidFill>
                <a:latin typeface="Segoe UI"/>
              </a:rPr>
              <a:t>A correct retry is evidence of a useful starting point, not mastery.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TUTOR EXPERIENCE</a:t>
            </a:r>
          </a:p>
        </p:txBody>
      </p:sp>
      <p:sp>
        <p:nvSpPr>
          <p:cNvPr id="4" name="TextBox 3"/>
          <p:cNvSpPr txBox="1"/>
          <p:nvPr/>
        </p:nvSpPr>
        <p:spPr>
          <a:xfrm>
            <a:off x="548640" y="762000"/>
            <a:ext cx="11094720" cy="55626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Put the useful detail first.</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Actual priority card from the same synthetic walkthrough.</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06</a:t>
            </a:r>
          </a:p>
        </p:txBody>
      </p:sp>
      <p:sp>
        <p:nvSpPr>
          <p:cNvPr id="8" name="TextBox 7"/>
          <p:cNvSpPr txBox="1"/>
          <p:nvPr/>
        </p:nvSpPr>
        <p:spPr>
          <a:xfrm>
            <a:off x="548640" y="2270760"/>
            <a:ext cx="1109472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ACTUAL TUTOR VIEW</a:t>
            </a:r>
          </a:p>
        </p:txBody>
      </p:sp>
      <p:pic>
        <p:nvPicPr>
          <p:cNvPr id="9" name="Picture 8" descr="Actual priority card: main miss, selected answer, key, and correct easier retry."/>
          <p:cNvPicPr>
            <a:picLocks noChangeAspect="1"/>
          </p:cNvPicPr>
          <p:nvPr/>
        </p:nvPicPr>
        <p:blipFill>
          <a:blip r:embed="rId2"/>
          <a:stretch>
            <a:fillRect/>
          </a:stretch>
        </p:blipFill>
        <p:spPr>
          <a:xfrm>
            <a:off x="548640" y="2491740"/>
            <a:ext cx="8093439" cy="2362200"/>
          </a:xfrm>
          <a:prstGeom prst="rect">
            <a:avLst/>
          </a:prstGeom>
        </p:spPr>
      </p:pic>
      <p:sp>
        <p:nvSpPr>
          <p:cNvPr id="10" name="TextBox 9"/>
          <p:cNvSpPr txBox="1"/>
          <p:nvPr/>
        </p:nvSpPr>
        <p:spPr>
          <a:xfrm>
            <a:off x="9715500" y="3276600"/>
            <a:ext cx="1905000" cy="598322"/>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5F6368"/>
                </a:solidFill>
                <a:latin typeface="Segoe UI"/>
              </a:rPr>
              <a:t>Main miss.</a:t>
            </a:r>
          </a:p>
          <a:p>
            <a:pPr algn="l">
              <a:lnSpc>
                <a:spcPts val="2235"/>
              </a:lnSpc>
              <a:spcBef>
                <a:spcPts val="0"/>
              </a:spcBef>
              <a:spcAft>
                <a:spcPts val="0"/>
              </a:spcAft>
            </a:pPr>
            <a:r>
              <a:rPr sz="1620" b="0">
                <a:solidFill>
                  <a:srgbClr val="5F6368"/>
                </a:solidFill>
                <a:latin typeface="Segoe UI"/>
              </a:rPr>
              <a:t>Correct retry.</a:t>
            </a:r>
          </a:p>
        </p:txBody>
      </p:sp>
      <p:sp>
        <p:nvSpPr>
          <p:cNvPr id="11" name="TextBox 10"/>
          <p:cNvSpPr txBox="1"/>
          <p:nvPr/>
        </p:nvSpPr>
        <p:spPr>
          <a:xfrm>
            <a:off x="548640" y="5044440"/>
            <a:ext cx="32004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01</a:t>
            </a:r>
          </a:p>
        </p:txBody>
      </p:sp>
      <p:sp>
        <p:nvSpPr>
          <p:cNvPr id="12" name="TextBox 11"/>
          <p:cNvSpPr txBox="1"/>
          <p:nvPr/>
        </p:nvSpPr>
        <p:spPr>
          <a:xfrm>
            <a:off x="548640" y="5311140"/>
            <a:ext cx="33528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Possible gap</a:t>
            </a:r>
          </a:p>
        </p:txBody>
      </p:sp>
      <p:sp>
        <p:nvSpPr>
          <p:cNvPr id="13" name="TextBox 12"/>
          <p:cNvSpPr txBox="1"/>
          <p:nvPr/>
        </p:nvSpPr>
        <p:spPr>
          <a:xfrm>
            <a:off x="548640" y="5684520"/>
            <a:ext cx="347472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Distribution, not a generic score.</a:t>
            </a:r>
          </a:p>
        </p:txBody>
      </p:sp>
      <p:sp>
        <p:nvSpPr>
          <p:cNvPr id="14" name="TextBox 13"/>
          <p:cNvSpPr txBox="1"/>
          <p:nvPr/>
        </p:nvSpPr>
        <p:spPr>
          <a:xfrm>
            <a:off x="4343400" y="5044440"/>
            <a:ext cx="32004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02</a:t>
            </a:r>
          </a:p>
        </p:txBody>
      </p:sp>
      <p:sp>
        <p:nvSpPr>
          <p:cNvPr id="15" name="TextBox 14"/>
          <p:cNvSpPr txBox="1"/>
          <p:nvPr/>
        </p:nvSpPr>
        <p:spPr>
          <a:xfrm>
            <a:off x="4343400" y="5311140"/>
            <a:ext cx="33528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Visible evidence</a:t>
            </a:r>
          </a:p>
        </p:txBody>
      </p:sp>
      <p:sp>
        <p:nvSpPr>
          <p:cNvPr id="16" name="TextBox 15"/>
          <p:cNvSpPr txBox="1"/>
          <p:nvPr/>
        </p:nvSpPr>
        <p:spPr>
          <a:xfrm>
            <a:off x="4343400" y="5684520"/>
            <a:ext cx="347472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The selected answer beside the key.</a:t>
            </a:r>
          </a:p>
        </p:txBody>
      </p:sp>
      <p:sp>
        <p:nvSpPr>
          <p:cNvPr id="17" name="TextBox 16"/>
          <p:cNvSpPr txBox="1"/>
          <p:nvPr/>
        </p:nvSpPr>
        <p:spPr>
          <a:xfrm>
            <a:off x="8153399" y="5044440"/>
            <a:ext cx="32004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03</a:t>
            </a:r>
          </a:p>
        </p:txBody>
      </p:sp>
      <p:sp>
        <p:nvSpPr>
          <p:cNvPr id="18" name="TextBox 17"/>
          <p:cNvSpPr txBox="1"/>
          <p:nvPr/>
        </p:nvSpPr>
        <p:spPr>
          <a:xfrm>
            <a:off x="8153399" y="5311140"/>
            <a:ext cx="33528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Retry context</a:t>
            </a:r>
          </a:p>
        </p:txBody>
      </p:sp>
      <p:sp>
        <p:nvSpPr>
          <p:cNvPr id="19" name="TextBox 18"/>
          <p:cNvSpPr txBox="1"/>
          <p:nvPr/>
        </p:nvSpPr>
        <p:spPr>
          <a:xfrm>
            <a:off x="8153399" y="5684520"/>
            <a:ext cx="347472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A simpler example was answered.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QUALITY SAFEGUARDS</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A second AI check helps.</a:t>
            </a:r>
          </a:p>
          <a:p>
            <a:pPr algn="l">
              <a:lnSpc>
                <a:spcPts val="4140"/>
              </a:lnSpc>
              <a:spcBef>
                <a:spcPts val="0"/>
              </a:spcBef>
              <a:spcAft>
                <a:spcPts val="0"/>
              </a:spcAft>
            </a:pPr>
            <a:r>
              <a:rPr sz="3000" b="0">
                <a:solidFill>
                  <a:srgbClr val="202124"/>
                </a:solidFill>
                <a:latin typeface="Segoe UI"/>
              </a:rPr>
              <a:t>It is not ground truth.</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07</a:t>
            </a:r>
          </a:p>
        </p:txBody>
      </p:sp>
      <p:sp>
        <p:nvSpPr>
          <p:cNvPr id="8" name="TextBox 7"/>
          <p:cNvSpPr txBox="1"/>
          <p:nvPr/>
        </p:nvSpPr>
        <p:spPr>
          <a:xfrm>
            <a:off x="548640" y="2545080"/>
            <a:ext cx="609600" cy="303885"/>
          </a:xfrm>
          <a:prstGeom prst="rect">
            <a:avLst/>
          </a:prstGeom>
          <a:noFill/>
        </p:spPr>
        <p:txBody>
          <a:bodyPr wrap="none" tIns="0" bIns="0" lIns="0" rIns="0">
            <a:spAutoFit/>
          </a:bodyPr>
          <a:lstStyle/>
          <a:p>
            <a:pPr algn="l">
              <a:lnSpc>
                <a:spcPts val="2152"/>
              </a:lnSpc>
              <a:spcBef>
                <a:spcPts val="0"/>
              </a:spcBef>
              <a:spcAft>
                <a:spcPts val="0"/>
              </a:spcAft>
            </a:pPr>
            <a:r>
              <a:rPr sz="1560" b="0">
                <a:solidFill>
                  <a:srgbClr val="13795B"/>
                </a:solidFill>
                <a:latin typeface="Segoe UI"/>
              </a:rPr>
              <a:t>01</a:t>
            </a:r>
          </a:p>
        </p:txBody>
      </p:sp>
      <p:sp>
        <p:nvSpPr>
          <p:cNvPr id="9" name="TextBox 8"/>
          <p:cNvSpPr txBox="1"/>
          <p:nvPr/>
        </p:nvSpPr>
        <p:spPr>
          <a:xfrm>
            <a:off x="1341120" y="2423160"/>
            <a:ext cx="3962399" cy="366979"/>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202124"/>
                </a:solidFill>
                <a:latin typeface="Segoe UI"/>
              </a:rPr>
              <a:t>Output structure</a:t>
            </a:r>
          </a:p>
        </p:txBody>
      </p:sp>
      <p:sp>
        <p:nvSpPr>
          <p:cNvPr id="10" name="TextBox 9"/>
          <p:cNvSpPr txBox="1"/>
          <p:nvPr/>
        </p:nvSpPr>
        <p:spPr>
          <a:xfrm>
            <a:off x="1341120" y="2819400"/>
            <a:ext cx="66294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Usable fields and options</a:t>
            </a:r>
          </a:p>
        </p:txBody>
      </p:sp>
      <p:sp>
        <p:nvSpPr>
          <p:cNvPr id="11" name="Rounded Rectangle 10"/>
          <p:cNvSpPr/>
          <p:nvPr/>
        </p:nvSpPr>
        <p:spPr>
          <a:xfrm>
            <a:off x="9433560" y="2537460"/>
            <a:ext cx="2209800" cy="289560"/>
          </a:xfrm>
          <a:prstGeom prst="roundRect">
            <a:avLst>
              <a:gd name="adj" fmla="val 26315"/>
            </a:avLst>
          </a:prstGeom>
          <a:solidFill>
            <a:srgbClr val="E7F4ED"/>
          </a:solidFill>
          <a:ln>
            <a:noFill/>
          </a:ln>
        </p:spPr>
        <p:txBody>
          <a:bodyPr rtlCol="0" anchor="ctr"/>
          <a:lstStyle/>
          <a:p>
            <a:pPr algn="ctr"/>
          </a:p>
        </p:txBody>
      </p:sp>
      <p:sp>
        <p:nvSpPr>
          <p:cNvPr id="12" name="TextBox 11"/>
          <p:cNvSpPr txBox="1"/>
          <p:nvPr/>
        </p:nvSpPr>
        <p:spPr>
          <a:xfrm>
            <a:off x="9540240" y="2583180"/>
            <a:ext cx="1996439"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3795B"/>
                </a:solidFill>
                <a:latin typeface="Segoe UI"/>
              </a:rPr>
              <a:t>IMPLEMENTED</a:t>
            </a:r>
          </a:p>
        </p:txBody>
      </p:sp>
      <p:cxnSp>
        <p:nvCxnSpPr>
          <p:cNvPr id="13" name="Connector 12"/>
          <p:cNvCxnSpPr/>
          <p:nvPr/>
        </p:nvCxnSpPr>
        <p:spPr>
          <a:xfrm>
            <a:off x="548640" y="3223260"/>
            <a:ext cx="11094720" cy="0"/>
          </a:xfrm>
          <a:prstGeom prst="line">
            <a:avLst/>
          </a:prstGeom>
          <a:ln w="15240">
            <a:solidFill>
              <a:srgbClr val="DADCE0"/>
            </a:solidFill>
          </a:ln>
        </p:spPr>
      </p:cxnSp>
      <p:sp>
        <p:nvSpPr>
          <p:cNvPr id="14" name="TextBox 13"/>
          <p:cNvSpPr txBox="1"/>
          <p:nvPr/>
        </p:nvSpPr>
        <p:spPr>
          <a:xfrm>
            <a:off x="548640" y="3573780"/>
            <a:ext cx="609600" cy="303885"/>
          </a:xfrm>
          <a:prstGeom prst="rect">
            <a:avLst/>
          </a:prstGeom>
          <a:noFill/>
        </p:spPr>
        <p:txBody>
          <a:bodyPr wrap="none" tIns="0" bIns="0" lIns="0" rIns="0">
            <a:spAutoFit/>
          </a:bodyPr>
          <a:lstStyle/>
          <a:p>
            <a:pPr algn="l">
              <a:lnSpc>
                <a:spcPts val="2152"/>
              </a:lnSpc>
              <a:spcBef>
                <a:spcPts val="0"/>
              </a:spcBef>
              <a:spcAft>
                <a:spcPts val="0"/>
              </a:spcAft>
            </a:pPr>
            <a:r>
              <a:rPr sz="1560" b="0">
                <a:solidFill>
                  <a:srgbClr val="1A73E8"/>
                </a:solidFill>
                <a:latin typeface="Segoe UI"/>
              </a:rPr>
              <a:t>02</a:t>
            </a:r>
          </a:p>
        </p:txBody>
      </p:sp>
      <p:sp>
        <p:nvSpPr>
          <p:cNvPr id="15" name="TextBox 14"/>
          <p:cNvSpPr txBox="1"/>
          <p:nvPr/>
        </p:nvSpPr>
        <p:spPr>
          <a:xfrm>
            <a:off x="1341120" y="3451860"/>
            <a:ext cx="3962399" cy="366979"/>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202124"/>
                </a:solidFill>
                <a:latin typeface="Segoe UI"/>
              </a:rPr>
              <a:t>Second AI review</a:t>
            </a:r>
          </a:p>
        </p:txBody>
      </p:sp>
      <p:sp>
        <p:nvSpPr>
          <p:cNvPr id="16" name="TextBox 15"/>
          <p:cNvSpPr txBox="1"/>
          <p:nvPr/>
        </p:nvSpPr>
        <p:spPr>
          <a:xfrm>
            <a:off x="1341120" y="3848099"/>
            <a:ext cx="66294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Checks breakdown and probes</a:t>
            </a:r>
          </a:p>
        </p:txBody>
      </p:sp>
      <p:sp>
        <p:nvSpPr>
          <p:cNvPr id="17" name="Rounded Rectangle 16"/>
          <p:cNvSpPr/>
          <p:nvPr/>
        </p:nvSpPr>
        <p:spPr>
          <a:xfrm>
            <a:off x="9433560" y="3566160"/>
            <a:ext cx="2209800" cy="289560"/>
          </a:xfrm>
          <a:prstGeom prst="roundRect">
            <a:avLst>
              <a:gd name="adj" fmla="val 26315"/>
            </a:avLst>
          </a:prstGeom>
          <a:solidFill>
            <a:srgbClr val="EAF2FF"/>
          </a:solidFill>
          <a:ln>
            <a:noFill/>
          </a:ln>
        </p:spPr>
        <p:txBody>
          <a:bodyPr rtlCol="0" anchor="ctr"/>
          <a:lstStyle/>
          <a:p>
            <a:pPr algn="ctr"/>
          </a:p>
        </p:txBody>
      </p:sp>
      <p:sp>
        <p:nvSpPr>
          <p:cNvPr id="18" name="TextBox 17"/>
          <p:cNvSpPr txBox="1"/>
          <p:nvPr/>
        </p:nvSpPr>
        <p:spPr>
          <a:xfrm>
            <a:off x="9540240" y="3611880"/>
            <a:ext cx="1996439"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OPTIONAL</a:t>
            </a:r>
          </a:p>
        </p:txBody>
      </p:sp>
      <p:cxnSp>
        <p:nvCxnSpPr>
          <p:cNvPr id="19" name="Connector 18"/>
          <p:cNvCxnSpPr/>
          <p:nvPr/>
        </p:nvCxnSpPr>
        <p:spPr>
          <a:xfrm>
            <a:off x="548640" y="4251960"/>
            <a:ext cx="11094720" cy="0"/>
          </a:xfrm>
          <a:prstGeom prst="line">
            <a:avLst/>
          </a:prstGeom>
          <a:ln w="15240">
            <a:solidFill>
              <a:srgbClr val="DADCE0"/>
            </a:solidFill>
          </a:ln>
        </p:spPr>
      </p:cxnSp>
      <p:sp>
        <p:nvSpPr>
          <p:cNvPr id="20" name="TextBox 19"/>
          <p:cNvSpPr txBox="1"/>
          <p:nvPr/>
        </p:nvSpPr>
        <p:spPr>
          <a:xfrm>
            <a:off x="548640" y="4602480"/>
            <a:ext cx="609600" cy="303885"/>
          </a:xfrm>
          <a:prstGeom prst="rect">
            <a:avLst/>
          </a:prstGeom>
          <a:noFill/>
        </p:spPr>
        <p:txBody>
          <a:bodyPr wrap="none" tIns="0" bIns="0" lIns="0" rIns="0">
            <a:spAutoFit/>
          </a:bodyPr>
          <a:lstStyle/>
          <a:p>
            <a:pPr algn="l">
              <a:lnSpc>
                <a:spcPts val="2152"/>
              </a:lnSpc>
              <a:spcBef>
                <a:spcPts val="0"/>
              </a:spcBef>
              <a:spcAft>
                <a:spcPts val="0"/>
              </a:spcAft>
            </a:pPr>
            <a:r>
              <a:rPr sz="1560" b="0">
                <a:solidFill>
                  <a:srgbClr val="A14400"/>
                </a:solidFill>
                <a:latin typeface="Segoe UI"/>
              </a:rPr>
              <a:t>03</a:t>
            </a:r>
          </a:p>
        </p:txBody>
      </p:sp>
      <p:sp>
        <p:nvSpPr>
          <p:cNvPr id="21" name="TextBox 20"/>
          <p:cNvSpPr txBox="1"/>
          <p:nvPr/>
        </p:nvSpPr>
        <p:spPr>
          <a:xfrm>
            <a:off x="1341120" y="4480560"/>
            <a:ext cx="3962399" cy="366979"/>
          </a:xfrm>
          <a:prstGeom prst="rect">
            <a:avLst/>
          </a:prstGeom>
          <a:noFill/>
        </p:spPr>
        <p:txBody>
          <a:bodyPr wrap="none" tIns="0" bIns="0" lIns="0" rIns="0">
            <a:spAutoFit/>
          </a:bodyPr>
          <a:lstStyle/>
          <a:p>
            <a:pPr algn="l">
              <a:lnSpc>
                <a:spcPts val="2649"/>
              </a:lnSpc>
              <a:spcBef>
                <a:spcPts val="0"/>
              </a:spcBef>
              <a:spcAft>
                <a:spcPts val="0"/>
              </a:spcAft>
            </a:pPr>
            <a:r>
              <a:rPr sz="1920" b="0">
                <a:solidFill>
                  <a:srgbClr val="202124"/>
                </a:solidFill>
                <a:latin typeface="Segoe UI"/>
              </a:rPr>
              <a:t>Independent review</a:t>
            </a:r>
          </a:p>
        </p:txBody>
      </p:sp>
      <p:sp>
        <p:nvSpPr>
          <p:cNvPr id="22" name="TextBox 21"/>
          <p:cNvSpPr txBox="1"/>
          <p:nvPr/>
        </p:nvSpPr>
        <p:spPr>
          <a:xfrm>
            <a:off x="1341120" y="4876800"/>
            <a:ext cx="66294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Math correctness and teaching value</a:t>
            </a:r>
          </a:p>
        </p:txBody>
      </p:sp>
      <p:sp>
        <p:nvSpPr>
          <p:cNvPr id="23" name="Rounded Rectangle 22"/>
          <p:cNvSpPr/>
          <p:nvPr/>
        </p:nvSpPr>
        <p:spPr>
          <a:xfrm>
            <a:off x="9433560" y="4594860"/>
            <a:ext cx="2209800" cy="289560"/>
          </a:xfrm>
          <a:prstGeom prst="roundRect">
            <a:avLst>
              <a:gd name="adj" fmla="val 26315"/>
            </a:avLst>
          </a:prstGeom>
          <a:solidFill>
            <a:srgbClr val="FFF1E5"/>
          </a:solidFill>
          <a:ln>
            <a:noFill/>
          </a:ln>
        </p:spPr>
        <p:txBody>
          <a:bodyPr rtlCol="0" anchor="ctr"/>
          <a:lstStyle/>
          <a:p>
            <a:pPr algn="ctr"/>
          </a:p>
        </p:txBody>
      </p:sp>
      <p:sp>
        <p:nvSpPr>
          <p:cNvPr id="24" name="TextBox 23"/>
          <p:cNvSpPr txBox="1"/>
          <p:nvPr/>
        </p:nvSpPr>
        <p:spPr>
          <a:xfrm>
            <a:off x="9540240" y="4640580"/>
            <a:ext cx="1996439"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A14400"/>
                </a:solidFill>
                <a:latin typeface="Segoe UI"/>
              </a:rPr>
              <a:t>PENDING</a:t>
            </a:r>
          </a:p>
        </p:txBody>
      </p:sp>
      <p:cxnSp>
        <p:nvCxnSpPr>
          <p:cNvPr id="25" name="Connector 24"/>
          <p:cNvCxnSpPr/>
          <p:nvPr/>
        </p:nvCxnSpPr>
        <p:spPr>
          <a:xfrm>
            <a:off x="548640" y="5280660"/>
            <a:ext cx="11094720" cy="0"/>
          </a:xfrm>
          <a:prstGeom prst="line">
            <a:avLst/>
          </a:prstGeom>
          <a:ln w="15240">
            <a:solidFill>
              <a:srgbClr val="DADCE0"/>
            </a:solidFill>
          </a:ln>
        </p:spPr>
      </p:cxnSp>
      <p:sp>
        <p:nvSpPr>
          <p:cNvPr id="26" name="TextBox 25"/>
          <p:cNvSpPr txBox="1"/>
          <p:nvPr/>
        </p:nvSpPr>
        <p:spPr>
          <a:xfrm>
            <a:off x="548640" y="5753100"/>
            <a:ext cx="11094720" cy="282854"/>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5F6368"/>
                </a:solidFill>
                <a:latin typeface="Segoe UI"/>
              </a:rPr>
              <a:t>Agreement between AI calls is not independently verified correctness.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CURRENT EVIDENCE</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The workflow is tested.</a:t>
            </a:r>
          </a:p>
          <a:p>
            <a:pPr algn="l">
              <a:lnSpc>
                <a:spcPts val="4140"/>
              </a:lnSpc>
              <a:spcBef>
                <a:spcPts val="0"/>
              </a:spcBef>
              <a:spcAft>
                <a:spcPts val="0"/>
              </a:spcAft>
            </a:pPr>
            <a:r>
              <a:rPr sz="3000" b="0">
                <a:solidFill>
                  <a:srgbClr val="202124"/>
                </a:solidFill>
                <a:latin typeface="Segoe UI"/>
              </a:rPr>
              <a:t>Effectiveness is still unmeasured.</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Engineering snapshot from this session. Mock fixtures do not measure model accuracy.</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08</a:t>
            </a:r>
          </a:p>
        </p:txBody>
      </p:sp>
      <p:sp>
        <p:nvSpPr>
          <p:cNvPr id="8" name="TextBox 7"/>
          <p:cNvSpPr txBox="1"/>
          <p:nvPr/>
        </p:nvSpPr>
        <p:spPr>
          <a:xfrm>
            <a:off x="548640" y="2301240"/>
            <a:ext cx="1109472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13795B"/>
                </a:solidFill>
                <a:latin typeface="Segoe UI"/>
              </a:rPr>
              <a:t>VERIFIED ENGINEERING</a:t>
            </a:r>
          </a:p>
        </p:txBody>
      </p:sp>
      <p:sp>
        <p:nvSpPr>
          <p:cNvPr id="9" name="TextBox 8"/>
          <p:cNvSpPr txBox="1"/>
          <p:nvPr/>
        </p:nvSpPr>
        <p:spPr>
          <a:xfrm>
            <a:off x="548640" y="2788920"/>
            <a:ext cx="1905000" cy="871727"/>
          </a:xfrm>
          <a:prstGeom prst="rect">
            <a:avLst/>
          </a:prstGeom>
          <a:noFill/>
        </p:spPr>
        <p:txBody>
          <a:bodyPr wrap="none" tIns="0" bIns="0" lIns="0" rIns="0">
            <a:spAutoFit/>
          </a:bodyPr>
          <a:lstStyle/>
          <a:p>
            <a:pPr algn="l">
              <a:lnSpc>
                <a:spcPts val="6623"/>
              </a:lnSpc>
              <a:spcBef>
                <a:spcPts val="0"/>
              </a:spcBef>
              <a:spcAft>
                <a:spcPts val="0"/>
              </a:spcAft>
            </a:pPr>
            <a:r>
              <a:rPr sz="4800" b="0">
                <a:solidFill>
                  <a:srgbClr val="202124"/>
                </a:solidFill>
                <a:latin typeface="Segoe UI"/>
              </a:rPr>
              <a:t>111</a:t>
            </a:r>
          </a:p>
        </p:txBody>
      </p:sp>
      <p:sp>
        <p:nvSpPr>
          <p:cNvPr id="10" name="TextBox 9"/>
          <p:cNvSpPr txBox="1"/>
          <p:nvPr/>
        </p:nvSpPr>
        <p:spPr>
          <a:xfrm>
            <a:off x="548640" y="3657600"/>
            <a:ext cx="19050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Offline tests</a:t>
            </a:r>
          </a:p>
        </p:txBody>
      </p:sp>
      <p:sp>
        <p:nvSpPr>
          <p:cNvPr id="11" name="TextBox 10"/>
          <p:cNvSpPr txBox="1"/>
          <p:nvPr/>
        </p:nvSpPr>
        <p:spPr>
          <a:xfrm>
            <a:off x="2674620" y="2788920"/>
            <a:ext cx="1905000" cy="871727"/>
          </a:xfrm>
          <a:prstGeom prst="rect">
            <a:avLst/>
          </a:prstGeom>
          <a:noFill/>
        </p:spPr>
        <p:txBody>
          <a:bodyPr wrap="none" tIns="0" bIns="0" lIns="0" rIns="0">
            <a:spAutoFit/>
          </a:bodyPr>
          <a:lstStyle/>
          <a:p>
            <a:pPr algn="l">
              <a:lnSpc>
                <a:spcPts val="6623"/>
              </a:lnSpc>
              <a:spcBef>
                <a:spcPts val="0"/>
              </a:spcBef>
              <a:spcAft>
                <a:spcPts val="0"/>
              </a:spcAft>
            </a:pPr>
            <a:r>
              <a:rPr sz="4800" b="0">
                <a:solidFill>
                  <a:srgbClr val="202124"/>
                </a:solidFill>
                <a:latin typeface="Segoe UI"/>
              </a:rPr>
              <a:t>3</a:t>
            </a:r>
          </a:p>
        </p:txBody>
      </p:sp>
      <p:sp>
        <p:nvSpPr>
          <p:cNvPr id="12" name="TextBox 11"/>
          <p:cNvSpPr txBox="1"/>
          <p:nvPr/>
        </p:nvSpPr>
        <p:spPr>
          <a:xfrm>
            <a:off x="2674620" y="3657600"/>
            <a:ext cx="19050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Browser checks</a:t>
            </a:r>
          </a:p>
        </p:txBody>
      </p:sp>
      <p:sp>
        <p:nvSpPr>
          <p:cNvPr id="13" name="TextBox 12"/>
          <p:cNvSpPr txBox="1"/>
          <p:nvPr/>
        </p:nvSpPr>
        <p:spPr>
          <a:xfrm>
            <a:off x="4831080" y="2788920"/>
            <a:ext cx="1905000" cy="871727"/>
          </a:xfrm>
          <a:prstGeom prst="rect">
            <a:avLst/>
          </a:prstGeom>
          <a:noFill/>
        </p:spPr>
        <p:txBody>
          <a:bodyPr wrap="none" tIns="0" bIns="0" lIns="0" rIns="0">
            <a:spAutoFit/>
          </a:bodyPr>
          <a:lstStyle/>
          <a:p>
            <a:pPr algn="l">
              <a:lnSpc>
                <a:spcPts val="6623"/>
              </a:lnSpc>
              <a:spcBef>
                <a:spcPts val="0"/>
              </a:spcBef>
              <a:spcAft>
                <a:spcPts val="0"/>
              </a:spcAft>
            </a:pPr>
            <a:r>
              <a:rPr sz="4800" b="0">
                <a:solidFill>
                  <a:srgbClr val="202124"/>
                </a:solidFill>
                <a:latin typeface="Segoe UI"/>
              </a:rPr>
              <a:t>8</a:t>
            </a:r>
          </a:p>
        </p:txBody>
      </p:sp>
      <p:sp>
        <p:nvSpPr>
          <p:cNvPr id="14" name="TextBox 13"/>
          <p:cNvSpPr txBox="1"/>
          <p:nvPr/>
        </p:nvSpPr>
        <p:spPr>
          <a:xfrm>
            <a:off x="4831080" y="3657600"/>
            <a:ext cx="19050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Reference solutions</a:t>
            </a:r>
          </a:p>
        </p:txBody>
      </p:sp>
      <p:sp>
        <p:nvSpPr>
          <p:cNvPr id="15" name="TextBox 14"/>
          <p:cNvSpPr txBox="1"/>
          <p:nvPr/>
        </p:nvSpPr>
        <p:spPr>
          <a:xfrm>
            <a:off x="548640" y="4678680"/>
            <a:ext cx="5486400" cy="314401"/>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202124"/>
                </a:solidFill>
                <a:latin typeface="Segoe UI"/>
              </a:rPr>
              <a:t>Build and type checks pass.</a:t>
            </a:r>
          </a:p>
        </p:txBody>
      </p:sp>
      <p:sp>
        <p:nvSpPr>
          <p:cNvPr id="16" name="TextBox 15"/>
          <p:cNvSpPr txBox="1"/>
          <p:nvPr/>
        </p:nvSpPr>
        <p:spPr>
          <a:xfrm>
            <a:off x="548640" y="5151120"/>
            <a:ext cx="5486400" cy="577291"/>
          </a:xfrm>
          <a:prstGeom prst="rect">
            <a:avLst/>
          </a:prstGeom>
          <a:noFill/>
        </p:spPr>
        <p:txBody>
          <a:bodyPr wrap="none" tIns="0" bIns="0" lIns="0" rIns="0">
            <a:spAutoFit/>
          </a:bodyPr>
          <a:lstStyle/>
          <a:p>
            <a:pPr algn="l">
              <a:lnSpc>
                <a:spcPts val="2152"/>
              </a:lnSpc>
              <a:spcBef>
                <a:spcPts val="0"/>
              </a:spcBef>
              <a:spcAft>
                <a:spcPts val="0"/>
              </a:spcAft>
            </a:pPr>
            <a:r>
              <a:rPr sz="1560" b="0">
                <a:solidFill>
                  <a:srgbClr val="5F6368"/>
                </a:solidFill>
                <a:latin typeface="Segoe UI"/>
              </a:rPr>
              <a:t>These validate behavior,</a:t>
            </a:r>
          </a:p>
          <a:p>
            <a:pPr algn="l">
              <a:lnSpc>
                <a:spcPts val="2152"/>
              </a:lnSpc>
              <a:spcBef>
                <a:spcPts val="0"/>
              </a:spcBef>
              <a:spcAft>
                <a:spcPts val="0"/>
              </a:spcAft>
            </a:pPr>
            <a:r>
              <a:rPr sz="1560" b="0">
                <a:solidFill>
                  <a:srgbClr val="5F6368"/>
                </a:solidFill>
                <a:latin typeface="Segoe UI"/>
              </a:rPr>
              <a:t>not learning outcomes.</a:t>
            </a:r>
          </a:p>
        </p:txBody>
      </p:sp>
      <p:cxnSp>
        <p:nvCxnSpPr>
          <p:cNvPr id="17" name="Connector 16"/>
          <p:cNvCxnSpPr/>
          <p:nvPr/>
        </p:nvCxnSpPr>
        <p:spPr>
          <a:xfrm>
            <a:off x="7162800" y="2377440"/>
            <a:ext cx="0" cy="3322320"/>
          </a:xfrm>
          <a:prstGeom prst="line">
            <a:avLst/>
          </a:prstGeom>
          <a:ln w="15240">
            <a:solidFill>
              <a:srgbClr val="DADCE0"/>
            </a:solidFill>
          </a:ln>
        </p:spPr>
      </p:cxnSp>
      <p:sp>
        <p:nvSpPr>
          <p:cNvPr id="18" name="TextBox 17"/>
          <p:cNvSpPr txBox="1"/>
          <p:nvPr/>
        </p:nvSpPr>
        <p:spPr>
          <a:xfrm>
            <a:off x="7719060" y="2301240"/>
            <a:ext cx="3924300" cy="230276"/>
          </a:xfrm>
          <a:prstGeom prst="rect">
            <a:avLst/>
          </a:prstGeom>
          <a:noFill/>
        </p:spPr>
        <p:txBody>
          <a:bodyPr wrap="none" tIns="0" bIns="0" lIns="0" rIns="0">
            <a:spAutoFit/>
          </a:bodyPr>
          <a:lstStyle/>
          <a:p>
            <a:pPr algn="l">
              <a:lnSpc>
                <a:spcPts val="1573"/>
              </a:lnSpc>
              <a:spcBef>
                <a:spcPts val="0"/>
              </a:spcBef>
              <a:spcAft>
                <a:spcPts val="0"/>
              </a:spcAft>
            </a:pPr>
            <a:r>
              <a:rPr sz="1140" b="0">
                <a:solidFill>
                  <a:srgbClr val="A14400"/>
                </a:solidFill>
                <a:latin typeface="Segoe UI"/>
              </a:rPr>
              <a:t>NOT YET MEASURED</a:t>
            </a:r>
          </a:p>
        </p:txBody>
      </p:sp>
      <p:sp>
        <p:nvSpPr>
          <p:cNvPr id="19" name="Oval 18"/>
          <p:cNvSpPr/>
          <p:nvPr/>
        </p:nvSpPr>
        <p:spPr>
          <a:xfrm>
            <a:off x="7734300" y="3070860"/>
            <a:ext cx="76200" cy="76200"/>
          </a:xfrm>
          <a:prstGeom prst="ellipse">
            <a:avLst/>
          </a:prstGeom>
          <a:solidFill>
            <a:srgbClr val="A14400"/>
          </a:solidFill>
          <a:ln>
            <a:noFill/>
          </a:ln>
        </p:spPr>
        <p:txBody>
          <a:bodyPr rtlCol="0" anchor="ctr"/>
          <a:lstStyle/>
          <a:p>
            <a:pPr algn="ctr"/>
          </a:p>
        </p:txBody>
      </p:sp>
      <p:sp>
        <p:nvSpPr>
          <p:cNvPr id="20" name="TextBox 19"/>
          <p:cNvSpPr txBox="1"/>
          <p:nvPr/>
        </p:nvSpPr>
        <p:spPr>
          <a:xfrm>
            <a:off x="7985759" y="2971800"/>
            <a:ext cx="35814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Live probe correctness</a:t>
            </a:r>
          </a:p>
        </p:txBody>
      </p:sp>
      <p:cxnSp>
        <p:nvCxnSpPr>
          <p:cNvPr id="21" name="Connector 20"/>
          <p:cNvCxnSpPr/>
          <p:nvPr/>
        </p:nvCxnSpPr>
        <p:spPr>
          <a:xfrm>
            <a:off x="7719060" y="3550920"/>
            <a:ext cx="3924300" cy="0"/>
          </a:xfrm>
          <a:prstGeom prst="line">
            <a:avLst/>
          </a:prstGeom>
          <a:ln w="15240">
            <a:solidFill>
              <a:srgbClr val="DADCE0"/>
            </a:solidFill>
          </a:ln>
        </p:spPr>
      </p:cxnSp>
      <p:sp>
        <p:nvSpPr>
          <p:cNvPr id="22" name="Oval 21"/>
          <p:cNvSpPr/>
          <p:nvPr/>
        </p:nvSpPr>
        <p:spPr>
          <a:xfrm>
            <a:off x="7734300" y="3909060"/>
            <a:ext cx="76200" cy="76200"/>
          </a:xfrm>
          <a:prstGeom prst="ellipse">
            <a:avLst/>
          </a:prstGeom>
          <a:solidFill>
            <a:srgbClr val="A14400"/>
          </a:solidFill>
          <a:ln>
            <a:noFill/>
          </a:ln>
        </p:spPr>
        <p:txBody>
          <a:bodyPr rtlCol="0" anchor="ctr"/>
          <a:lstStyle/>
          <a:p>
            <a:pPr algn="ctr"/>
          </a:p>
        </p:txBody>
      </p:sp>
      <p:sp>
        <p:nvSpPr>
          <p:cNvPr id="23" name="TextBox 22"/>
          <p:cNvSpPr txBox="1"/>
          <p:nvPr/>
        </p:nvSpPr>
        <p:spPr>
          <a:xfrm>
            <a:off x="7985759" y="3810000"/>
            <a:ext cx="35814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Tutor comprehension</a:t>
            </a:r>
          </a:p>
        </p:txBody>
      </p:sp>
      <p:cxnSp>
        <p:nvCxnSpPr>
          <p:cNvPr id="24" name="Connector 23"/>
          <p:cNvCxnSpPr/>
          <p:nvPr/>
        </p:nvCxnSpPr>
        <p:spPr>
          <a:xfrm>
            <a:off x="7719060" y="4389120"/>
            <a:ext cx="3924300" cy="0"/>
          </a:xfrm>
          <a:prstGeom prst="line">
            <a:avLst/>
          </a:prstGeom>
          <a:ln w="15240">
            <a:solidFill>
              <a:srgbClr val="DADCE0"/>
            </a:solidFill>
          </a:ln>
        </p:spPr>
      </p:cxnSp>
      <p:sp>
        <p:nvSpPr>
          <p:cNvPr id="25" name="Oval 24"/>
          <p:cNvSpPr/>
          <p:nvPr/>
        </p:nvSpPr>
        <p:spPr>
          <a:xfrm>
            <a:off x="7734300" y="4747260"/>
            <a:ext cx="76200" cy="76200"/>
          </a:xfrm>
          <a:prstGeom prst="ellipse">
            <a:avLst/>
          </a:prstGeom>
          <a:solidFill>
            <a:srgbClr val="A14400"/>
          </a:solidFill>
          <a:ln>
            <a:noFill/>
          </a:ln>
        </p:spPr>
        <p:txBody>
          <a:bodyPr rtlCol="0" anchor="ctr"/>
          <a:lstStyle/>
          <a:p>
            <a:pPr algn="ctr"/>
          </a:p>
        </p:txBody>
      </p:sp>
      <p:sp>
        <p:nvSpPr>
          <p:cNvPr id="26" name="TextBox 25"/>
          <p:cNvSpPr txBox="1"/>
          <p:nvPr/>
        </p:nvSpPr>
        <p:spPr>
          <a:xfrm>
            <a:off x="7985759" y="4648200"/>
            <a:ext cx="3581400" cy="335432"/>
          </a:xfrm>
          <a:prstGeom prst="rect">
            <a:avLst/>
          </a:prstGeom>
          <a:noFill/>
        </p:spPr>
        <p:txBody>
          <a:bodyPr wrap="none" tIns="0" bIns="0" lIns="0" rIns="0">
            <a:spAutoFit/>
          </a:bodyPr>
          <a:lstStyle/>
          <a:p>
            <a:pPr algn="l">
              <a:lnSpc>
                <a:spcPts val="2401"/>
              </a:lnSpc>
              <a:spcBef>
                <a:spcPts val="0"/>
              </a:spcBef>
              <a:spcAft>
                <a:spcPts val="0"/>
              </a:spcAft>
            </a:pPr>
            <a:r>
              <a:rPr sz="1739" b="0">
                <a:solidFill>
                  <a:srgbClr val="202124"/>
                </a:solidFill>
                <a:latin typeface="Segoe UI"/>
              </a:rPr>
              <a:t>Student benefit</a:t>
            </a:r>
          </a:p>
        </p:txBody>
      </p:sp>
      <p:cxnSp>
        <p:nvCxnSpPr>
          <p:cNvPr id="27" name="Connector 26"/>
          <p:cNvCxnSpPr/>
          <p:nvPr/>
        </p:nvCxnSpPr>
        <p:spPr>
          <a:xfrm>
            <a:off x="7719060" y="5227320"/>
            <a:ext cx="3924300" cy="0"/>
          </a:xfrm>
          <a:prstGeom prst="line">
            <a:avLst/>
          </a:prstGeom>
          <a:ln w="15240">
            <a:solidFill>
              <a:srgbClr val="DADCE0"/>
            </a:solidFill>
          </a:ln>
        </p:spPr>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TUTOR FEEDBACK</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The questionnaire is out.</a:t>
            </a:r>
          </a:p>
          <a:p>
            <a:pPr algn="l">
              <a:lnSpc>
                <a:spcPts val="4140"/>
              </a:lnSpc>
              <a:spcBef>
                <a:spcPts val="0"/>
              </a:spcBef>
              <a:spcAft>
                <a:spcPts val="0"/>
              </a:spcAft>
            </a:pPr>
            <a:r>
              <a:rPr sz="3000" b="0">
                <a:solidFill>
                  <a:srgbClr val="202124"/>
                </a:solidFill>
                <a:latin typeface="Segoe UI"/>
              </a:rPr>
              <a:t>The responses are still pending.</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Zero tutor responses so far. In-app form shown with synthetic session data.</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09</a:t>
            </a:r>
          </a:p>
        </p:txBody>
      </p:sp>
      <p:sp>
        <p:nvSpPr>
          <p:cNvPr id="8" name="TextBox 7"/>
          <p:cNvSpPr txBox="1"/>
          <p:nvPr/>
        </p:nvSpPr>
        <p:spPr>
          <a:xfrm>
            <a:off x="548640" y="2461260"/>
            <a:ext cx="5029200" cy="1649882"/>
          </a:xfrm>
          <a:prstGeom prst="rect">
            <a:avLst/>
          </a:prstGeom>
          <a:noFill/>
        </p:spPr>
        <p:txBody>
          <a:bodyPr wrap="none" tIns="0" bIns="0" lIns="0" rIns="0">
            <a:spAutoFit/>
          </a:bodyPr>
          <a:lstStyle/>
          <a:p>
            <a:pPr algn="l">
              <a:lnSpc>
                <a:spcPts val="12751"/>
              </a:lnSpc>
              <a:spcBef>
                <a:spcPts val="0"/>
              </a:spcBef>
              <a:spcAft>
                <a:spcPts val="0"/>
              </a:spcAft>
            </a:pPr>
            <a:r>
              <a:rPr sz="9240" b="0">
                <a:solidFill>
                  <a:srgbClr val="1A73E8"/>
                </a:solidFill>
                <a:latin typeface="Segoe UI"/>
              </a:rPr>
              <a:t>0</a:t>
            </a:r>
          </a:p>
        </p:txBody>
      </p:sp>
      <p:sp>
        <p:nvSpPr>
          <p:cNvPr id="9" name="TextBox 8"/>
          <p:cNvSpPr txBox="1"/>
          <p:nvPr/>
        </p:nvSpPr>
        <p:spPr>
          <a:xfrm>
            <a:off x="609600" y="3855720"/>
            <a:ext cx="4953000" cy="409041"/>
          </a:xfrm>
          <a:prstGeom prst="rect">
            <a:avLst/>
          </a:prstGeom>
          <a:noFill/>
        </p:spPr>
        <p:txBody>
          <a:bodyPr wrap="none" tIns="0" bIns="0" lIns="0" rIns="0">
            <a:spAutoFit/>
          </a:bodyPr>
          <a:lstStyle/>
          <a:p>
            <a:pPr algn="l">
              <a:lnSpc>
                <a:spcPts val="2980"/>
              </a:lnSpc>
              <a:spcBef>
                <a:spcPts val="0"/>
              </a:spcBef>
              <a:spcAft>
                <a:spcPts val="0"/>
              </a:spcAft>
            </a:pPr>
            <a:r>
              <a:rPr sz="2160" b="0">
                <a:solidFill>
                  <a:srgbClr val="202124"/>
                </a:solidFill>
                <a:latin typeface="Segoe UI"/>
              </a:rPr>
              <a:t>Tutor responses</a:t>
            </a:r>
          </a:p>
        </p:txBody>
      </p:sp>
      <p:sp>
        <p:nvSpPr>
          <p:cNvPr id="10" name="TextBox 9"/>
          <p:cNvSpPr txBox="1"/>
          <p:nvPr/>
        </p:nvSpPr>
        <p:spPr>
          <a:xfrm>
            <a:off x="609600" y="4503420"/>
            <a:ext cx="5105400" cy="619353"/>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5F6368"/>
                </a:solidFill>
                <a:latin typeface="Segoe UI"/>
              </a:rPr>
              <a:t>Questionnaire distributed.</a:t>
            </a:r>
          </a:p>
          <a:p>
            <a:pPr algn="l">
              <a:lnSpc>
                <a:spcPts val="2318"/>
              </a:lnSpc>
              <a:spcBef>
                <a:spcPts val="0"/>
              </a:spcBef>
              <a:spcAft>
                <a:spcPts val="0"/>
              </a:spcAft>
            </a:pPr>
            <a:r>
              <a:rPr sz="1680" b="0">
                <a:solidFill>
                  <a:srgbClr val="5F6368"/>
                </a:solidFill>
                <a:latin typeface="Segoe UI"/>
              </a:rPr>
              <a:t>No findings to report yet.</a:t>
            </a:r>
          </a:p>
        </p:txBody>
      </p:sp>
      <p:sp>
        <p:nvSpPr>
          <p:cNvPr id="11" name="TextBox 10"/>
          <p:cNvSpPr txBox="1"/>
          <p:nvPr/>
        </p:nvSpPr>
        <p:spPr>
          <a:xfrm>
            <a:off x="609600" y="5562600"/>
            <a:ext cx="51054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5F6368"/>
                </a:solidFill>
                <a:latin typeface="Segoe UI"/>
              </a:rPr>
              <a:t>Collection first. Analysis second.</a:t>
            </a:r>
          </a:p>
        </p:txBody>
      </p:sp>
      <p:pic>
        <p:nvPicPr>
          <p:cNvPr id="12" name="Picture 11" descr="Actual tutor feedback form: usefulness, breakdown accuracy, and probe quality."/>
          <p:cNvPicPr>
            <a:picLocks noChangeAspect="1"/>
          </p:cNvPicPr>
          <p:nvPr/>
        </p:nvPicPr>
        <p:blipFill>
          <a:blip r:embed="rId2"/>
          <a:stretch>
            <a:fillRect/>
          </a:stretch>
        </p:blipFill>
        <p:spPr>
          <a:xfrm>
            <a:off x="6103620" y="2209800"/>
            <a:ext cx="5258720" cy="374903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VALIDATION PLAN</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Validate correctness,</a:t>
            </a:r>
          </a:p>
          <a:p>
            <a:pPr algn="l">
              <a:lnSpc>
                <a:spcPts val="4140"/>
              </a:lnSpc>
              <a:spcBef>
                <a:spcPts val="0"/>
              </a:spcBef>
              <a:spcAft>
                <a:spcPts val="0"/>
              </a:spcAft>
            </a:pPr>
            <a:r>
              <a:rPr sz="3000" b="0">
                <a:solidFill>
                  <a:srgbClr val="202124"/>
                </a:solidFill>
                <a:latin typeface="Segoe UI"/>
              </a:rPr>
              <a:t>then test usefulness.</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Proposed evaluation measures, not results. Agree success thresholds before testing.</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10</a:t>
            </a:r>
          </a:p>
        </p:txBody>
      </p:sp>
      <p:cxnSp>
        <p:nvCxnSpPr>
          <p:cNvPr id="8" name="Connector 7"/>
          <p:cNvCxnSpPr/>
          <p:nvPr/>
        </p:nvCxnSpPr>
        <p:spPr>
          <a:xfrm>
            <a:off x="762000" y="2712720"/>
            <a:ext cx="10607040" cy="0"/>
          </a:xfrm>
          <a:prstGeom prst="line">
            <a:avLst/>
          </a:prstGeom>
          <a:ln w="22859">
            <a:solidFill>
              <a:srgbClr val="1A73E8"/>
            </a:solidFill>
          </a:ln>
        </p:spPr>
      </p:cxnSp>
      <p:sp>
        <p:nvSpPr>
          <p:cNvPr id="9" name="Oval 8"/>
          <p:cNvSpPr/>
          <p:nvPr/>
        </p:nvSpPr>
        <p:spPr>
          <a:xfrm>
            <a:off x="548640" y="2529840"/>
            <a:ext cx="365760" cy="365760"/>
          </a:xfrm>
          <a:prstGeom prst="ellipse">
            <a:avLst/>
          </a:prstGeom>
          <a:solidFill>
            <a:srgbClr val="1A73E8"/>
          </a:solidFill>
          <a:ln>
            <a:noFill/>
          </a:ln>
        </p:spPr>
        <p:txBody>
          <a:bodyPr rtlCol="0" anchor="ctr"/>
          <a:lstStyle/>
          <a:p>
            <a:pPr algn="ctr"/>
          </a:p>
        </p:txBody>
      </p:sp>
      <p:sp>
        <p:nvSpPr>
          <p:cNvPr id="10" name="TextBox 9"/>
          <p:cNvSpPr txBox="1"/>
          <p:nvPr/>
        </p:nvSpPr>
        <p:spPr>
          <a:xfrm>
            <a:off x="624840" y="2590800"/>
            <a:ext cx="29718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FFFFFF"/>
                </a:solidFill>
                <a:latin typeface="Segoe UI"/>
              </a:rPr>
              <a:t>01</a:t>
            </a:r>
          </a:p>
        </p:txBody>
      </p:sp>
      <p:sp>
        <p:nvSpPr>
          <p:cNvPr id="11" name="TextBox 10"/>
          <p:cNvSpPr txBox="1"/>
          <p:nvPr/>
        </p:nvSpPr>
        <p:spPr>
          <a:xfrm>
            <a:off x="548640" y="3200400"/>
            <a:ext cx="3429000" cy="377494"/>
          </a:xfrm>
          <a:prstGeom prst="rect">
            <a:avLst/>
          </a:prstGeom>
          <a:noFill/>
        </p:spPr>
        <p:txBody>
          <a:bodyPr wrap="none" tIns="0" bIns="0" lIns="0" rIns="0">
            <a:spAutoFit/>
          </a:bodyPr>
          <a:lstStyle/>
          <a:p>
            <a:pPr algn="l">
              <a:lnSpc>
                <a:spcPts val="2732"/>
              </a:lnSpc>
              <a:spcBef>
                <a:spcPts val="0"/>
              </a:spcBef>
              <a:spcAft>
                <a:spcPts val="0"/>
              </a:spcAft>
            </a:pPr>
            <a:r>
              <a:rPr sz="1980" b="0">
                <a:solidFill>
                  <a:srgbClr val="202124"/>
                </a:solidFill>
                <a:latin typeface="Segoe UI"/>
              </a:rPr>
              <a:t>Check the maths</a:t>
            </a:r>
          </a:p>
        </p:txBody>
      </p:sp>
      <p:sp>
        <p:nvSpPr>
          <p:cNvPr id="12" name="TextBox 11"/>
          <p:cNvSpPr txBox="1"/>
          <p:nvPr/>
        </p:nvSpPr>
        <p:spPr>
          <a:xfrm>
            <a:off x="548640" y="364998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Live probes + independent review</a:t>
            </a:r>
          </a:p>
        </p:txBody>
      </p:sp>
      <p:sp>
        <p:nvSpPr>
          <p:cNvPr id="13" name="TextBox 12"/>
          <p:cNvSpPr txBox="1"/>
          <p:nvPr/>
        </p:nvSpPr>
        <p:spPr>
          <a:xfrm>
            <a:off x="548640" y="43281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Concept and answer-key validity</a:t>
            </a:r>
          </a:p>
        </p:txBody>
      </p:sp>
      <p:sp>
        <p:nvSpPr>
          <p:cNvPr id="14" name="TextBox 13"/>
          <p:cNvSpPr txBox="1"/>
          <p:nvPr/>
        </p:nvSpPr>
        <p:spPr>
          <a:xfrm>
            <a:off x="548640" y="47853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Distractors, hints, and retries</a:t>
            </a:r>
          </a:p>
        </p:txBody>
      </p:sp>
      <p:sp>
        <p:nvSpPr>
          <p:cNvPr id="15" name="TextBox 14"/>
          <p:cNvSpPr txBox="1"/>
          <p:nvPr/>
        </p:nvSpPr>
        <p:spPr>
          <a:xfrm>
            <a:off x="548640" y="52425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Error counts with denominators</a:t>
            </a:r>
          </a:p>
        </p:txBody>
      </p:sp>
      <p:sp>
        <p:nvSpPr>
          <p:cNvPr id="16" name="Oval 15"/>
          <p:cNvSpPr/>
          <p:nvPr/>
        </p:nvSpPr>
        <p:spPr>
          <a:xfrm>
            <a:off x="4381500" y="2529840"/>
            <a:ext cx="365760" cy="365760"/>
          </a:xfrm>
          <a:prstGeom prst="ellipse">
            <a:avLst/>
          </a:prstGeom>
          <a:solidFill>
            <a:srgbClr val="1A73E8"/>
          </a:solidFill>
          <a:ln>
            <a:noFill/>
          </a:ln>
        </p:spPr>
        <p:txBody>
          <a:bodyPr rtlCol="0" anchor="ctr"/>
          <a:lstStyle/>
          <a:p>
            <a:pPr algn="ctr"/>
          </a:p>
        </p:txBody>
      </p:sp>
      <p:sp>
        <p:nvSpPr>
          <p:cNvPr id="17" name="TextBox 16"/>
          <p:cNvSpPr txBox="1"/>
          <p:nvPr/>
        </p:nvSpPr>
        <p:spPr>
          <a:xfrm>
            <a:off x="4457700" y="2590800"/>
            <a:ext cx="29718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FFFFFF"/>
                </a:solidFill>
                <a:latin typeface="Segoe UI"/>
              </a:rPr>
              <a:t>02</a:t>
            </a:r>
          </a:p>
        </p:txBody>
      </p:sp>
      <p:sp>
        <p:nvSpPr>
          <p:cNvPr id="18" name="TextBox 17"/>
          <p:cNvSpPr txBox="1"/>
          <p:nvPr/>
        </p:nvSpPr>
        <p:spPr>
          <a:xfrm>
            <a:off x="4381500" y="3200400"/>
            <a:ext cx="3429000" cy="377494"/>
          </a:xfrm>
          <a:prstGeom prst="rect">
            <a:avLst/>
          </a:prstGeom>
          <a:noFill/>
        </p:spPr>
        <p:txBody>
          <a:bodyPr wrap="none" tIns="0" bIns="0" lIns="0" rIns="0">
            <a:spAutoFit/>
          </a:bodyPr>
          <a:lstStyle/>
          <a:p>
            <a:pPr algn="l">
              <a:lnSpc>
                <a:spcPts val="2732"/>
              </a:lnSpc>
              <a:spcBef>
                <a:spcPts val="0"/>
              </a:spcBef>
              <a:spcAft>
                <a:spcPts val="0"/>
              </a:spcAft>
            </a:pPr>
            <a:r>
              <a:rPr sz="1980" b="0">
                <a:solidFill>
                  <a:srgbClr val="202124"/>
                </a:solidFill>
                <a:latin typeface="Segoe UI"/>
              </a:rPr>
              <a:t>Test the brief</a:t>
            </a:r>
          </a:p>
        </p:txBody>
      </p:sp>
      <p:sp>
        <p:nvSpPr>
          <p:cNvPr id="19" name="TextBox 18"/>
          <p:cNvSpPr txBox="1"/>
          <p:nvPr/>
        </p:nvSpPr>
        <p:spPr>
          <a:xfrm>
            <a:off x="4381500" y="364998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Matched cases, with vs. without</a:t>
            </a:r>
          </a:p>
        </p:txBody>
      </p:sp>
      <p:sp>
        <p:nvSpPr>
          <p:cNvPr id="20" name="TextBox 19"/>
          <p:cNvSpPr txBox="1"/>
          <p:nvPr/>
        </p:nvSpPr>
        <p:spPr>
          <a:xfrm>
            <a:off x="4381500" y="43281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Time to the main takeaway</a:t>
            </a:r>
          </a:p>
        </p:txBody>
      </p:sp>
      <p:sp>
        <p:nvSpPr>
          <p:cNvPr id="21" name="TextBox 20"/>
          <p:cNvSpPr txBox="1"/>
          <p:nvPr/>
        </p:nvSpPr>
        <p:spPr>
          <a:xfrm>
            <a:off x="4381500" y="47853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Correct interpretation of the gap</a:t>
            </a:r>
          </a:p>
        </p:txBody>
      </p:sp>
      <p:sp>
        <p:nvSpPr>
          <p:cNvPr id="22" name="TextBox 21"/>
          <p:cNvSpPr txBox="1"/>
          <p:nvPr/>
        </p:nvSpPr>
        <p:spPr>
          <a:xfrm>
            <a:off x="4381500" y="52425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Tutor ratings and comments</a:t>
            </a:r>
          </a:p>
        </p:txBody>
      </p:sp>
      <p:sp>
        <p:nvSpPr>
          <p:cNvPr id="23" name="Oval 22"/>
          <p:cNvSpPr/>
          <p:nvPr/>
        </p:nvSpPr>
        <p:spPr>
          <a:xfrm>
            <a:off x="8214359" y="2529840"/>
            <a:ext cx="365760" cy="365760"/>
          </a:xfrm>
          <a:prstGeom prst="ellipse">
            <a:avLst/>
          </a:prstGeom>
          <a:solidFill>
            <a:srgbClr val="1A73E8"/>
          </a:solidFill>
          <a:ln>
            <a:noFill/>
          </a:ln>
        </p:spPr>
        <p:txBody>
          <a:bodyPr rtlCol="0" anchor="ctr"/>
          <a:lstStyle/>
          <a:p>
            <a:pPr algn="ctr"/>
          </a:p>
        </p:txBody>
      </p:sp>
      <p:sp>
        <p:nvSpPr>
          <p:cNvPr id="24" name="TextBox 23"/>
          <p:cNvSpPr txBox="1"/>
          <p:nvPr/>
        </p:nvSpPr>
        <p:spPr>
          <a:xfrm>
            <a:off x="8290560" y="2590800"/>
            <a:ext cx="29718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FFFFFF"/>
                </a:solidFill>
                <a:latin typeface="Segoe UI"/>
              </a:rPr>
              <a:t>03</a:t>
            </a:r>
          </a:p>
        </p:txBody>
      </p:sp>
      <p:sp>
        <p:nvSpPr>
          <p:cNvPr id="25" name="TextBox 24"/>
          <p:cNvSpPr txBox="1"/>
          <p:nvPr/>
        </p:nvSpPr>
        <p:spPr>
          <a:xfrm>
            <a:off x="8214359" y="3200400"/>
            <a:ext cx="3429000" cy="377494"/>
          </a:xfrm>
          <a:prstGeom prst="rect">
            <a:avLst/>
          </a:prstGeom>
          <a:noFill/>
        </p:spPr>
        <p:txBody>
          <a:bodyPr wrap="none" tIns="0" bIns="0" lIns="0" rIns="0">
            <a:spAutoFit/>
          </a:bodyPr>
          <a:lstStyle/>
          <a:p>
            <a:pPr algn="l">
              <a:lnSpc>
                <a:spcPts val="2732"/>
              </a:lnSpc>
              <a:spcBef>
                <a:spcPts val="0"/>
              </a:spcBef>
              <a:spcAft>
                <a:spcPts val="0"/>
              </a:spcAft>
            </a:pPr>
            <a:r>
              <a:rPr sz="1980" b="0">
                <a:solidFill>
                  <a:srgbClr val="202124"/>
                </a:solidFill>
                <a:latin typeface="Segoe UI"/>
              </a:rPr>
              <a:t>Pilot carefully</a:t>
            </a:r>
          </a:p>
        </p:txBody>
      </p:sp>
      <p:sp>
        <p:nvSpPr>
          <p:cNvPr id="26" name="TextBox 25"/>
          <p:cNvSpPr txBox="1"/>
          <p:nvPr/>
        </p:nvSpPr>
        <p:spPr>
          <a:xfrm>
            <a:off x="8214359" y="364998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Only after the review gates</a:t>
            </a:r>
          </a:p>
        </p:txBody>
      </p:sp>
      <p:sp>
        <p:nvSpPr>
          <p:cNvPr id="27" name="TextBox 26"/>
          <p:cNvSpPr txBox="1"/>
          <p:nvPr/>
        </p:nvSpPr>
        <p:spPr>
          <a:xfrm>
            <a:off x="8214359" y="43281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Agree the success thresholds</a:t>
            </a:r>
          </a:p>
        </p:txBody>
      </p:sp>
      <p:sp>
        <p:nvSpPr>
          <p:cNvPr id="28" name="TextBox 27"/>
          <p:cNvSpPr txBox="1"/>
          <p:nvPr/>
        </p:nvSpPr>
        <p:spPr>
          <a:xfrm>
            <a:off x="8214359" y="47853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Observe actual use with tutors</a:t>
            </a:r>
          </a:p>
        </p:txBody>
      </p:sp>
      <p:sp>
        <p:nvSpPr>
          <p:cNvPr id="29" name="TextBox 28"/>
          <p:cNvSpPr txBox="1"/>
          <p:nvPr/>
        </p:nvSpPr>
        <p:spPr>
          <a:xfrm>
            <a:off x="8214359" y="5242560"/>
            <a:ext cx="34290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202124"/>
                </a:solidFill>
                <a:latin typeface="Segoe UI"/>
              </a:rPr>
              <a:t>Revise from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8FAFD"/>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NEXT MILESTONE</a:t>
            </a:r>
          </a:p>
        </p:txBody>
      </p:sp>
      <p:sp>
        <p:nvSpPr>
          <p:cNvPr id="4" name="TextBox 3"/>
          <p:cNvSpPr txBox="1"/>
          <p:nvPr/>
        </p:nvSpPr>
        <p:spPr>
          <a:xfrm>
            <a:off x="548640" y="762000"/>
            <a:ext cx="11094720" cy="108204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A tutor-reviewed demo,</a:t>
            </a:r>
          </a:p>
          <a:p>
            <a:pPr algn="l">
              <a:lnSpc>
                <a:spcPts val="4140"/>
              </a:lnSpc>
              <a:spcBef>
                <a:spcPts val="0"/>
              </a:spcBef>
              <a:spcAft>
                <a:spcPts val="0"/>
              </a:spcAft>
            </a:pPr>
            <a:r>
              <a:rPr sz="3000" b="0">
                <a:solidFill>
                  <a:srgbClr val="202124"/>
                </a:solidFill>
                <a:latin typeface="Segoe UI"/>
              </a:rPr>
              <a:t>not another feature sprint.</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11</a:t>
            </a:r>
          </a:p>
        </p:txBody>
      </p:sp>
      <p:sp>
        <p:nvSpPr>
          <p:cNvPr id="8" name="TextBox 7"/>
          <p:cNvSpPr txBox="1"/>
          <p:nvPr/>
        </p:nvSpPr>
        <p:spPr>
          <a:xfrm>
            <a:off x="548640" y="2362200"/>
            <a:ext cx="6705600" cy="377494"/>
          </a:xfrm>
          <a:prstGeom prst="rect">
            <a:avLst/>
          </a:prstGeom>
          <a:noFill/>
        </p:spPr>
        <p:txBody>
          <a:bodyPr wrap="none" tIns="0" bIns="0" lIns="0" rIns="0">
            <a:spAutoFit/>
          </a:bodyPr>
          <a:lstStyle/>
          <a:p>
            <a:pPr algn="l">
              <a:lnSpc>
                <a:spcPts val="2732"/>
              </a:lnSpc>
              <a:spcBef>
                <a:spcPts val="0"/>
              </a:spcBef>
              <a:spcAft>
                <a:spcPts val="0"/>
              </a:spcAft>
            </a:pPr>
            <a:r>
              <a:rPr sz="1980" b="0">
                <a:solidFill>
                  <a:srgbClr val="1A73E8"/>
                </a:solidFill>
                <a:latin typeface="Segoe UI"/>
              </a:rPr>
              <a:t>Approve a small validation round.</a:t>
            </a:r>
          </a:p>
        </p:txBody>
      </p:sp>
      <p:sp>
        <p:nvSpPr>
          <p:cNvPr id="9" name="TextBox 8"/>
          <p:cNvSpPr txBox="1"/>
          <p:nvPr/>
        </p:nvSpPr>
        <p:spPr>
          <a:xfrm>
            <a:off x="548640" y="3192780"/>
            <a:ext cx="6096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1A73E8"/>
                </a:solidFill>
                <a:latin typeface="Segoe UI"/>
              </a:rPr>
              <a:t>01</a:t>
            </a:r>
          </a:p>
        </p:txBody>
      </p:sp>
      <p:sp>
        <p:nvSpPr>
          <p:cNvPr id="10" name="TextBox 9"/>
          <p:cNvSpPr txBox="1"/>
          <p:nvPr/>
        </p:nvSpPr>
        <p:spPr>
          <a:xfrm>
            <a:off x="1219200" y="3192780"/>
            <a:ext cx="59436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Enable live-model evaluation</a:t>
            </a:r>
          </a:p>
        </p:txBody>
      </p:sp>
      <p:cxnSp>
        <p:nvCxnSpPr>
          <p:cNvPr id="11" name="Connector 10"/>
          <p:cNvCxnSpPr/>
          <p:nvPr/>
        </p:nvCxnSpPr>
        <p:spPr>
          <a:xfrm>
            <a:off x="548640" y="3703320"/>
            <a:ext cx="6477000" cy="0"/>
          </a:xfrm>
          <a:prstGeom prst="line">
            <a:avLst/>
          </a:prstGeom>
          <a:ln w="15240">
            <a:solidFill>
              <a:srgbClr val="DADCE0"/>
            </a:solidFill>
          </a:ln>
        </p:spPr>
      </p:cxnSp>
      <p:sp>
        <p:nvSpPr>
          <p:cNvPr id="12" name="TextBox 11"/>
          <p:cNvSpPr txBox="1"/>
          <p:nvPr/>
        </p:nvSpPr>
        <p:spPr>
          <a:xfrm>
            <a:off x="548640" y="3931920"/>
            <a:ext cx="6096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1A73E8"/>
                </a:solidFill>
                <a:latin typeface="Segoe UI"/>
              </a:rPr>
              <a:t>02</a:t>
            </a:r>
          </a:p>
        </p:txBody>
      </p:sp>
      <p:sp>
        <p:nvSpPr>
          <p:cNvPr id="13" name="TextBox 12"/>
          <p:cNvSpPr txBox="1"/>
          <p:nvPr/>
        </p:nvSpPr>
        <p:spPr>
          <a:xfrm>
            <a:off x="1219200" y="3931920"/>
            <a:ext cx="59436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Assign an independent math reviewer</a:t>
            </a:r>
          </a:p>
        </p:txBody>
      </p:sp>
      <p:cxnSp>
        <p:nvCxnSpPr>
          <p:cNvPr id="14" name="Connector 13"/>
          <p:cNvCxnSpPr/>
          <p:nvPr/>
        </p:nvCxnSpPr>
        <p:spPr>
          <a:xfrm>
            <a:off x="548640" y="4442460"/>
            <a:ext cx="6477000" cy="0"/>
          </a:xfrm>
          <a:prstGeom prst="line">
            <a:avLst/>
          </a:prstGeom>
          <a:ln w="15240">
            <a:solidFill>
              <a:srgbClr val="DADCE0"/>
            </a:solidFill>
          </a:ln>
        </p:spPr>
      </p:cxnSp>
      <p:sp>
        <p:nvSpPr>
          <p:cNvPr id="15" name="TextBox 14"/>
          <p:cNvSpPr txBox="1"/>
          <p:nvPr/>
        </p:nvSpPr>
        <p:spPr>
          <a:xfrm>
            <a:off x="548640" y="4671060"/>
            <a:ext cx="609600" cy="272338"/>
          </a:xfrm>
          <a:prstGeom prst="rect">
            <a:avLst/>
          </a:prstGeom>
          <a:noFill/>
        </p:spPr>
        <p:txBody>
          <a:bodyPr wrap="none" tIns="0" bIns="0" lIns="0" rIns="0">
            <a:spAutoFit/>
          </a:bodyPr>
          <a:lstStyle/>
          <a:p>
            <a:pPr algn="l">
              <a:lnSpc>
                <a:spcPts val="1904"/>
              </a:lnSpc>
              <a:spcBef>
                <a:spcPts val="0"/>
              </a:spcBef>
              <a:spcAft>
                <a:spcPts val="0"/>
              </a:spcAft>
            </a:pPr>
            <a:r>
              <a:rPr sz="1380" b="0">
                <a:solidFill>
                  <a:srgbClr val="1A73E8"/>
                </a:solidFill>
                <a:latin typeface="Segoe UI"/>
              </a:rPr>
              <a:t>03</a:t>
            </a:r>
          </a:p>
        </p:txBody>
      </p:sp>
      <p:sp>
        <p:nvSpPr>
          <p:cNvPr id="16" name="TextBox 15"/>
          <p:cNvSpPr txBox="1"/>
          <p:nvPr/>
        </p:nvSpPr>
        <p:spPr>
          <a:xfrm>
            <a:off x="1219200" y="4671060"/>
            <a:ext cx="5943600" cy="324916"/>
          </a:xfrm>
          <a:prstGeom prst="rect">
            <a:avLst/>
          </a:prstGeom>
          <a:noFill/>
        </p:spPr>
        <p:txBody>
          <a:bodyPr wrap="none" tIns="0" bIns="0" lIns="0" rIns="0">
            <a:spAutoFit/>
          </a:bodyPr>
          <a:lstStyle/>
          <a:p>
            <a:pPr algn="l">
              <a:lnSpc>
                <a:spcPts val="2318"/>
              </a:lnSpc>
              <a:spcBef>
                <a:spcPts val="0"/>
              </a:spcBef>
              <a:spcAft>
                <a:spcPts val="0"/>
              </a:spcAft>
            </a:pPr>
            <a:r>
              <a:rPr sz="1680" b="0">
                <a:solidFill>
                  <a:srgbClr val="202124"/>
                </a:solidFill>
                <a:latin typeface="Segoe UI"/>
              </a:rPr>
              <a:t>Recruit tutors for a short walkthrough</a:t>
            </a:r>
          </a:p>
        </p:txBody>
      </p:sp>
      <p:cxnSp>
        <p:nvCxnSpPr>
          <p:cNvPr id="17" name="Connector 16"/>
          <p:cNvCxnSpPr/>
          <p:nvPr/>
        </p:nvCxnSpPr>
        <p:spPr>
          <a:xfrm>
            <a:off x="548640" y="5181600"/>
            <a:ext cx="6477000" cy="0"/>
          </a:xfrm>
          <a:prstGeom prst="line">
            <a:avLst/>
          </a:prstGeom>
          <a:ln w="15240">
            <a:solidFill>
              <a:srgbClr val="DADCE0"/>
            </a:solidFill>
          </a:ln>
        </p:spPr>
      </p:cxnSp>
      <p:sp>
        <p:nvSpPr>
          <p:cNvPr id="18" name="Rounded Rectangle 17"/>
          <p:cNvSpPr/>
          <p:nvPr/>
        </p:nvSpPr>
        <p:spPr>
          <a:xfrm>
            <a:off x="7635240" y="2362200"/>
            <a:ext cx="4008120" cy="3284220"/>
          </a:xfrm>
          <a:prstGeom prst="roundRect">
            <a:avLst>
              <a:gd name="adj" fmla="val 3712"/>
            </a:avLst>
          </a:prstGeom>
          <a:solidFill>
            <a:srgbClr val="FFFFFF"/>
          </a:solidFill>
          <a:ln w="12700">
            <a:solidFill>
              <a:srgbClr val="DADCE0"/>
            </a:solidFill>
          </a:ln>
        </p:spPr>
        <p:txBody>
          <a:bodyPr rtlCol="0" anchor="ctr"/>
          <a:lstStyle/>
          <a:p>
            <a:pPr algn="ctr"/>
          </a:p>
        </p:txBody>
      </p:sp>
      <p:sp>
        <p:nvSpPr>
          <p:cNvPr id="19" name="TextBox 18"/>
          <p:cNvSpPr txBox="1"/>
          <p:nvPr/>
        </p:nvSpPr>
        <p:spPr>
          <a:xfrm>
            <a:off x="7894320" y="2651760"/>
            <a:ext cx="34290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5F6368"/>
                </a:solidFill>
                <a:latin typeface="Segoe UI"/>
              </a:rPr>
              <a:t>READINESS</a:t>
            </a:r>
          </a:p>
        </p:txBody>
      </p:sp>
      <p:sp>
        <p:nvSpPr>
          <p:cNvPr id="20" name="TextBox 19"/>
          <p:cNvSpPr txBox="1"/>
          <p:nvPr/>
        </p:nvSpPr>
        <p:spPr>
          <a:xfrm>
            <a:off x="7894320" y="3223260"/>
            <a:ext cx="3429000" cy="461619"/>
          </a:xfrm>
          <a:prstGeom prst="rect">
            <a:avLst/>
          </a:prstGeom>
          <a:noFill/>
        </p:spPr>
        <p:txBody>
          <a:bodyPr wrap="none" tIns="0" bIns="0" lIns="0" rIns="0">
            <a:spAutoFit/>
          </a:bodyPr>
          <a:lstStyle/>
          <a:p>
            <a:pPr algn="l">
              <a:lnSpc>
                <a:spcPts val="3394"/>
              </a:lnSpc>
              <a:spcBef>
                <a:spcPts val="0"/>
              </a:spcBef>
              <a:spcAft>
                <a:spcPts val="0"/>
              </a:spcAft>
            </a:pPr>
            <a:r>
              <a:rPr sz="2460" b="0">
                <a:solidFill>
                  <a:srgbClr val="13795B"/>
                </a:solidFill>
                <a:latin typeface="Segoe UI"/>
              </a:rPr>
              <a:t>Build ready.</a:t>
            </a:r>
          </a:p>
        </p:txBody>
      </p:sp>
      <p:sp>
        <p:nvSpPr>
          <p:cNvPr id="21" name="TextBox 20"/>
          <p:cNvSpPr txBox="1"/>
          <p:nvPr/>
        </p:nvSpPr>
        <p:spPr>
          <a:xfrm>
            <a:off x="7894320" y="3741420"/>
            <a:ext cx="3429000" cy="419557"/>
          </a:xfrm>
          <a:prstGeom prst="rect">
            <a:avLst/>
          </a:prstGeom>
          <a:noFill/>
        </p:spPr>
        <p:txBody>
          <a:bodyPr wrap="none" tIns="0" bIns="0" lIns="0" rIns="0">
            <a:spAutoFit/>
          </a:bodyPr>
          <a:lstStyle/>
          <a:p>
            <a:pPr algn="l">
              <a:lnSpc>
                <a:spcPts val="3063"/>
              </a:lnSpc>
              <a:spcBef>
                <a:spcPts val="0"/>
              </a:spcBef>
              <a:spcAft>
                <a:spcPts val="0"/>
              </a:spcAft>
            </a:pPr>
            <a:r>
              <a:rPr sz="2220" b="0">
                <a:solidFill>
                  <a:srgbClr val="A14400"/>
                </a:solidFill>
                <a:latin typeface="Segoe UI"/>
              </a:rPr>
              <a:t>Evidence pending.</a:t>
            </a:r>
          </a:p>
        </p:txBody>
      </p:sp>
      <p:sp>
        <p:nvSpPr>
          <p:cNvPr id="22" name="TextBox 21"/>
          <p:cNvSpPr txBox="1"/>
          <p:nvPr/>
        </p:nvSpPr>
        <p:spPr>
          <a:xfrm>
            <a:off x="7894320" y="4792980"/>
            <a:ext cx="3429000" cy="535228"/>
          </a:xfrm>
          <a:prstGeom prst="rect">
            <a:avLst/>
          </a:prstGeom>
          <a:noFill/>
        </p:spPr>
        <p:txBody>
          <a:bodyPr wrap="none" tIns="0" bIns="0" lIns="0" rIns="0">
            <a:spAutoFit/>
          </a:bodyPr>
          <a:lstStyle/>
          <a:p>
            <a:pPr algn="l">
              <a:lnSpc>
                <a:spcPts val="1987"/>
              </a:lnSpc>
              <a:spcBef>
                <a:spcPts val="0"/>
              </a:spcBef>
              <a:spcAft>
                <a:spcPts val="0"/>
              </a:spcAft>
            </a:pPr>
            <a:r>
              <a:rPr sz="1439" b="0">
                <a:solidFill>
                  <a:srgbClr val="5F6368"/>
                </a:solidFill>
                <a:latin typeface="Segoe UI"/>
              </a:rPr>
              <a:t>Keep sessions and profiles</a:t>
            </a:r>
          </a:p>
          <a:p>
            <a:pPr algn="l">
              <a:lnSpc>
                <a:spcPts val="1987"/>
              </a:lnSpc>
              <a:spcBef>
                <a:spcPts val="0"/>
              </a:spcBef>
              <a:spcAft>
                <a:spcPts val="0"/>
              </a:spcAft>
            </a:pPr>
            <a:r>
              <a:rPr sz="1439" b="0">
                <a:solidFill>
                  <a:srgbClr val="5F6368"/>
                </a:solidFill>
                <a:latin typeface="Segoe UI"/>
              </a:rPr>
              <a:t>out of this validation round.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txBody>
          <a:bodyPr rtlCol="0" anchor="ctr"/>
          <a:lstStyle/>
          <a:p>
            <a:pPr algn="ctr"/>
          </a:p>
        </p:txBody>
      </p:sp>
      <p:sp>
        <p:nvSpPr>
          <p:cNvPr id="3" name="TextBox 2"/>
          <p:cNvSpPr txBox="1"/>
          <p:nvPr/>
        </p:nvSpPr>
        <p:spPr>
          <a:xfrm>
            <a:off x="548640" y="304800"/>
            <a:ext cx="9144000" cy="198729"/>
          </a:xfrm>
          <a:prstGeom prst="rect">
            <a:avLst/>
          </a:prstGeom>
          <a:noFill/>
        </p:spPr>
        <p:txBody>
          <a:bodyPr wrap="none" tIns="0" bIns="0" lIns="0" rIns="0">
            <a:spAutoFit/>
          </a:bodyPr>
          <a:lstStyle/>
          <a:p>
            <a:pPr algn="l">
              <a:lnSpc>
                <a:spcPts val="1324"/>
              </a:lnSpc>
              <a:spcBef>
                <a:spcPts val="0"/>
              </a:spcBef>
              <a:spcAft>
                <a:spcPts val="0"/>
              </a:spcAft>
            </a:pPr>
            <a:r>
              <a:rPr sz="960" b="0">
                <a:solidFill>
                  <a:srgbClr val="5F6368"/>
                </a:solidFill>
                <a:latin typeface="Segoe UI"/>
              </a:rPr>
              <a:t>MATHIFY   /   APPENDIX</a:t>
            </a:r>
          </a:p>
        </p:txBody>
      </p:sp>
      <p:sp>
        <p:nvSpPr>
          <p:cNvPr id="4" name="TextBox 3"/>
          <p:cNvSpPr txBox="1"/>
          <p:nvPr/>
        </p:nvSpPr>
        <p:spPr>
          <a:xfrm>
            <a:off x="548640" y="762000"/>
            <a:ext cx="11094720" cy="556260"/>
          </a:xfrm>
          <a:prstGeom prst="rect">
            <a:avLst/>
          </a:prstGeom>
          <a:noFill/>
        </p:spPr>
        <p:txBody>
          <a:bodyPr wrap="none" tIns="0" bIns="0" lIns="0" rIns="0">
            <a:spAutoFit/>
          </a:bodyPr>
          <a:lstStyle/>
          <a:p>
            <a:pPr algn="l">
              <a:lnSpc>
                <a:spcPts val="4140"/>
              </a:lnSpc>
              <a:spcBef>
                <a:spcPts val="0"/>
              </a:spcBef>
              <a:spcAft>
                <a:spcPts val="0"/>
              </a:spcAft>
            </a:pPr>
            <a:r>
              <a:rPr sz="3000" b="0">
                <a:solidFill>
                  <a:srgbClr val="202124"/>
                </a:solidFill>
                <a:latin typeface="Segoe UI"/>
              </a:rPr>
              <a:t>Sources, scope, and design references.</a:t>
            </a:r>
          </a:p>
        </p:txBody>
      </p:sp>
      <p:cxnSp>
        <p:nvCxnSpPr>
          <p:cNvPr id="5" name="Connector 4"/>
          <p:cNvCxnSpPr/>
          <p:nvPr/>
        </p:nvCxnSpPr>
        <p:spPr>
          <a:xfrm>
            <a:off x="548640" y="6316980"/>
            <a:ext cx="11094720" cy="0"/>
          </a:xfrm>
          <a:prstGeom prst="line">
            <a:avLst/>
          </a:prstGeom>
          <a:ln w="15240">
            <a:solidFill>
              <a:srgbClr val="DADCE0"/>
            </a:solidFill>
          </a:ln>
        </p:spPr>
      </p:cxnSp>
      <p:sp>
        <p:nvSpPr>
          <p:cNvPr id="6" name="TextBox 5"/>
          <p:cNvSpPr txBox="1"/>
          <p:nvPr/>
        </p:nvSpPr>
        <p:spPr>
          <a:xfrm>
            <a:off x="548640" y="6454140"/>
            <a:ext cx="1013460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CSC308  /  Stakeholder review  /  November 2026</a:t>
            </a:r>
          </a:p>
        </p:txBody>
      </p:sp>
      <p:sp>
        <p:nvSpPr>
          <p:cNvPr id="7" name="TextBox 6"/>
          <p:cNvSpPr txBox="1"/>
          <p:nvPr/>
        </p:nvSpPr>
        <p:spPr>
          <a:xfrm>
            <a:off x="11201400" y="6454140"/>
            <a:ext cx="441960" cy="188214"/>
          </a:xfrm>
          <a:prstGeom prst="rect">
            <a:avLst/>
          </a:prstGeom>
          <a:noFill/>
        </p:spPr>
        <p:txBody>
          <a:bodyPr wrap="none" tIns="0" bIns="0" lIns="0" rIns="0">
            <a:spAutoFit/>
          </a:bodyPr>
          <a:lstStyle/>
          <a:p>
            <a:pPr algn="l">
              <a:lnSpc>
                <a:spcPts val="1241"/>
              </a:lnSpc>
              <a:spcBef>
                <a:spcPts val="0"/>
              </a:spcBef>
              <a:spcAft>
                <a:spcPts val="0"/>
              </a:spcAft>
            </a:pPr>
            <a:r>
              <a:rPr sz="900" b="0">
                <a:solidFill>
                  <a:srgbClr val="5F6368"/>
                </a:solidFill>
                <a:latin typeface="Segoe UI"/>
              </a:rPr>
              <a:t>12</a:t>
            </a:r>
          </a:p>
        </p:txBody>
      </p:sp>
      <p:sp>
        <p:nvSpPr>
          <p:cNvPr id="8" name="TextBox 7"/>
          <p:cNvSpPr txBox="1"/>
          <p:nvPr/>
        </p:nvSpPr>
        <p:spPr>
          <a:xfrm>
            <a:off x="548640" y="2057400"/>
            <a:ext cx="52578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PRODUCT EVIDENCE</a:t>
            </a:r>
          </a:p>
        </p:txBody>
      </p:sp>
      <p:sp>
        <p:nvSpPr>
          <p:cNvPr id="9" name="TextBox 8"/>
          <p:cNvSpPr txBox="1"/>
          <p:nvPr/>
        </p:nvSpPr>
        <p:spPr>
          <a:xfrm>
            <a:off x="548640" y="2491740"/>
            <a:ext cx="5257800" cy="314401"/>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202124"/>
                </a:solidFill>
                <a:latin typeface="Segoe UI"/>
              </a:rPr>
              <a:t>EEF, 2021</a:t>
            </a:r>
          </a:p>
        </p:txBody>
      </p:sp>
      <p:sp>
        <p:nvSpPr>
          <p:cNvPr id="10" name="TextBox 9"/>
          <p:cNvSpPr txBox="1"/>
          <p:nvPr/>
        </p:nvSpPr>
        <p:spPr>
          <a:xfrm>
            <a:off x="548640" y="2819400"/>
            <a:ext cx="52578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Formative assessment and feedback rationale.</a:t>
            </a:r>
          </a:p>
        </p:txBody>
      </p:sp>
      <p:sp>
        <p:nvSpPr>
          <p:cNvPr id="11" name="TextBox 10"/>
          <p:cNvSpPr txBox="1"/>
          <p:nvPr/>
        </p:nvSpPr>
        <p:spPr>
          <a:xfrm>
            <a:off x="548640" y="3375660"/>
            <a:ext cx="5257800" cy="314401"/>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202124"/>
                </a:solidFill>
                <a:latin typeface="Segoe UI"/>
              </a:rPr>
              <a:t>Wei et al., 2022</a:t>
            </a:r>
          </a:p>
        </p:txBody>
      </p:sp>
      <p:sp>
        <p:nvSpPr>
          <p:cNvPr id="12" name="TextBox 11"/>
          <p:cNvSpPr txBox="1"/>
          <p:nvPr/>
        </p:nvSpPr>
        <p:spPr>
          <a:xfrm>
            <a:off x="548640" y="3703320"/>
            <a:ext cx="52578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Model reasoning research, not learner outcomes.</a:t>
            </a:r>
          </a:p>
        </p:txBody>
      </p:sp>
      <p:sp>
        <p:nvSpPr>
          <p:cNvPr id="13" name="TextBox 12"/>
          <p:cNvSpPr txBox="1"/>
          <p:nvPr/>
        </p:nvSpPr>
        <p:spPr>
          <a:xfrm>
            <a:off x="548640" y="4259580"/>
            <a:ext cx="5257800" cy="314401"/>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202124"/>
                </a:solidFill>
                <a:latin typeface="Segoe UI"/>
              </a:rPr>
              <a:t>Ontario MTH1W</a:t>
            </a:r>
          </a:p>
        </p:txBody>
      </p:sp>
      <p:sp>
        <p:nvSpPr>
          <p:cNvPr id="14" name="TextBox 13"/>
          <p:cNvSpPr txBox="1"/>
          <p:nvPr/>
        </p:nvSpPr>
        <p:spPr>
          <a:xfrm>
            <a:off x="548640" y="4587240"/>
            <a:ext cx="52578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Curriculum context, not textbook verification.</a:t>
            </a:r>
          </a:p>
        </p:txBody>
      </p:sp>
      <p:sp>
        <p:nvSpPr>
          <p:cNvPr id="15" name="TextBox 14"/>
          <p:cNvSpPr txBox="1"/>
          <p:nvPr/>
        </p:nvSpPr>
        <p:spPr>
          <a:xfrm>
            <a:off x="548640" y="5143500"/>
            <a:ext cx="5257800" cy="314401"/>
          </a:xfrm>
          <a:prstGeom prst="rect">
            <a:avLst/>
          </a:prstGeom>
          <a:noFill/>
        </p:spPr>
        <p:txBody>
          <a:bodyPr wrap="none" tIns="0" bIns="0" lIns="0" rIns="0">
            <a:spAutoFit/>
          </a:bodyPr>
          <a:lstStyle/>
          <a:p>
            <a:pPr algn="l">
              <a:lnSpc>
                <a:spcPts val="2235"/>
              </a:lnSpc>
              <a:spcBef>
                <a:spcPts val="0"/>
              </a:spcBef>
              <a:spcAft>
                <a:spcPts val="0"/>
              </a:spcAft>
            </a:pPr>
            <a:r>
              <a:rPr sz="1620" b="0">
                <a:solidFill>
                  <a:srgbClr val="202124"/>
                </a:solidFill>
                <a:latin typeface="Segoe UI"/>
              </a:rPr>
              <a:t>Local verification</a:t>
            </a:r>
          </a:p>
        </p:txBody>
      </p:sp>
      <p:sp>
        <p:nvSpPr>
          <p:cNvPr id="16" name="TextBox 15"/>
          <p:cNvSpPr txBox="1"/>
          <p:nvPr/>
        </p:nvSpPr>
        <p:spPr>
          <a:xfrm>
            <a:off x="548640" y="5471160"/>
            <a:ext cx="5257800" cy="251307"/>
          </a:xfrm>
          <a:prstGeom prst="rect">
            <a:avLst/>
          </a:prstGeom>
          <a:noFill/>
        </p:spPr>
        <p:txBody>
          <a:bodyPr wrap="none" tIns="0" bIns="0" lIns="0" rIns="0">
            <a:spAutoFit/>
          </a:bodyPr>
          <a:lstStyle/>
          <a:p>
            <a:pPr algn="l">
              <a:lnSpc>
                <a:spcPts val="1738"/>
              </a:lnSpc>
              <a:spcBef>
                <a:spcPts val="0"/>
              </a:spcBef>
              <a:spcAft>
                <a:spcPts val="0"/>
              </a:spcAft>
            </a:pPr>
            <a:r>
              <a:rPr sz="1260" b="0">
                <a:solidFill>
                  <a:srgbClr val="5F6368"/>
                </a:solidFill>
                <a:latin typeface="Segoe UI"/>
              </a:rPr>
              <a:t>Mock tests, reference maths, and browser flows.</a:t>
            </a:r>
          </a:p>
        </p:txBody>
      </p:sp>
      <p:cxnSp>
        <p:nvCxnSpPr>
          <p:cNvPr id="17" name="Connector 16"/>
          <p:cNvCxnSpPr/>
          <p:nvPr/>
        </p:nvCxnSpPr>
        <p:spPr>
          <a:xfrm>
            <a:off x="6179820" y="2057400"/>
            <a:ext cx="0" cy="3931920"/>
          </a:xfrm>
          <a:prstGeom prst="line">
            <a:avLst/>
          </a:prstGeom>
          <a:ln w="15240">
            <a:solidFill>
              <a:srgbClr val="DADCE0"/>
            </a:solidFill>
          </a:ln>
        </p:spPr>
      </p:cxnSp>
      <p:sp>
        <p:nvSpPr>
          <p:cNvPr id="18" name="TextBox 17"/>
          <p:cNvSpPr txBox="1"/>
          <p:nvPr/>
        </p:nvSpPr>
        <p:spPr>
          <a:xfrm>
            <a:off x="6629400" y="2057400"/>
            <a:ext cx="5029200" cy="219760"/>
          </a:xfrm>
          <a:prstGeom prst="rect">
            <a:avLst/>
          </a:prstGeom>
          <a:noFill/>
        </p:spPr>
        <p:txBody>
          <a:bodyPr wrap="none" tIns="0" bIns="0" lIns="0" rIns="0">
            <a:spAutoFit/>
          </a:bodyPr>
          <a:lstStyle/>
          <a:p>
            <a:pPr algn="l">
              <a:lnSpc>
                <a:spcPts val="1490"/>
              </a:lnSpc>
              <a:spcBef>
                <a:spcPts val="0"/>
              </a:spcBef>
              <a:spcAft>
                <a:spcPts val="0"/>
              </a:spcAft>
            </a:pPr>
            <a:r>
              <a:rPr sz="1080" b="0">
                <a:solidFill>
                  <a:srgbClr val="1A73E8"/>
                </a:solidFill>
                <a:latin typeface="Segoe UI"/>
              </a:rPr>
              <a:t>DESIGN REFERENCES + ATTRIBUTION</a:t>
            </a:r>
          </a:p>
        </p:txBody>
      </p:sp>
      <p:sp>
        <p:nvSpPr>
          <p:cNvPr id="19" name="TextBox 18"/>
          <p:cNvSpPr txBox="1"/>
          <p:nvPr/>
        </p:nvSpPr>
        <p:spPr>
          <a:xfrm>
            <a:off x="6629400" y="2491740"/>
            <a:ext cx="5013960" cy="293370"/>
          </a:xfrm>
          <a:prstGeom prst="rect">
            <a:avLst/>
          </a:prstGeom>
          <a:noFill/>
        </p:spPr>
        <p:txBody>
          <a:bodyPr wrap="none" tIns="0" bIns="0" lIns="0" rIns="0">
            <a:spAutoFit/>
          </a:bodyPr>
          <a:lstStyle/>
          <a:p>
            <a:pPr algn="l">
              <a:lnSpc>
                <a:spcPts val="2070"/>
              </a:lnSpc>
              <a:spcBef>
                <a:spcPts val="0"/>
              </a:spcBef>
              <a:spcAft>
                <a:spcPts val="0"/>
              </a:spcAft>
            </a:pPr>
            <a:r>
              <a:rPr sz="1500" b="0">
                <a:solidFill>
                  <a:srgbClr val="202124"/>
                </a:solidFill>
                <a:latin typeface="Segoe UI"/>
              </a:rPr>
              <a:t>Google Cloud public deck, 2020</a:t>
            </a:r>
          </a:p>
        </p:txBody>
      </p:sp>
      <p:sp>
        <p:nvSpPr>
          <p:cNvPr id="20" name="TextBox 19"/>
          <p:cNvSpPr txBox="1"/>
          <p:nvPr/>
        </p:nvSpPr>
        <p:spPr>
          <a:xfrm>
            <a:off x="6629400" y="2819400"/>
            <a:ext cx="501396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Hierarchy, whitespace, and diagram-led layouts.</a:t>
            </a:r>
          </a:p>
        </p:txBody>
      </p:sp>
      <p:sp>
        <p:nvSpPr>
          <p:cNvPr id="21" name="TextBox 20"/>
          <p:cNvSpPr txBox="1"/>
          <p:nvPr/>
        </p:nvSpPr>
        <p:spPr>
          <a:xfrm>
            <a:off x="6629400" y="3375660"/>
            <a:ext cx="5013960" cy="293370"/>
          </a:xfrm>
          <a:prstGeom prst="rect">
            <a:avLst/>
          </a:prstGeom>
          <a:noFill/>
        </p:spPr>
        <p:txBody>
          <a:bodyPr wrap="none" tIns="0" bIns="0" lIns="0" rIns="0">
            <a:spAutoFit/>
          </a:bodyPr>
          <a:lstStyle/>
          <a:p>
            <a:pPr algn="l">
              <a:lnSpc>
                <a:spcPts val="2070"/>
              </a:lnSpc>
              <a:spcBef>
                <a:spcPts val="0"/>
              </a:spcBef>
              <a:spcAft>
                <a:spcPts val="0"/>
              </a:spcAft>
            </a:pPr>
            <a:r>
              <a:rPr sz="1500" b="0">
                <a:solidFill>
                  <a:srgbClr val="202124"/>
                </a:solidFill>
                <a:latin typeface="Segoe UI"/>
              </a:rPr>
              <a:t>Sparks / Google Cloud Next</a:t>
            </a:r>
          </a:p>
        </p:txBody>
      </p:sp>
      <p:sp>
        <p:nvSpPr>
          <p:cNvPr id="22" name="TextBox 21"/>
          <p:cNvSpPr txBox="1"/>
          <p:nvPr/>
        </p:nvSpPr>
        <p:spPr>
          <a:xfrm>
            <a:off x="6629400" y="3703320"/>
            <a:ext cx="501396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A coherent visual system for complex ideas.</a:t>
            </a:r>
          </a:p>
        </p:txBody>
      </p:sp>
      <p:sp>
        <p:nvSpPr>
          <p:cNvPr id="23" name="TextBox 22"/>
          <p:cNvSpPr txBox="1"/>
          <p:nvPr/>
        </p:nvSpPr>
        <p:spPr>
          <a:xfrm>
            <a:off x="6629400" y="4259580"/>
            <a:ext cx="5013960" cy="293370"/>
          </a:xfrm>
          <a:prstGeom prst="rect">
            <a:avLst/>
          </a:prstGeom>
          <a:noFill/>
        </p:spPr>
        <p:txBody>
          <a:bodyPr wrap="none" tIns="0" bIns="0" lIns="0" rIns="0">
            <a:spAutoFit/>
          </a:bodyPr>
          <a:lstStyle/>
          <a:p>
            <a:pPr algn="l">
              <a:lnSpc>
                <a:spcPts val="2070"/>
              </a:lnSpc>
              <a:spcBef>
                <a:spcPts val="0"/>
              </a:spcBef>
              <a:spcAft>
                <a:spcPts val="0"/>
              </a:spcAft>
            </a:pPr>
            <a:r>
              <a:rPr sz="1500" b="0">
                <a:solidFill>
                  <a:srgbClr val="202124"/>
                </a:solidFill>
                <a:latin typeface="Segoe UI"/>
              </a:rPr>
              <a:t>Original Mathify compositions</a:t>
            </a:r>
          </a:p>
        </p:txBody>
      </p:sp>
      <p:sp>
        <p:nvSpPr>
          <p:cNvPr id="24" name="TextBox 23"/>
          <p:cNvSpPr txBox="1"/>
          <p:nvPr/>
        </p:nvSpPr>
        <p:spPr>
          <a:xfrm>
            <a:off x="6629400" y="4587240"/>
            <a:ext cx="501396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Native diagrams and synthetic UI screenshots.</a:t>
            </a:r>
          </a:p>
        </p:txBody>
      </p:sp>
      <p:sp>
        <p:nvSpPr>
          <p:cNvPr id="25" name="TextBox 24"/>
          <p:cNvSpPr txBox="1"/>
          <p:nvPr/>
        </p:nvSpPr>
        <p:spPr>
          <a:xfrm>
            <a:off x="6629400" y="5143500"/>
            <a:ext cx="5013960" cy="293370"/>
          </a:xfrm>
          <a:prstGeom prst="rect">
            <a:avLst/>
          </a:prstGeom>
          <a:noFill/>
        </p:spPr>
        <p:txBody>
          <a:bodyPr wrap="none" tIns="0" bIns="0" lIns="0" rIns="0">
            <a:spAutoFit/>
          </a:bodyPr>
          <a:lstStyle/>
          <a:p>
            <a:pPr algn="l">
              <a:lnSpc>
                <a:spcPts val="2070"/>
              </a:lnSpc>
              <a:spcBef>
                <a:spcPts val="0"/>
              </a:spcBef>
              <a:spcAft>
                <a:spcPts val="0"/>
              </a:spcAft>
            </a:pPr>
            <a:r>
              <a:rPr sz="1500" b="0">
                <a:solidFill>
                  <a:srgbClr val="202124"/>
                </a:solidFill>
                <a:latin typeface="Segoe UI"/>
              </a:rPr>
              <a:t>Beatrice / SlidesCarnival / CC BY 4.0</a:t>
            </a:r>
          </a:p>
        </p:txBody>
      </p:sp>
      <p:sp>
        <p:nvSpPr>
          <p:cNvPr id="26" name="TextBox 25"/>
          <p:cNvSpPr txBox="1"/>
          <p:nvPr/>
        </p:nvSpPr>
        <p:spPr>
          <a:xfrm>
            <a:off x="6629400" y="5471160"/>
            <a:ext cx="5013960" cy="240791"/>
          </a:xfrm>
          <a:prstGeom prst="rect">
            <a:avLst/>
          </a:prstGeom>
          <a:noFill/>
        </p:spPr>
        <p:txBody>
          <a:bodyPr wrap="none" tIns="0" bIns="0" lIns="0" rIns="0">
            <a:spAutoFit/>
          </a:bodyPr>
          <a:lstStyle/>
          <a:p>
            <a:pPr algn="l">
              <a:lnSpc>
                <a:spcPts val="1655"/>
              </a:lnSpc>
              <a:spcBef>
                <a:spcPts val="0"/>
              </a:spcBef>
              <a:spcAft>
                <a:spcPts val="0"/>
              </a:spcAft>
            </a:pPr>
            <a:r>
              <a:rPr sz="1200" b="0">
                <a:solidFill>
                  <a:srgbClr val="5F6368"/>
                </a:solidFill>
                <a:latin typeface="Segoe UI"/>
              </a:rPr>
              <a:t>Template lineage retained. No Google endorsement.</a:t>
            </a:r>
          </a:p>
        </p:txBody>
      </p:sp>
    </p:spTree>
  </p:cSld>
  <p:clrMapOvr>
    <a:masterClrMapping/>
  </p:clrMapOvr>
</p:sld>
</file>

<file path=ppt/theme/theme1.xml><?xml version="1.0" encoding="utf-8"?>
<a:theme xmlns:a="http://schemas.openxmlformats.org/drawingml/2006/main" xmlns:r="http://schemas.openxmlformats.org/officeDocument/2006/relationships" name="Beatrice template">
  <a:themeElements>
    <a:clrScheme name="Custom 347">
      <a:dk1>
        <a:srgbClr val="1D1D1B"/>
      </a:dk1>
      <a:lt1>
        <a:srgbClr val="F3EFEA"/>
      </a:lt1>
      <a:dk2>
        <a:srgbClr val="434343"/>
      </a:dk2>
      <a:lt2>
        <a:srgbClr val="FFFFFF"/>
      </a:lt2>
      <a:accent1>
        <a:srgbClr val="8F7B87"/>
      </a:accent1>
      <a:accent2>
        <a:srgbClr val="A797A1"/>
      </a:accent2>
      <a:accent3>
        <a:srgbClr val="C0B5BC"/>
      </a:accent3>
      <a:accent4>
        <a:srgbClr val="E4DDE1"/>
      </a:accent4>
      <a:accent5>
        <a:srgbClr val="EFECED"/>
      </a:accent5>
      <a:accent6>
        <a:srgbClr val="F3EFEA"/>
      </a:accent6>
      <a:hlink>
        <a:srgbClr val="1D1D1B"/>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Mathify: stakeholder product review</dc:title>
  <cp:lastModifiedBy>python-pptx</cp:lastModifiedBy>
  <cp:revision>1</cp:revision>
  <dcterms:modified xsi:type="dcterms:W3CDTF">2026-11-01T04:45:52Z</dcterms:modified>
  <dc:subject>Research rationale, traceable handoff, and validation plan. Zero tutor responses.</dc:subject>
  <dc:creator>Mathify project team</dc:creator>
  <dc:description>Original layouts. Beatrice template lineage by SlidesCarnival, CC BY 4.0. Google design references only; no endorsement.</dc:description>
</cp:coreProperties>
</file>