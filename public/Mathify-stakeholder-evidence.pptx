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4"/>
  </p:sldMasterIdLst>
  <p:notesMasterIdLst>
    <p:notesMasterId r:id="rId5"/>
  </p:notesMasterIdLst>
  <p:sldIdLst>
    <p:sldId id="256" r:id="rId6"/>
    <p:sldId id="280" r:id="rId16"/>
    <p:sldId id="281" r:id="rId17"/>
    <p:sldId id="282" r:id="rId18"/>
    <p:sldId id="283" r:id="rId19"/>
    <p:sldId id="284" r:id="rId20"/>
    <p:sldId id="285" r:id="rId21"/>
    <p:sldId id="286" r:id="rId22"/>
    <p:sldId id="289" r:id="rId25"/>
    <p:sldId id="287" r:id="rId23"/>
    <p:sldId id="288" r:id="rId24"/>
    <p:sldId id="290" r:id="rId26"/>
    <p:sldId id="279" r:id="rId29"/>
  </p:sldIdLst>
  <p:sldSz cy="5143500" cx="9144000"/>
  <p:notesSz cx="6858000" cy="9144000"/>
  <p:embeddedFontLst>
    <p:embeddedFont>
      <p:font typeface="Montserrat"/>
      <p:regular r:id="rId45"/>
      <p:bold r:id="rId46"/>
      <p:italic r:id="rId47"/>
      <p:boldItalic r:id="rId48"/>
    </p:embeddedFont>
    <p:embeddedFont>
      <p:font typeface="PT Serif"/>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4EEC15-A9DF-411B-84D9-FE5B546B08F0}">
  <a:tblStyle styleId="{4E4EEC15-A9DF-411B-84D9-FE5B546B08F0}"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6D7A6AC-8C31-4B84-A4D2-314A5D9CE93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9.xml"/><Relationship Id="rId26" Type="http://schemas.openxmlformats.org/officeDocument/2006/relationships/slide" Target="slides/slide12.xml"/><Relationship Id="rId29" Type="http://schemas.openxmlformats.org/officeDocument/2006/relationships/slide" Target="slides/slide13.xml"/><Relationship Id="rId45" Type="http://schemas.openxmlformats.org/officeDocument/2006/relationships/font" Target="fonts/Montserrat-regular.fntdata"/><Relationship Id="rId46" Type="http://schemas.openxmlformats.org/officeDocument/2006/relationships/font" Target="fonts/Montserrat-bold.fntdata"/><Relationship Id="rId47" Type="http://schemas.openxmlformats.org/officeDocument/2006/relationships/font" Target="fonts/Montserrat-italic.fntdata"/><Relationship Id="rId48" Type="http://schemas.openxmlformats.org/officeDocument/2006/relationships/font" Target="fonts/Montserrat-boldItalic.fntdata"/><Relationship Id="rId49" Type="http://schemas.openxmlformats.org/officeDocument/2006/relationships/font" Target="fonts/PTSerif-regular.fntdata"/><Relationship Id="rId50" Type="http://schemas.openxmlformats.org/officeDocument/2006/relationships/font" Target="fonts/PTSerif-bold.fntdata"/><Relationship Id="rId51" Type="http://schemas.openxmlformats.org/officeDocument/2006/relationships/font" Target="fonts/PTSerif-italic.fntdata"/><Relationship Id="rId52" Type="http://schemas.openxmlformats.org/officeDocument/2006/relationships/font" Target="fonts/PTSerif-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Opening: we are not claiming this prototype improves grades or saves a measured amount of time. We are showing why the design is reasonable, what we have verified, and the evidence needed for a supervised trial. This deck is static, authored content: no model calls, generated charts, external scripts, or runtime dependencies.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target comes from project planning, not a published measured improvement. Early submission is supported; unreached probes are not marked wrong. The current brief previews whiteboard work but does not automatically diagnose that work. Sessions, learner profiles, auth, and live tutor connections remain outside this demo.</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strongest direct educational rationale in the deck. The guidance is about classroom feedback, not a trial of our AI system or an Ontario tutoring queue. We are translating a principle into a prototype; transfer to this setting still requires evaluation.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distractor is informative because it preserves the x term but fails to multiply the constant. That is a hypothesis about the response, not a diagnosis. Ask the learner to explain their choice. Other explanations include a slip, misreading, or guessing. The full app has four options; this slide shows the selected option and key only to keep the story clear.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Correcting a simpler item is useful, but reducing 3 to 1 is only a modest difficulty adjustment; we have not calibrated these questions psychometrically. The tutor may need a representation or explanation, not another multiple-choice question. This example illustrates the implemented branch, not its measured educational benefit.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current design requests prerequisite steps; it is not an exact replication of the published few-shot chain-of-thought experiments. Do not say our model achieved the paper's benchmark scores. An incorrect constrained-decoding citation was removed from the draft after checking its actual arXiv title. We do not reproduce private model reasoning for students.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reviewer is a second call through the same provider, not necessarily a different model. To test it, include clean controls and known wrong keys, duplicate valid options, off-topic probes, and revealing hints. Measure detection and false flags. No live benchmark was executed in this session because no API credential is available.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engineering tests, not 111 students or 111 independently validated generated probes. The two handoff flows use synthetic inputs; the third test checks the presentation. None establishes diagnostic accuracy or learner benefit. Full offline suite: 111 tests in 16 files passed November 1. Run with a compatible Node 22 runtime; npm run test:e2e performs a production build before its three tests.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external questionnaire uses early mockups, while the current UI has evolved. Confirm preferences against this version. For a walkthrough, use matched synthetic cases and counterbalance with/without-brief order. Include early submission and whiteboard-only work; the correct response may be “insufficient probe evidence.” Record the denominator, missing responses, comments, and disagreements. Test-submitted feedback is not a tutor response.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Proposed gate: no unresolved answer-key errors in the reviewed sample, documented reviewer failure rates, and an agreed timing/comprehension criterion. These gates have not been achieved. Keep sessions/history, persistent profiles, authentication, and public deployment separate. Real learner data requires privacy, consent, and access-control work beyond this local prototype.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Independent arithmetic/algebra regression checks accompany these answers. This small, familiar set is an exploratory starting point, not representative coverage of Ontario mathematics. Retain full artifacts and score every main/easier probe for correctness, unique key, concept alignment, distractor quality, and non-revealing hints. Do not substitute topic matching or step counts for that review. Verify exact curriculum alignment with an educator.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Supporting methodology is in docs/prompt-research.md; source code and tests are in the repository. No invented survey percentages, model success rates, or effect-size transfer is used. Sources were checked online; the draft's unrelated arXiv citation was excluded. Speaker notes hold caveats so the visible slides remain concise.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5ed75ccf_0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5ed75ccf_0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Original template credits retained. Content, layout, and typography adapted. CC BY 4.0: https://creativecommons.org/licenses/by/4.0/ . Terms: https://www.slidescarnival.com/terms-of-use . No endorsement implied.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634275" y="1839413"/>
            <a:ext cx="7888800" cy="1159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cxnSp>
        <p:nvCxnSpPr>
          <p:cNvPr id="11" name="Google Shape;11;p2"/>
          <p:cNvCxnSpPr/>
          <p:nvPr/>
        </p:nvCxnSpPr>
        <p:spPr>
          <a:xfrm rot="10800000">
            <a:off x="2588100" y="3488719"/>
            <a:ext cx="3967800" cy="0"/>
          </a:xfrm>
          <a:prstGeom prst="straightConnector1">
            <a:avLst/>
          </a:prstGeom>
          <a:noFill/>
          <a:ln cap="flat" cmpd="sng" w="9525">
            <a:solidFill>
              <a:schemeClr val="lt1"/>
            </a:solidFill>
            <a:prstDash val="solid"/>
            <a:round/>
            <a:headEnd len="med" w="med" type="oval"/>
            <a:tailEnd len="med" w="med" type="oval"/>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2" name="Shape 12"/>
        <p:cNvGrpSpPr/>
        <p:nvPr/>
      </p:nvGrpSpPr>
      <p:grpSpPr>
        <a:xfrm>
          <a:off x="0" y="0"/>
          <a:ext cx="0" cy="0"/>
          <a:chOff x="0" y="0"/>
          <a:chExt cx="0" cy="0"/>
        </a:xfrm>
      </p:grpSpPr>
      <p:sp>
        <p:nvSpPr>
          <p:cNvPr id="13" name="Google Shape;13;p3"/>
          <p:cNvSpPr txBox="1"/>
          <p:nvPr>
            <p:ph type="ctrTitle"/>
          </p:nvPr>
        </p:nvSpPr>
        <p:spPr>
          <a:xfrm>
            <a:off x="2600500" y="2040544"/>
            <a:ext cx="5857800" cy="1159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600"/>
              <a:buNone/>
              <a:defRPr sz="3600"/>
            </a:lvl1pPr>
            <a:lvl2pPr lvl="1" rtl="0" algn="l">
              <a:spcBef>
                <a:spcPts val="0"/>
              </a:spcBef>
              <a:spcAft>
                <a:spcPts val="0"/>
              </a:spcAft>
              <a:buSzPts val="3600"/>
              <a:buNone/>
              <a:defRPr sz="3600"/>
            </a:lvl2pPr>
            <a:lvl3pPr lvl="2" rtl="0" algn="l">
              <a:spcBef>
                <a:spcPts val="0"/>
              </a:spcBef>
              <a:spcAft>
                <a:spcPts val="0"/>
              </a:spcAft>
              <a:buSzPts val="3600"/>
              <a:buNone/>
              <a:defRPr sz="3600"/>
            </a:lvl3pPr>
            <a:lvl4pPr lvl="3" rtl="0" algn="l">
              <a:spcBef>
                <a:spcPts val="0"/>
              </a:spcBef>
              <a:spcAft>
                <a:spcPts val="0"/>
              </a:spcAft>
              <a:buSzPts val="3600"/>
              <a:buNone/>
              <a:defRPr sz="3600"/>
            </a:lvl4pPr>
            <a:lvl5pPr lvl="4" rtl="0" algn="l">
              <a:spcBef>
                <a:spcPts val="0"/>
              </a:spcBef>
              <a:spcAft>
                <a:spcPts val="0"/>
              </a:spcAft>
              <a:buSzPts val="3600"/>
              <a:buNone/>
              <a:defRPr sz="3600"/>
            </a:lvl5pPr>
            <a:lvl6pPr lvl="5" rtl="0" algn="l">
              <a:spcBef>
                <a:spcPts val="0"/>
              </a:spcBef>
              <a:spcAft>
                <a:spcPts val="0"/>
              </a:spcAft>
              <a:buSzPts val="3600"/>
              <a:buNone/>
              <a:defRPr sz="3600"/>
            </a:lvl6pPr>
            <a:lvl7pPr lvl="6" rtl="0" algn="l">
              <a:spcBef>
                <a:spcPts val="0"/>
              </a:spcBef>
              <a:spcAft>
                <a:spcPts val="0"/>
              </a:spcAft>
              <a:buSzPts val="3600"/>
              <a:buNone/>
              <a:defRPr sz="3600"/>
            </a:lvl7pPr>
            <a:lvl8pPr lvl="7" rtl="0" algn="l">
              <a:spcBef>
                <a:spcPts val="0"/>
              </a:spcBef>
              <a:spcAft>
                <a:spcPts val="0"/>
              </a:spcAft>
              <a:buSzPts val="3600"/>
              <a:buNone/>
              <a:defRPr sz="3600"/>
            </a:lvl8pPr>
            <a:lvl9pPr lvl="8" rtl="0" algn="l">
              <a:spcBef>
                <a:spcPts val="0"/>
              </a:spcBef>
              <a:spcAft>
                <a:spcPts val="0"/>
              </a:spcAft>
              <a:buSzPts val="3600"/>
              <a:buNone/>
              <a:defRPr sz="3600"/>
            </a:lvl9pPr>
          </a:lstStyle>
          <a:p/>
        </p:txBody>
      </p:sp>
      <p:sp>
        <p:nvSpPr>
          <p:cNvPr id="14" name="Google Shape;14;p3"/>
          <p:cNvSpPr txBox="1"/>
          <p:nvPr>
            <p:ph idx="1" type="subTitle"/>
          </p:nvPr>
        </p:nvSpPr>
        <p:spPr>
          <a:xfrm>
            <a:off x="2600400" y="3182963"/>
            <a:ext cx="5857800" cy="784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i="1" sz="2400">
                <a:solidFill>
                  <a:schemeClr val="accent1"/>
                </a:solidFill>
              </a:defRPr>
            </a:lvl1pPr>
            <a:lvl2pPr lvl="1" rtl="0">
              <a:spcBef>
                <a:spcPts val="0"/>
              </a:spcBef>
              <a:spcAft>
                <a:spcPts val="0"/>
              </a:spcAft>
              <a:buClr>
                <a:schemeClr val="accent1"/>
              </a:buClr>
              <a:buSzPts val="2400"/>
              <a:buNone/>
              <a:defRPr i="1">
                <a:solidFill>
                  <a:schemeClr val="accent1"/>
                </a:solidFill>
              </a:defRPr>
            </a:lvl2pPr>
            <a:lvl3pPr lvl="2" rtl="0">
              <a:spcBef>
                <a:spcPts val="0"/>
              </a:spcBef>
              <a:spcAft>
                <a:spcPts val="0"/>
              </a:spcAft>
              <a:buClr>
                <a:schemeClr val="accent1"/>
              </a:buClr>
              <a:buSzPts val="2400"/>
              <a:buNone/>
              <a:defRPr i="1">
                <a:solidFill>
                  <a:schemeClr val="accent1"/>
                </a:solidFill>
              </a:defRPr>
            </a:lvl3pPr>
            <a:lvl4pPr lvl="3" rtl="0">
              <a:spcBef>
                <a:spcPts val="0"/>
              </a:spcBef>
              <a:spcAft>
                <a:spcPts val="0"/>
              </a:spcAft>
              <a:buClr>
                <a:schemeClr val="accent1"/>
              </a:buClr>
              <a:buSzPts val="2400"/>
              <a:buNone/>
              <a:defRPr i="1" sz="2400">
                <a:solidFill>
                  <a:schemeClr val="accent1"/>
                </a:solidFill>
              </a:defRPr>
            </a:lvl4pPr>
            <a:lvl5pPr lvl="4" rtl="0">
              <a:spcBef>
                <a:spcPts val="0"/>
              </a:spcBef>
              <a:spcAft>
                <a:spcPts val="0"/>
              </a:spcAft>
              <a:buClr>
                <a:schemeClr val="accent1"/>
              </a:buClr>
              <a:buSzPts val="2400"/>
              <a:buNone/>
              <a:defRPr i="1" sz="2400">
                <a:solidFill>
                  <a:schemeClr val="accent1"/>
                </a:solidFill>
              </a:defRPr>
            </a:lvl5pPr>
            <a:lvl6pPr lvl="5" rtl="0">
              <a:spcBef>
                <a:spcPts val="0"/>
              </a:spcBef>
              <a:spcAft>
                <a:spcPts val="0"/>
              </a:spcAft>
              <a:buClr>
                <a:schemeClr val="accent1"/>
              </a:buClr>
              <a:buSzPts val="2400"/>
              <a:buNone/>
              <a:defRPr i="1" sz="2400">
                <a:solidFill>
                  <a:schemeClr val="accent1"/>
                </a:solidFill>
              </a:defRPr>
            </a:lvl6pPr>
            <a:lvl7pPr lvl="6" rtl="0">
              <a:spcBef>
                <a:spcPts val="0"/>
              </a:spcBef>
              <a:spcAft>
                <a:spcPts val="0"/>
              </a:spcAft>
              <a:buClr>
                <a:schemeClr val="accent1"/>
              </a:buClr>
              <a:buSzPts val="2400"/>
              <a:buNone/>
              <a:defRPr i="1" sz="2400">
                <a:solidFill>
                  <a:schemeClr val="accent1"/>
                </a:solidFill>
              </a:defRPr>
            </a:lvl7pPr>
            <a:lvl8pPr lvl="7" rtl="0">
              <a:spcBef>
                <a:spcPts val="0"/>
              </a:spcBef>
              <a:spcAft>
                <a:spcPts val="0"/>
              </a:spcAft>
              <a:buClr>
                <a:schemeClr val="accent1"/>
              </a:buClr>
              <a:buSzPts val="2400"/>
              <a:buNone/>
              <a:defRPr i="1" sz="2400">
                <a:solidFill>
                  <a:schemeClr val="accent1"/>
                </a:solidFill>
              </a:defRPr>
            </a:lvl8pPr>
            <a:lvl9pPr lvl="8" rtl="0">
              <a:spcBef>
                <a:spcPts val="0"/>
              </a:spcBef>
              <a:spcAft>
                <a:spcPts val="0"/>
              </a:spcAft>
              <a:buClr>
                <a:schemeClr val="accent1"/>
              </a:buClr>
              <a:buSzPts val="2400"/>
              <a:buNone/>
              <a:defRPr i="1" sz="2400">
                <a:solidFill>
                  <a:schemeClr val="accent1"/>
                </a:solidFill>
              </a:defRPr>
            </a:lvl9pPr>
          </a:lstStyle>
          <a:p/>
        </p:txBody>
      </p:sp>
      <p:cxnSp>
        <p:nvCxnSpPr>
          <p:cNvPr id="15" name="Google Shape;15;p3"/>
          <p:cNvCxnSpPr/>
          <p:nvPr/>
        </p:nvCxnSpPr>
        <p:spPr>
          <a:xfrm rot="10800000">
            <a:off x="-15990" y="2933511"/>
            <a:ext cx="2476800" cy="0"/>
          </a:xfrm>
          <a:prstGeom prst="straightConnector1">
            <a:avLst/>
          </a:prstGeom>
          <a:noFill/>
          <a:ln cap="flat" cmpd="sng" w="9525">
            <a:solidFill>
              <a:schemeClr val="dk2"/>
            </a:solidFill>
            <a:prstDash val="solid"/>
            <a:round/>
            <a:headEnd len="med" w="med" type="oval"/>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6" name="Shape 16"/>
        <p:cNvGrpSpPr/>
        <p:nvPr/>
      </p:nvGrpSpPr>
      <p:grpSpPr>
        <a:xfrm>
          <a:off x="0" y="0"/>
          <a:ext cx="0" cy="0"/>
          <a:chOff x="0" y="0"/>
          <a:chExt cx="0" cy="0"/>
        </a:xfrm>
      </p:grpSpPr>
      <p:sp>
        <p:nvSpPr>
          <p:cNvPr id="17" name="Google Shape;17;p4"/>
          <p:cNvSpPr/>
          <p:nvPr/>
        </p:nvSpPr>
        <p:spPr>
          <a:xfrm>
            <a:off x="4229046" y="1045786"/>
            <a:ext cx="685800" cy="65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txBox="1"/>
          <p:nvPr>
            <p:ph idx="1" type="body"/>
          </p:nvPr>
        </p:nvSpPr>
        <p:spPr>
          <a:xfrm>
            <a:off x="1555350" y="1818900"/>
            <a:ext cx="6033300" cy="819900"/>
          </a:xfrm>
          <a:prstGeom prst="rect">
            <a:avLst/>
          </a:prstGeom>
        </p:spPr>
        <p:txBody>
          <a:bodyPr anchorCtr="0" anchor="t" bIns="91425" lIns="91425" spcFirstLastPara="1" rIns="91425" wrap="square" tIns="91425">
            <a:noAutofit/>
          </a:bodyPr>
          <a:lstStyle>
            <a:lvl1pPr indent="-419100" lvl="0" marL="457200" rtl="0" algn="ctr">
              <a:lnSpc>
                <a:spcPct val="100000"/>
              </a:lnSpc>
              <a:spcBef>
                <a:spcPts val="600"/>
              </a:spcBef>
              <a:spcAft>
                <a:spcPts val="0"/>
              </a:spcAft>
              <a:buClr>
                <a:schemeClr val="accent1"/>
              </a:buClr>
              <a:buSzPts val="3000"/>
              <a:buChar char="○"/>
              <a:defRPr i="1" sz="3000">
                <a:solidFill>
                  <a:schemeClr val="accent1"/>
                </a:solidFill>
              </a:defRPr>
            </a:lvl1pPr>
            <a:lvl2pPr indent="-419100" lvl="1" marL="914400" rtl="0" algn="ctr">
              <a:lnSpc>
                <a:spcPct val="100000"/>
              </a:lnSpc>
              <a:spcBef>
                <a:spcPts val="0"/>
              </a:spcBef>
              <a:spcAft>
                <a:spcPts val="0"/>
              </a:spcAft>
              <a:buClr>
                <a:schemeClr val="accent1"/>
              </a:buClr>
              <a:buSzPts val="3000"/>
              <a:buChar char="□"/>
              <a:defRPr i="1" sz="3000">
                <a:solidFill>
                  <a:schemeClr val="accent1"/>
                </a:solidFill>
              </a:defRPr>
            </a:lvl2pPr>
            <a:lvl3pPr indent="-419100" lvl="2" marL="1371600" rtl="0" algn="ctr">
              <a:lnSpc>
                <a:spcPct val="100000"/>
              </a:lnSpc>
              <a:spcBef>
                <a:spcPts val="0"/>
              </a:spcBef>
              <a:spcAft>
                <a:spcPts val="0"/>
              </a:spcAft>
              <a:buClr>
                <a:schemeClr val="accent1"/>
              </a:buClr>
              <a:buSzPts val="3000"/>
              <a:buChar char="○"/>
              <a:defRPr i="1" sz="3000">
                <a:solidFill>
                  <a:schemeClr val="accent1"/>
                </a:solidFill>
              </a:defRPr>
            </a:lvl3pPr>
            <a:lvl4pPr indent="-419100" lvl="3" marL="1828800" rtl="0" algn="ctr">
              <a:lnSpc>
                <a:spcPct val="100000"/>
              </a:lnSpc>
              <a:spcBef>
                <a:spcPts val="0"/>
              </a:spcBef>
              <a:spcAft>
                <a:spcPts val="0"/>
              </a:spcAft>
              <a:buClr>
                <a:schemeClr val="accent1"/>
              </a:buClr>
              <a:buSzPts val="3000"/>
              <a:buChar char="□"/>
              <a:defRPr i="1" sz="3000">
                <a:solidFill>
                  <a:schemeClr val="accent1"/>
                </a:solidFill>
              </a:defRPr>
            </a:lvl4pPr>
            <a:lvl5pPr indent="-419100" lvl="4" marL="2286000" rtl="0" algn="ctr">
              <a:lnSpc>
                <a:spcPct val="100000"/>
              </a:lnSpc>
              <a:spcBef>
                <a:spcPts val="0"/>
              </a:spcBef>
              <a:spcAft>
                <a:spcPts val="0"/>
              </a:spcAft>
              <a:buClr>
                <a:schemeClr val="accent1"/>
              </a:buClr>
              <a:buSzPts val="3000"/>
              <a:buChar char="○"/>
              <a:defRPr i="1" sz="3000">
                <a:solidFill>
                  <a:schemeClr val="accent1"/>
                </a:solidFill>
              </a:defRPr>
            </a:lvl5pPr>
            <a:lvl6pPr indent="-419100" lvl="5" marL="2743200" rtl="0" algn="ctr">
              <a:lnSpc>
                <a:spcPct val="100000"/>
              </a:lnSpc>
              <a:spcBef>
                <a:spcPts val="0"/>
              </a:spcBef>
              <a:spcAft>
                <a:spcPts val="0"/>
              </a:spcAft>
              <a:buClr>
                <a:schemeClr val="accent1"/>
              </a:buClr>
              <a:buSzPts val="3000"/>
              <a:buChar char="■"/>
              <a:defRPr i="1" sz="3000">
                <a:solidFill>
                  <a:schemeClr val="accent1"/>
                </a:solidFill>
              </a:defRPr>
            </a:lvl6pPr>
            <a:lvl7pPr indent="-419100" lvl="6" marL="3200400" rtl="0" algn="ctr">
              <a:lnSpc>
                <a:spcPct val="100000"/>
              </a:lnSpc>
              <a:spcBef>
                <a:spcPts val="0"/>
              </a:spcBef>
              <a:spcAft>
                <a:spcPts val="0"/>
              </a:spcAft>
              <a:buClr>
                <a:schemeClr val="accent1"/>
              </a:buClr>
              <a:buSzPts val="3000"/>
              <a:buChar char="●"/>
              <a:defRPr i="1" sz="3000">
                <a:solidFill>
                  <a:schemeClr val="accent1"/>
                </a:solidFill>
              </a:defRPr>
            </a:lvl7pPr>
            <a:lvl8pPr indent="-419100" lvl="7" marL="3657600" rtl="0" algn="ctr">
              <a:lnSpc>
                <a:spcPct val="100000"/>
              </a:lnSpc>
              <a:spcBef>
                <a:spcPts val="0"/>
              </a:spcBef>
              <a:spcAft>
                <a:spcPts val="0"/>
              </a:spcAft>
              <a:buClr>
                <a:schemeClr val="accent1"/>
              </a:buClr>
              <a:buSzPts val="3000"/>
              <a:buChar char="○"/>
              <a:defRPr i="1" sz="3000">
                <a:solidFill>
                  <a:schemeClr val="accent1"/>
                </a:solidFill>
              </a:defRPr>
            </a:lvl8pPr>
            <a:lvl9pPr indent="-419100" lvl="8" marL="4114800" algn="ctr">
              <a:lnSpc>
                <a:spcPct val="100000"/>
              </a:lnSpc>
              <a:spcBef>
                <a:spcPts val="0"/>
              </a:spcBef>
              <a:spcAft>
                <a:spcPts val="0"/>
              </a:spcAft>
              <a:buClr>
                <a:schemeClr val="accent1"/>
              </a:buClr>
              <a:buSzPts val="3000"/>
              <a:buChar char="■"/>
              <a:defRPr i="1" sz="3000">
                <a:solidFill>
                  <a:schemeClr val="accent1"/>
                </a:solidFill>
              </a:defRPr>
            </a:lvl9pPr>
          </a:lstStyle>
          <a:p/>
        </p:txBody>
      </p:sp>
      <p:sp>
        <p:nvSpPr>
          <p:cNvPr id="19" name="Google Shape;19;p4"/>
          <p:cNvSpPr txBox="1"/>
          <p:nvPr/>
        </p:nvSpPr>
        <p:spPr>
          <a:xfrm>
            <a:off x="3801800" y="854771"/>
            <a:ext cx="1540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chemeClr val="lt2"/>
                </a:solidFill>
                <a:latin typeface="Montserrat"/>
                <a:ea typeface="Montserrat"/>
                <a:cs typeface="Montserrat"/>
                <a:sym typeface="Montserrat"/>
              </a:rPr>
              <a:t>“</a:t>
            </a:r>
            <a:endParaRPr sz="9600">
              <a:solidFill>
                <a:schemeClr val="lt2"/>
              </a:solidFill>
              <a:latin typeface="Montserrat"/>
              <a:ea typeface="Montserrat"/>
              <a:cs typeface="Montserrat"/>
              <a:sym typeface="Montserrat"/>
            </a:endParaRPr>
          </a:p>
        </p:txBody>
      </p:sp>
      <p:sp>
        <p:nvSpPr>
          <p:cNvPr id="20" name="Google Shape;20;p4"/>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8F7B87"/>
                </a:solidFill>
              </a:defRPr>
            </a:lvl1pPr>
            <a:lvl2pPr lvl="1">
              <a:buNone/>
              <a:defRPr>
                <a:solidFill>
                  <a:srgbClr val="8F7B87"/>
                </a:solidFill>
              </a:defRPr>
            </a:lvl2pPr>
            <a:lvl3pPr lvl="2">
              <a:buNone/>
              <a:defRPr>
                <a:solidFill>
                  <a:srgbClr val="8F7B87"/>
                </a:solidFill>
              </a:defRPr>
            </a:lvl3pPr>
            <a:lvl4pPr lvl="3">
              <a:buNone/>
              <a:defRPr>
                <a:solidFill>
                  <a:srgbClr val="8F7B87"/>
                </a:solidFill>
              </a:defRPr>
            </a:lvl4pPr>
            <a:lvl5pPr lvl="4">
              <a:buNone/>
              <a:defRPr>
                <a:solidFill>
                  <a:srgbClr val="8F7B87"/>
                </a:solidFill>
              </a:defRPr>
            </a:lvl5pPr>
            <a:lvl6pPr lvl="5">
              <a:buNone/>
              <a:defRPr>
                <a:solidFill>
                  <a:srgbClr val="8F7B87"/>
                </a:solidFill>
              </a:defRPr>
            </a:lvl6pPr>
            <a:lvl7pPr lvl="6">
              <a:buNone/>
              <a:defRPr>
                <a:solidFill>
                  <a:srgbClr val="8F7B87"/>
                </a:solidFill>
              </a:defRPr>
            </a:lvl7pPr>
            <a:lvl8pPr lvl="7">
              <a:buNone/>
              <a:defRPr>
                <a:solidFill>
                  <a:srgbClr val="8F7B87"/>
                </a:solidFill>
              </a:defRPr>
            </a:lvl8pPr>
            <a:lvl9pPr lvl="8">
              <a:buNone/>
              <a:defRPr>
                <a:solidFill>
                  <a:srgbClr val="8F7B87"/>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1" name="Shape 21"/>
        <p:cNvGrpSpPr/>
        <p:nvPr/>
      </p:nvGrpSpPr>
      <p:grpSpPr>
        <a:xfrm>
          <a:off x="0" y="0"/>
          <a:ext cx="0" cy="0"/>
          <a:chOff x="0" y="0"/>
          <a:chExt cx="0" cy="0"/>
        </a:xfrm>
      </p:grpSpPr>
      <p:sp>
        <p:nvSpPr>
          <p:cNvPr id="22" name="Google Shape;22;p5"/>
          <p:cNvSpPr txBox="1"/>
          <p:nvPr>
            <p:ph type="title"/>
          </p:nvPr>
        </p:nvSpPr>
        <p:spPr>
          <a:xfrm>
            <a:off x="2318100" y="113175"/>
            <a:ext cx="4507800" cy="8574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3" name="Google Shape;23;p5"/>
          <p:cNvSpPr txBox="1"/>
          <p:nvPr>
            <p:ph idx="1" type="body"/>
          </p:nvPr>
        </p:nvSpPr>
        <p:spPr>
          <a:xfrm>
            <a:off x="617100" y="1269863"/>
            <a:ext cx="7909800" cy="32154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cxnSp>
        <p:nvCxnSpPr>
          <p:cNvPr id="24" name="Google Shape;24;p5"/>
          <p:cNvCxnSpPr/>
          <p:nvPr/>
        </p:nvCxnSpPr>
        <p:spPr>
          <a:xfrm rot="10800000">
            <a:off x="-23700" y="541800"/>
            <a:ext cx="2341800" cy="0"/>
          </a:xfrm>
          <a:prstGeom prst="straightConnector1">
            <a:avLst/>
          </a:prstGeom>
          <a:noFill/>
          <a:ln cap="flat" cmpd="sng" w="9525">
            <a:solidFill>
              <a:schemeClr val="dk2"/>
            </a:solidFill>
            <a:prstDash val="solid"/>
            <a:round/>
            <a:headEnd len="med" w="med" type="oval"/>
            <a:tailEnd len="med" w="med" type="none"/>
          </a:ln>
        </p:spPr>
      </p:cxnSp>
      <p:cxnSp>
        <p:nvCxnSpPr>
          <p:cNvPr id="25" name="Google Shape;25;p5"/>
          <p:cNvCxnSpPr/>
          <p:nvPr/>
        </p:nvCxnSpPr>
        <p:spPr>
          <a:xfrm>
            <a:off x="6825900" y="541800"/>
            <a:ext cx="2331300" cy="0"/>
          </a:xfrm>
          <a:prstGeom prst="straightConnector1">
            <a:avLst/>
          </a:prstGeom>
          <a:noFill/>
          <a:ln cap="flat" cmpd="sng" w="9525">
            <a:solidFill>
              <a:schemeClr val="dk2"/>
            </a:solidFill>
            <a:prstDash val="solid"/>
            <a:round/>
            <a:headEnd len="med" w="med" type="oval"/>
            <a:tailEnd len="med" w="med" type="none"/>
          </a:ln>
        </p:spPr>
      </p:cxnSp>
      <p:sp>
        <p:nvSpPr>
          <p:cNvPr id="26" name="Google Shape;26;p5"/>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7" name="Shape 27"/>
        <p:cNvGrpSpPr/>
        <p:nvPr/>
      </p:nvGrpSpPr>
      <p:grpSpPr>
        <a:xfrm>
          <a:off x="0" y="0"/>
          <a:ext cx="0" cy="0"/>
          <a:chOff x="0" y="0"/>
          <a:chExt cx="0" cy="0"/>
        </a:xfrm>
      </p:grpSpPr>
      <p:sp>
        <p:nvSpPr>
          <p:cNvPr id="28" name="Google Shape;28;p6"/>
          <p:cNvSpPr txBox="1"/>
          <p:nvPr>
            <p:ph idx="1" type="body"/>
          </p:nvPr>
        </p:nvSpPr>
        <p:spPr>
          <a:xfrm>
            <a:off x="626350" y="1346063"/>
            <a:ext cx="3644400" cy="32049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9" name="Google Shape;29;p6"/>
          <p:cNvSpPr txBox="1"/>
          <p:nvPr>
            <p:ph idx="2" type="body"/>
          </p:nvPr>
        </p:nvSpPr>
        <p:spPr>
          <a:xfrm>
            <a:off x="4870698" y="1346063"/>
            <a:ext cx="3644400" cy="32049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0" name="Google Shape;30;p6"/>
          <p:cNvSpPr txBox="1"/>
          <p:nvPr>
            <p:ph type="title"/>
          </p:nvPr>
        </p:nvSpPr>
        <p:spPr>
          <a:xfrm>
            <a:off x="2318100" y="113175"/>
            <a:ext cx="4507800" cy="8574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cxnSp>
        <p:nvCxnSpPr>
          <p:cNvPr id="31" name="Google Shape;31;p6"/>
          <p:cNvCxnSpPr/>
          <p:nvPr/>
        </p:nvCxnSpPr>
        <p:spPr>
          <a:xfrm rot="10800000">
            <a:off x="-23700" y="541800"/>
            <a:ext cx="2341800" cy="0"/>
          </a:xfrm>
          <a:prstGeom prst="straightConnector1">
            <a:avLst/>
          </a:prstGeom>
          <a:noFill/>
          <a:ln cap="flat" cmpd="sng" w="9525">
            <a:solidFill>
              <a:schemeClr val="dk2"/>
            </a:solidFill>
            <a:prstDash val="solid"/>
            <a:round/>
            <a:headEnd len="med" w="med" type="oval"/>
            <a:tailEnd len="med" w="med" type="none"/>
          </a:ln>
        </p:spPr>
      </p:cxnSp>
      <p:cxnSp>
        <p:nvCxnSpPr>
          <p:cNvPr id="32" name="Google Shape;32;p6"/>
          <p:cNvCxnSpPr/>
          <p:nvPr/>
        </p:nvCxnSpPr>
        <p:spPr>
          <a:xfrm>
            <a:off x="6825900" y="541800"/>
            <a:ext cx="2331300" cy="0"/>
          </a:xfrm>
          <a:prstGeom prst="straightConnector1">
            <a:avLst/>
          </a:prstGeom>
          <a:noFill/>
          <a:ln cap="flat" cmpd="sng" w="9525">
            <a:solidFill>
              <a:schemeClr val="dk2"/>
            </a:solidFill>
            <a:prstDash val="solid"/>
            <a:round/>
            <a:headEnd len="med" w="med" type="oval"/>
            <a:tailEnd len="med" w="med" type="none"/>
          </a:ln>
        </p:spPr>
      </p:cxnSp>
      <p:sp>
        <p:nvSpPr>
          <p:cNvPr id="33" name="Google Shape;33;p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4" name="Shape 34"/>
        <p:cNvGrpSpPr/>
        <p:nvPr/>
      </p:nvGrpSpPr>
      <p:grpSpPr>
        <a:xfrm>
          <a:off x="0" y="0"/>
          <a:ext cx="0" cy="0"/>
          <a:chOff x="0" y="0"/>
          <a:chExt cx="0" cy="0"/>
        </a:xfrm>
      </p:grpSpPr>
      <p:sp>
        <p:nvSpPr>
          <p:cNvPr id="35" name="Google Shape;35;p7"/>
          <p:cNvSpPr txBox="1"/>
          <p:nvPr>
            <p:ph idx="1" type="body"/>
          </p:nvPr>
        </p:nvSpPr>
        <p:spPr>
          <a:xfrm>
            <a:off x="626350" y="1281750"/>
            <a:ext cx="2547900" cy="3193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6" name="Google Shape;36;p7"/>
          <p:cNvSpPr txBox="1"/>
          <p:nvPr>
            <p:ph idx="2" type="body"/>
          </p:nvPr>
        </p:nvSpPr>
        <p:spPr>
          <a:xfrm>
            <a:off x="3304738" y="1281750"/>
            <a:ext cx="2547900" cy="3193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7" name="Google Shape;37;p7"/>
          <p:cNvSpPr txBox="1"/>
          <p:nvPr>
            <p:ph idx="3" type="body"/>
          </p:nvPr>
        </p:nvSpPr>
        <p:spPr>
          <a:xfrm>
            <a:off x="5983125" y="1281750"/>
            <a:ext cx="2547900" cy="3193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8" name="Google Shape;38;p7"/>
          <p:cNvSpPr txBox="1"/>
          <p:nvPr>
            <p:ph type="title"/>
          </p:nvPr>
        </p:nvSpPr>
        <p:spPr>
          <a:xfrm>
            <a:off x="2318100" y="113175"/>
            <a:ext cx="4507800" cy="8574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cxnSp>
        <p:nvCxnSpPr>
          <p:cNvPr id="39" name="Google Shape;39;p7"/>
          <p:cNvCxnSpPr/>
          <p:nvPr/>
        </p:nvCxnSpPr>
        <p:spPr>
          <a:xfrm rot="10800000">
            <a:off x="-23700" y="541800"/>
            <a:ext cx="2341800" cy="0"/>
          </a:xfrm>
          <a:prstGeom prst="straightConnector1">
            <a:avLst/>
          </a:prstGeom>
          <a:noFill/>
          <a:ln cap="flat" cmpd="sng" w="9525">
            <a:solidFill>
              <a:schemeClr val="dk2"/>
            </a:solidFill>
            <a:prstDash val="solid"/>
            <a:round/>
            <a:headEnd len="med" w="med" type="oval"/>
            <a:tailEnd len="med" w="med" type="none"/>
          </a:ln>
        </p:spPr>
      </p:cxnSp>
      <p:cxnSp>
        <p:nvCxnSpPr>
          <p:cNvPr id="40" name="Google Shape;40;p7"/>
          <p:cNvCxnSpPr/>
          <p:nvPr/>
        </p:nvCxnSpPr>
        <p:spPr>
          <a:xfrm>
            <a:off x="6825900" y="541800"/>
            <a:ext cx="2331300" cy="0"/>
          </a:xfrm>
          <a:prstGeom prst="straightConnector1">
            <a:avLst/>
          </a:prstGeom>
          <a:noFill/>
          <a:ln cap="flat" cmpd="sng" w="9525">
            <a:solidFill>
              <a:schemeClr val="dk2"/>
            </a:solidFill>
            <a:prstDash val="solid"/>
            <a:round/>
            <a:headEnd len="med" w="med" type="oval"/>
            <a:tailEnd len="med" w="med" type="none"/>
          </a:ln>
        </p:spPr>
      </p:cxnSp>
      <p:sp>
        <p:nvSpPr>
          <p:cNvPr id="41" name="Google Shape;41;p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8"/>
          <p:cNvSpPr txBox="1"/>
          <p:nvPr>
            <p:ph type="title"/>
          </p:nvPr>
        </p:nvSpPr>
        <p:spPr>
          <a:xfrm>
            <a:off x="2318100" y="113175"/>
            <a:ext cx="4507800" cy="8574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cxnSp>
        <p:nvCxnSpPr>
          <p:cNvPr id="44" name="Google Shape;44;p8"/>
          <p:cNvCxnSpPr/>
          <p:nvPr/>
        </p:nvCxnSpPr>
        <p:spPr>
          <a:xfrm rot="10800000">
            <a:off x="-23700" y="541800"/>
            <a:ext cx="2341800" cy="0"/>
          </a:xfrm>
          <a:prstGeom prst="straightConnector1">
            <a:avLst/>
          </a:prstGeom>
          <a:noFill/>
          <a:ln cap="flat" cmpd="sng" w="9525">
            <a:solidFill>
              <a:schemeClr val="dk2"/>
            </a:solidFill>
            <a:prstDash val="solid"/>
            <a:round/>
            <a:headEnd len="med" w="med" type="oval"/>
            <a:tailEnd len="med" w="med" type="none"/>
          </a:ln>
        </p:spPr>
      </p:cxnSp>
      <p:cxnSp>
        <p:nvCxnSpPr>
          <p:cNvPr id="45" name="Google Shape;45;p8"/>
          <p:cNvCxnSpPr/>
          <p:nvPr/>
        </p:nvCxnSpPr>
        <p:spPr>
          <a:xfrm>
            <a:off x="6825900" y="541800"/>
            <a:ext cx="2331300" cy="0"/>
          </a:xfrm>
          <a:prstGeom prst="straightConnector1">
            <a:avLst/>
          </a:prstGeom>
          <a:noFill/>
          <a:ln cap="flat" cmpd="sng" w="9525">
            <a:solidFill>
              <a:schemeClr val="dk2"/>
            </a:solidFill>
            <a:prstDash val="solid"/>
            <a:round/>
            <a:headEnd len="med" w="med" type="oval"/>
            <a:tailEnd len="med" w="med" type="none"/>
          </a:ln>
        </p:spPr>
      </p:cxnSp>
      <p:sp>
        <p:nvSpPr>
          <p:cNvPr id="46" name="Google Shape;46;p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9"/>
          <p:cNvSpPr txBox="1"/>
          <p:nvPr>
            <p:ph idx="1" type="body"/>
          </p:nvPr>
        </p:nvSpPr>
        <p:spPr>
          <a:xfrm>
            <a:off x="2600500" y="4396706"/>
            <a:ext cx="3957600" cy="519600"/>
          </a:xfrm>
          <a:prstGeom prst="rect">
            <a:avLst/>
          </a:prstGeom>
        </p:spPr>
        <p:txBody>
          <a:bodyPr anchorCtr="0" anchor="ctr" bIns="91425" lIns="91425" spcFirstLastPara="1" rIns="91425" wrap="square" tIns="91425">
            <a:noAutofit/>
          </a:bodyPr>
          <a:lstStyle>
            <a:lvl1pPr indent="-228600" lvl="0" marL="457200" algn="ctr">
              <a:spcBef>
                <a:spcPts val="360"/>
              </a:spcBef>
              <a:spcAft>
                <a:spcPts val="0"/>
              </a:spcAft>
              <a:buSzPts val="1800"/>
              <a:buNone/>
              <a:defRPr i="1" sz="1800"/>
            </a:lvl1pPr>
          </a:lstStyle>
          <a:p/>
        </p:txBody>
      </p:sp>
      <p:cxnSp>
        <p:nvCxnSpPr>
          <p:cNvPr id="49" name="Google Shape;49;p9"/>
          <p:cNvCxnSpPr/>
          <p:nvPr/>
        </p:nvCxnSpPr>
        <p:spPr>
          <a:xfrm rot="10800000">
            <a:off x="-15900" y="4689847"/>
            <a:ext cx="2334000" cy="0"/>
          </a:xfrm>
          <a:prstGeom prst="straightConnector1">
            <a:avLst/>
          </a:prstGeom>
          <a:noFill/>
          <a:ln cap="flat" cmpd="sng" w="9525">
            <a:solidFill>
              <a:schemeClr val="dk2"/>
            </a:solidFill>
            <a:prstDash val="solid"/>
            <a:round/>
            <a:headEnd len="med" w="med" type="oval"/>
            <a:tailEnd len="med" w="med" type="none"/>
          </a:ln>
        </p:spPr>
      </p:cxnSp>
      <p:cxnSp>
        <p:nvCxnSpPr>
          <p:cNvPr id="50" name="Google Shape;50;p9"/>
          <p:cNvCxnSpPr/>
          <p:nvPr/>
        </p:nvCxnSpPr>
        <p:spPr>
          <a:xfrm>
            <a:off x="6825900" y="4689847"/>
            <a:ext cx="2339400" cy="0"/>
          </a:xfrm>
          <a:prstGeom prst="straightConnector1">
            <a:avLst/>
          </a:prstGeom>
          <a:noFill/>
          <a:ln cap="flat" cmpd="sng" w="9525">
            <a:solidFill>
              <a:schemeClr val="dk2"/>
            </a:solidFill>
            <a:prstDash val="solid"/>
            <a:round/>
            <a:headEnd len="med" w="med" type="oval"/>
            <a:tailEnd len="med" w="med" type="none"/>
          </a:ln>
        </p:spPr>
      </p:cxnSp>
      <p:sp>
        <p:nvSpPr>
          <p:cNvPr id="51" name="Google Shape;51;p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30350" y="206000"/>
            <a:ext cx="4283400" cy="8574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600"/>
              <a:buFont typeface="Montserrat"/>
              <a:buNone/>
              <a:defRPr b="1" sz="16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617100" y="1269863"/>
            <a:ext cx="7909800" cy="32154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600"/>
              </a:spcBef>
              <a:spcAft>
                <a:spcPts val="0"/>
              </a:spcAft>
              <a:buClr>
                <a:schemeClr val="accent3"/>
              </a:buClr>
              <a:buSzPts val="2400"/>
              <a:buFont typeface="PT Serif"/>
              <a:buChar char="○"/>
              <a:defRPr sz="2400">
                <a:solidFill>
                  <a:schemeClr val="dk1"/>
                </a:solidFill>
                <a:latin typeface="PT Serif"/>
                <a:ea typeface="PT Serif"/>
                <a:cs typeface="PT Serif"/>
                <a:sym typeface="PT Serif"/>
              </a:defRPr>
            </a:lvl1pPr>
            <a:lvl2pPr indent="-381000" lvl="1" marL="914400">
              <a:lnSpc>
                <a:spcPct val="115000"/>
              </a:lnSpc>
              <a:spcBef>
                <a:spcPts val="0"/>
              </a:spcBef>
              <a:spcAft>
                <a:spcPts val="0"/>
              </a:spcAft>
              <a:buClr>
                <a:schemeClr val="accent3"/>
              </a:buClr>
              <a:buSzPts val="2400"/>
              <a:buFont typeface="PT Serif"/>
              <a:buChar char="□"/>
              <a:defRPr sz="2400">
                <a:solidFill>
                  <a:schemeClr val="dk1"/>
                </a:solidFill>
                <a:latin typeface="PT Serif"/>
                <a:ea typeface="PT Serif"/>
                <a:cs typeface="PT Serif"/>
                <a:sym typeface="PT Serif"/>
              </a:defRPr>
            </a:lvl2pPr>
            <a:lvl3pPr indent="-381000" lvl="2" marL="1371600">
              <a:lnSpc>
                <a:spcPct val="115000"/>
              </a:lnSpc>
              <a:spcBef>
                <a:spcPts val="0"/>
              </a:spcBef>
              <a:spcAft>
                <a:spcPts val="0"/>
              </a:spcAft>
              <a:buClr>
                <a:schemeClr val="accent3"/>
              </a:buClr>
              <a:buSzPts val="2400"/>
              <a:buFont typeface="PT Serif"/>
              <a:buChar char="○"/>
              <a:defRPr sz="2400">
                <a:solidFill>
                  <a:schemeClr val="dk1"/>
                </a:solidFill>
                <a:latin typeface="PT Serif"/>
                <a:ea typeface="PT Serif"/>
                <a:cs typeface="PT Serif"/>
                <a:sym typeface="PT Serif"/>
              </a:defRPr>
            </a:lvl3pPr>
            <a:lvl4pPr indent="-381000" lvl="3" marL="1828800">
              <a:lnSpc>
                <a:spcPct val="115000"/>
              </a:lnSpc>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4pPr>
            <a:lvl5pPr indent="-381000" lvl="4" marL="2286000">
              <a:lnSpc>
                <a:spcPct val="115000"/>
              </a:lnSpc>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5pPr>
            <a:lvl6pPr indent="-381000" lvl="5" marL="2743200">
              <a:lnSpc>
                <a:spcPct val="115000"/>
              </a:lnSpc>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6pPr>
            <a:lvl7pPr indent="-381000" lvl="6" marL="3200400">
              <a:lnSpc>
                <a:spcPct val="115000"/>
              </a:lnSpc>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7pPr>
            <a:lvl8pPr indent="-381000" lvl="7" marL="3657600">
              <a:lnSpc>
                <a:spcPct val="115000"/>
              </a:lnSpc>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8pPr>
            <a:lvl9pPr indent="-381000" lvl="8" marL="4114800">
              <a:lnSpc>
                <a:spcPct val="115000"/>
              </a:lnSpc>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9pPr>
          </a:lstStyle>
          <a:p/>
        </p:txBody>
      </p:sp>
      <p:sp>
        <p:nvSpPr>
          <p:cNvPr id="8" name="Google Shape;8;p1"/>
          <p:cNvSpPr txBox="1"/>
          <p:nvPr>
            <p:ph idx="12" type="sldNum"/>
          </p:nvPr>
        </p:nvSpPr>
        <p:spPr>
          <a:xfrm>
            <a:off x="4297650" y="4749851"/>
            <a:ext cx="548700" cy="393600"/>
          </a:xfrm>
          <a:prstGeom prst="rect">
            <a:avLst/>
          </a:prstGeom>
          <a:noFill/>
          <a:ln>
            <a:noFill/>
          </a:ln>
        </p:spPr>
        <p:txBody>
          <a:bodyPr anchorCtr="0" anchor="t" bIns="91425" lIns="91425" spcFirstLastPara="1" rIns="91425" wrap="square" tIns="91425">
            <a:noAutofit/>
          </a:bodyPr>
          <a:lstStyle>
            <a:lvl1pPr lvl="0" algn="ctr">
              <a:buNone/>
              <a:defRPr sz="1300">
                <a:solidFill>
                  <a:schemeClr val="accent1"/>
                </a:solidFill>
                <a:latin typeface="PT Serif"/>
                <a:ea typeface="PT Serif"/>
                <a:cs typeface="PT Serif"/>
                <a:sym typeface="PT Serif"/>
              </a:defRPr>
            </a:lvl1pPr>
            <a:lvl2pPr lvl="1" algn="ctr">
              <a:buNone/>
              <a:defRPr sz="1300">
                <a:solidFill>
                  <a:schemeClr val="accent1"/>
                </a:solidFill>
                <a:latin typeface="PT Serif"/>
                <a:ea typeface="PT Serif"/>
                <a:cs typeface="PT Serif"/>
                <a:sym typeface="PT Serif"/>
              </a:defRPr>
            </a:lvl2pPr>
            <a:lvl3pPr lvl="2" algn="ctr">
              <a:buNone/>
              <a:defRPr sz="1300">
                <a:solidFill>
                  <a:schemeClr val="accent1"/>
                </a:solidFill>
                <a:latin typeface="PT Serif"/>
                <a:ea typeface="PT Serif"/>
                <a:cs typeface="PT Serif"/>
                <a:sym typeface="PT Serif"/>
              </a:defRPr>
            </a:lvl3pPr>
            <a:lvl4pPr lvl="3" algn="ctr">
              <a:buNone/>
              <a:defRPr sz="1300">
                <a:solidFill>
                  <a:schemeClr val="accent1"/>
                </a:solidFill>
                <a:latin typeface="PT Serif"/>
                <a:ea typeface="PT Serif"/>
                <a:cs typeface="PT Serif"/>
                <a:sym typeface="PT Serif"/>
              </a:defRPr>
            </a:lvl4pPr>
            <a:lvl5pPr lvl="4" algn="ctr">
              <a:buNone/>
              <a:defRPr sz="1300">
                <a:solidFill>
                  <a:schemeClr val="accent1"/>
                </a:solidFill>
                <a:latin typeface="PT Serif"/>
                <a:ea typeface="PT Serif"/>
                <a:cs typeface="PT Serif"/>
                <a:sym typeface="PT Serif"/>
              </a:defRPr>
            </a:lvl5pPr>
            <a:lvl6pPr lvl="5" algn="ctr">
              <a:buNone/>
              <a:defRPr sz="1300">
                <a:solidFill>
                  <a:schemeClr val="accent1"/>
                </a:solidFill>
                <a:latin typeface="PT Serif"/>
                <a:ea typeface="PT Serif"/>
                <a:cs typeface="PT Serif"/>
                <a:sym typeface="PT Serif"/>
              </a:defRPr>
            </a:lvl6pPr>
            <a:lvl7pPr lvl="6" algn="ctr">
              <a:buNone/>
              <a:defRPr sz="1300">
                <a:solidFill>
                  <a:schemeClr val="accent1"/>
                </a:solidFill>
                <a:latin typeface="PT Serif"/>
                <a:ea typeface="PT Serif"/>
                <a:cs typeface="PT Serif"/>
                <a:sym typeface="PT Serif"/>
              </a:defRPr>
            </a:lvl7pPr>
            <a:lvl8pPr lvl="7" algn="ctr">
              <a:buNone/>
              <a:defRPr sz="1300">
                <a:solidFill>
                  <a:schemeClr val="accent1"/>
                </a:solidFill>
                <a:latin typeface="PT Serif"/>
                <a:ea typeface="PT Serif"/>
                <a:cs typeface="PT Serif"/>
                <a:sym typeface="PT Serif"/>
              </a:defRPr>
            </a:lvl8pPr>
            <a:lvl9pPr lvl="8" algn="ctr">
              <a:buNone/>
              <a:defRPr sz="1300">
                <a:solidFill>
                  <a:schemeClr val="accent1"/>
                </a:solidFill>
                <a:latin typeface="PT Serif"/>
                <a:ea typeface="PT Serif"/>
                <a:cs typeface="PT Serif"/>
                <a:sym typeface="PT Serif"/>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educationendowmentfoundation.org.uk/education-evidence/guidance-reports/feedback" TargetMode="External"/><Relationship Id="rId4" Type="http://schemas.openxmlformats.org/officeDocument/2006/relationships/hyperlink" Target="https://arxiv.org/abs/2201.11903" TargetMode="External"/><Relationship Id="rId5" Type="http://schemas.openxmlformats.org/officeDocument/2006/relationships/hyperlink" Target="https://www.dcp.edu.gov.on.ca/en/curriculum/secondary-mathematics/courses/mth1w" TargetMode="External"/><Relationship Id="rId6" Type="http://schemas.openxmlformats.org/officeDocument/2006/relationships/hyperlink" Target="https://www.assertion-evidence.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www.slidescarnival.com/" TargetMode="External"/><Relationship Id="rId4" Type="http://schemas.openxmlformats.org/officeDocument/2006/relationships/hyperlink" Target="http://unsplash.com/" TargetMode="External"/><Relationship Id="rId5" Type="http://schemas.openxmlformats.org/officeDocument/2006/relationships/hyperlink" Target="http://subtlepatterns.com/" TargetMode="External"/><Relationship Id="rId6" Type="http://schemas.openxmlformats.org/officeDocument/2006/relationships/hyperlink" Target="https://www.slidescarnival.com/template/beatrice-free-presentation-template/6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TextBox 57"/>
          <p:cNvSpPr txBox="1"/>
          <p:nvPr/>
        </p:nvSpPr>
        <p:spPr>
          <a:xfrm>
            <a:off x="640080" y="566928"/>
            <a:ext cx="7863840" cy="365760"/>
          </a:xfrm>
          <a:prstGeom prst="rect">
            <a:avLst/>
          </a:prstGeom>
          <a:noFill/>
        </p:spPr>
        <p:txBody>
          <a:bodyPr wrap="square" lIns="36576" rIns="36576" tIns="0" bIns="0">
            <a:spAutoFit/>
          </a:bodyPr>
          <a:lstStyle/>
          <a:p>
            <a:pPr>
              <a:spcAft>
                <a:spcPts val="600"/>
              </a:spcAft>
            </a:pPr>
            <a:r>
              <a:rPr sz="1100" b="1">
                <a:solidFill>
                  <a:srgbClr val="F3EFEA"/>
                </a:solidFill>
                <a:latin typeface="Arial"/>
              </a:rPr>
              <a:t>MATHIFY / READING-WEEK EVIDENCE / 1 NOVEMBER 2026</a:t>
            </a:r>
          </a:p>
        </p:txBody>
      </p:sp>
      <p:sp>
        <p:nvSpPr>
          <p:cNvPr id="59" name="TextBox 58"/>
          <p:cNvSpPr txBox="1"/>
          <p:nvPr/>
        </p:nvSpPr>
        <p:spPr>
          <a:xfrm>
            <a:off x="640080" y="1463040"/>
            <a:ext cx="7863840" cy="1463040"/>
          </a:xfrm>
          <a:prstGeom prst="rect">
            <a:avLst/>
          </a:prstGeom>
          <a:noFill/>
        </p:spPr>
        <p:txBody>
          <a:bodyPr wrap="square" lIns="36576" rIns="36576" tIns="0" bIns="0">
            <a:spAutoFit/>
          </a:bodyPr>
          <a:lstStyle/>
          <a:p>
            <a:pPr>
              <a:spcAft>
                <a:spcPts val="600"/>
              </a:spcAft>
            </a:pPr>
            <a:r>
              <a:rPr sz="3300" b="1">
                <a:solidFill>
                  <a:srgbClr val="F3EFEA"/>
                </a:solidFill>
                <a:latin typeface="Arial"/>
              </a:rPr>
              <a:t>Give tutors a better starting point.</a:t>
            </a:r>
          </a:p>
          <a:p>
            <a:pPr>
              <a:spcAft>
                <a:spcPts val="600"/>
              </a:spcAft>
            </a:pPr>
            <a:r>
              <a:rPr sz="3300" b="1">
                <a:solidFill>
                  <a:srgbClr val="F3EFEA"/>
                </a:solidFill>
                <a:latin typeface="Arial"/>
              </a:rPr>
              <a:t>Keep the judgment human.</a:t>
            </a:r>
          </a:p>
        </p:txBody>
      </p:sp>
      <p:sp>
        <p:nvSpPr>
          <p:cNvPr id="60" name="TextBox 59"/>
          <p:cNvSpPr txBox="1"/>
          <p:nvPr/>
        </p:nvSpPr>
        <p:spPr>
          <a:xfrm>
            <a:off x="640080" y="3675887"/>
            <a:ext cx="7863840" cy="822960"/>
          </a:xfrm>
          <a:prstGeom prst="rect">
            <a:avLst/>
          </a:prstGeom>
          <a:noFill/>
        </p:spPr>
        <p:txBody>
          <a:bodyPr wrap="square" lIns="36576" rIns="36576" tIns="0" bIns="0">
            <a:spAutoFit/>
          </a:bodyPr>
          <a:lstStyle/>
          <a:p>
            <a:pPr>
              <a:spcAft>
                <a:spcPts val="600"/>
              </a:spcAft>
            </a:pPr>
            <a:r>
              <a:rPr sz="2100" b="0">
                <a:solidFill>
                  <a:srgbClr val="F3EFEA"/>
                </a:solidFill>
                <a:latin typeface="Georgia"/>
              </a:rPr>
              <a:t>Research-informed design. Verified prototype.</a:t>
            </a:r>
          </a:p>
          <a:p>
            <a:pPr>
              <a:spcAft>
                <a:spcPts val="600"/>
              </a:spcAft>
            </a:pPr>
            <a:r>
              <a:rPr sz="2100" b="0">
                <a:solidFill>
                  <a:srgbClr val="F3EFEA"/>
                </a:solidFill>
                <a:latin typeface="Georgia"/>
              </a:rPr>
              <a:t>Human effectiveness still needs testing.</a:t>
            </a:r>
          </a:p>
        </p:txBody>
      </p:sp>
      <p:sp>
        <p:nvSpPr>
          <p:cNvPr id="61" name="TextBox 60"/>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Research-backed rationale is not proof of learning gains.</a:t>
            </a:r>
          </a:p>
        </p:txBody>
      </p:sp>
      <p:sp>
        <p:nvSpPr>
          <p:cNvPr id="62" name="TextBox 61"/>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THE INTERVENTION</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Use waiting time to collect evidence, not permanent diagnoses.</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1. Question</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Submit a problem</a:t>
            </a:r>
          </a:p>
          <a:p>
            <a:pPr>
              <a:spcAft>
                <a:spcPts val="300"/>
              </a:spcAft>
            </a:pPr>
            <a:r>
              <a:rPr sz="1600" b="0">
                <a:solidFill>
                  <a:srgbClr val="000000"/>
                </a:solidFill>
                <a:latin typeface="Georgia"/>
              </a:rPr>
              <a:t>and optional work.</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2. Concept probes</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One at a time.</a:t>
            </a:r>
          </a:p>
          <a:p>
            <a:pPr>
              <a:spcAft>
                <a:spcPts val="300"/>
              </a:spcAft>
            </a:pPr>
            <a:r>
              <a:rPr sz="1600" b="0">
                <a:solidFill>
                  <a:srgbClr val="000000"/>
                </a:solidFill>
                <a:latin typeface="Georgia"/>
              </a:rPr>
              <a:t>An easier retry</a:t>
            </a:r>
          </a:p>
          <a:p>
            <a:pPr>
              <a:spcAft>
                <a:spcPts val="300"/>
              </a:spcAft>
            </a:pPr>
            <a:r>
              <a:rPr sz="1600" b="0">
                <a:solidFill>
                  <a:srgbClr val="000000"/>
                </a:solidFill>
                <a:latin typeface="Georgia"/>
              </a:rPr>
              <a:t>when needed.</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3. Tutor brief</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Actual responses,</a:t>
            </a:r>
          </a:p>
          <a:p>
            <a:pPr>
              <a:spcAft>
                <a:spcPts val="300"/>
              </a:spcAft>
            </a:pPr>
            <a:r>
              <a:rPr sz="1600" b="0">
                <a:solidFill>
                  <a:srgbClr val="000000"/>
                </a:solidFill>
                <a:latin typeface="Georgia"/>
              </a:rPr>
              <a:t>possible gaps,</a:t>
            </a:r>
          </a:p>
          <a:p>
            <a:pPr>
              <a:spcAft>
                <a:spcPts val="300"/>
              </a:spcAft>
            </a:pPr>
            <a:r>
              <a:rPr sz="1600" b="0">
                <a:solidFill>
                  <a:srgbClr val="000000"/>
                </a:solidFill>
                <a:latin typeface="Georgia"/>
              </a:rPr>
              <a:t>whiteboard work.</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The tutor decides where to begin. The 10-15-second target is not yet measured.</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Single-question local prototype. No live Mathify integration.</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PUBLISHED GUIDANCE</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Formative assessment helps teachers choose useful feedback.</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Elicit evidence</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What can the learner</a:t>
            </a:r>
          </a:p>
          <a:p>
            <a:pPr>
              <a:spcAft>
                <a:spcPts val="300"/>
              </a:spcAft>
            </a:pPr>
            <a:r>
              <a:rPr sz="1600" b="0">
                <a:solidFill>
                  <a:srgbClr val="000000"/>
                </a:solidFill>
                <a:latin typeface="Georgia"/>
              </a:rPr>
              <a:t>do on this concept?</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Identify a gap</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Which response needs</a:t>
            </a:r>
          </a:p>
          <a:p>
            <a:pPr>
              <a:spcAft>
                <a:spcPts val="300"/>
              </a:spcAft>
            </a:pPr>
            <a:r>
              <a:rPr sz="1600" b="0">
                <a:solidFill>
                  <a:srgbClr val="000000"/>
                </a:solidFill>
                <a:latin typeface="Georgia"/>
              </a:rPr>
              <a:t>clarification?</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Respond</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The tutor confirms</a:t>
            </a:r>
          </a:p>
          <a:p>
            <a:pPr>
              <a:spcAft>
                <a:spcPts val="300"/>
              </a:spcAft>
            </a:pPr>
            <a:r>
              <a:rPr sz="1600" b="0">
                <a:solidFill>
                  <a:srgbClr val="000000"/>
                </a:solidFill>
                <a:latin typeface="Georgia"/>
              </a:rPr>
              <a:t>the interpretation</a:t>
            </a:r>
          </a:p>
          <a:p>
            <a:pPr>
              <a:spcAft>
                <a:spcPts val="300"/>
              </a:spcAft>
            </a:pPr>
            <a:r>
              <a:rPr sz="1600" b="0">
                <a:solidFill>
                  <a:srgbClr val="000000"/>
                </a:solidFill>
                <a:latin typeface="Georgia"/>
              </a:rPr>
              <a:t>and adapts instruction.</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Classroom guidance supports the rationale, not this particular prototype.</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EEF (2021), Teacher Feedback to Improve Pupil Learning, Recommendation 1.</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SYNTHETIC WORKED EXAMPLE</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A targeted probe can show which step needs attention.</a:t>
            </a:r>
          </a:p>
        </p:txBody>
      </p:sp>
      <p:sp>
        <p:nvSpPr>
          <p:cNvPr id="4" name="Rectangle 3"/>
          <p:cNvSpPr/>
          <p:nvPr/>
        </p:nvSpPr>
        <p:spPr>
          <a:xfrm>
            <a:off x="640080" y="1783080"/>
            <a:ext cx="3822191"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3547872"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Original problem</a:t>
            </a:r>
          </a:p>
        </p:txBody>
      </p:sp>
      <p:sp>
        <p:nvSpPr>
          <p:cNvPr id="6" name="TextBox 5"/>
          <p:cNvSpPr txBox="1"/>
          <p:nvPr/>
        </p:nvSpPr>
        <p:spPr>
          <a:xfrm>
            <a:off x="777240" y="2596896"/>
            <a:ext cx="3547872"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2(x + 3) = 14</a:t>
            </a:r>
          </a:p>
          <a:p>
            <a:pPr>
              <a:spcAft>
                <a:spcPts val="300"/>
              </a:spcAft>
            </a:pPr>
          </a:p>
          <a:p>
            <a:pPr>
              <a:spcAft>
                <a:spcPts val="300"/>
              </a:spcAft>
            </a:pPr>
            <a:r>
              <a:rPr sz="1600" b="0">
                <a:solidFill>
                  <a:srgbClr val="000000"/>
                </a:solidFill>
                <a:latin typeface="Georgia"/>
              </a:rPr>
              <a:t>Distribute, balance, divide.</a:t>
            </a:r>
          </a:p>
          <a:p>
            <a:pPr>
              <a:spcAft>
                <a:spcPts val="300"/>
              </a:spcAft>
            </a:pPr>
            <a:r>
              <a:rPr sz="1600" b="0">
                <a:solidFill>
                  <a:srgbClr val="000000"/>
                </a:solidFill>
                <a:latin typeface="Georgia"/>
              </a:rPr>
              <a:t>Reference solution: x = 4.</a:t>
            </a:r>
          </a:p>
        </p:txBody>
      </p:sp>
      <p:sp>
        <p:nvSpPr>
          <p:cNvPr id="7" name="Rectangle 6"/>
          <p:cNvSpPr/>
          <p:nvPr/>
        </p:nvSpPr>
        <p:spPr>
          <a:xfrm>
            <a:off x="4681728" y="1783080"/>
            <a:ext cx="3822191"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18888" y="1947672"/>
            <a:ext cx="3547872"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Probe: expand 2(x + 3)</a:t>
            </a:r>
          </a:p>
        </p:txBody>
      </p:sp>
      <p:sp>
        <p:nvSpPr>
          <p:cNvPr id="9" name="TextBox 8"/>
          <p:cNvSpPr txBox="1"/>
          <p:nvPr/>
        </p:nvSpPr>
        <p:spPr>
          <a:xfrm>
            <a:off x="4818888" y="2596896"/>
            <a:ext cx="3547872"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Selected: 2x + 3</a:t>
            </a:r>
          </a:p>
          <a:p>
            <a:pPr>
              <a:spcAft>
                <a:spcPts val="300"/>
              </a:spcAft>
            </a:pPr>
            <a:r>
              <a:rPr sz="1600" b="0">
                <a:solidFill>
                  <a:srgbClr val="000000"/>
                </a:solidFill>
                <a:latin typeface="Georgia"/>
              </a:rPr>
              <a:t>Correct: 2x + 6</a:t>
            </a:r>
          </a:p>
          <a:p>
            <a:pPr>
              <a:spcAft>
                <a:spcPts val="300"/>
              </a:spcAft>
            </a:pPr>
          </a:p>
          <a:p>
            <a:pPr>
              <a:spcAft>
                <a:spcPts val="300"/>
              </a:spcAft>
            </a:pPr>
            <a:r>
              <a:rPr sz="1600" b="0">
                <a:solidFill>
                  <a:srgbClr val="000000"/>
                </a:solidFill>
                <a:latin typeface="Georgia"/>
              </a:rPr>
              <a:t>Possible gap: distributing</a:t>
            </a:r>
          </a:p>
          <a:p>
            <a:pPr>
              <a:spcAft>
                <a:spcPts val="300"/>
              </a:spcAft>
            </a:pPr>
            <a:r>
              <a:rPr sz="1600" b="0">
                <a:solidFill>
                  <a:srgbClr val="000000"/>
                </a:solidFill>
                <a:latin typeface="Georgia"/>
              </a:rPr>
              <a:t>to the constant.</a:t>
            </a:r>
          </a:p>
        </p:txBody>
      </p:sp>
      <p:sp>
        <p:nvSpPr>
          <p:cNvPr id="10" name="TextBox 9"/>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A wrong choice is evidence to discuss, not proof of a misconception.</a:t>
            </a:r>
          </a:p>
        </p:txBody>
      </p:sp>
      <p:sp>
        <p:nvSpPr>
          <p:cNvPr id="11" name="TextBox 10"/>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Project-authored illustration. Not an actual student or live-model accuracy result.</a:t>
            </a:r>
          </a:p>
        </p:txBody>
      </p:sp>
      <p:sp>
        <p:nvSpPr>
          <p:cNvPr id="12" name="TextBox 11"/>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ADAPTIVE FOLLOW-UP</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An easier retry adds evidence without erasing the first miss.</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Main item</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2(x + 3)</a:t>
            </a:r>
          </a:p>
          <a:p>
            <a:pPr>
              <a:spcAft>
                <a:spcPts val="300"/>
              </a:spcAft>
            </a:pPr>
          </a:p>
          <a:p>
            <a:pPr>
              <a:spcAft>
                <a:spcPts val="300"/>
              </a:spcAft>
            </a:pPr>
            <a:r>
              <a:rPr sz="1600" b="0">
                <a:solidFill>
                  <a:srgbClr val="000000"/>
                </a:solidFill>
                <a:latin typeface="Georgia"/>
              </a:rPr>
              <a:t>Selected 2x + 3.</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Easier retry</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2(x + 1)</a:t>
            </a:r>
          </a:p>
          <a:p>
            <a:pPr>
              <a:spcAft>
                <a:spcPts val="300"/>
              </a:spcAft>
            </a:pPr>
          </a:p>
          <a:p>
            <a:pPr>
              <a:spcAft>
                <a:spcPts val="300"/>
              </a:spcAft>
            </a:pPr>
            <a:r>
              <a:rPr sz="1600" b="0">
                <a:solidFill>
                  <a:srgbClr val="000000"/>
                </a:solidFill>
                <a:latin typeface="Georgia"/>
              </a:rPr>
              <a:t>Selected 2x + 2.</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Tutor starting point</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Confirm distribution.</a:t>
            </a:r>
          </a:p>
          <a:p>
            <a:pPr>
              <a:spcAft>
                <a:spcPts val="300"/>
              </a:spcAft>
            </a:pPr>
            <a:r>
              <a:rPr sz="1600" b="0">
                <a:solidFill>
                  <a:srgbClr val="000000"/>
                </a:solidFill>
                <a:latin typeface="Georgia"/>
              </a:rPr>
              <a:t>Use a simpler example</a:t>
            </a:r>
          </a:p>
          <a:p>
            <a:pPr>
              <a:spcAft>
                <a:spcPts val="300"/>
              </a:spcAft>
            </a:pPr>
            <a:r>
              <a:rPr sz="1600" b="0">
                <a:solidFill>
                  <a:srgbClr val="000000"/>
                </a:solidFill>
                <a:latin typeface="Georgia"/>
              </a:rPr>
              <a:t>first.</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Observed: one miss, one correct simpler item. Mastery and cause are not established.</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One retry per concept. IDK and wrong answers stay distinct.</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AI RESEARCH AND BOUNDARIES</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Research supports testing reasoning, not trusting every answer.</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Reasoning prompts</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Wei et al. studied</a:t>
            </a:r>
          </a:p>
          <a:p>
            <a:pPr>
              <a:spcAft>
                <a:spcPts val="300"/>
              </a:spcAft>
            </a:pPr>
            <a:r>
              <a:rPr sz="1600" b="0">
                <a:solidFill>
                  <a:srgbClr val="000000"/>
                </a:solidFill>
                <a:latin typeface="Georgia"/>
              </a:rPr>
              <a:t>model benchmarks,</a:t>
            </a:r>
          </a:p>
          <a:p>
            <a:pPr>
              <a:spcAft>
                <a:spcPts val="300"/>
              </a:spcAft>
            </a:pPr>
            <a:r>
              <a:rPr sz="1600" b="0">
                <a:solidFill>
                  <a:srgbClr val="000000"/>
                </a:solidFill>
                <a:latin typeface="Georgia"/>
              </a:rPr>
              <a:t>not student learning.</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Schema checks</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Typed JSON protects</a:t>
            </a:r>
          </a:p>
          <a:p>
            <a:pPr>
              <a:spcAft>
                <a:spcPts val="300"/>
              </a:spcAft>
            </a:pPr>
            <a:r>
              <a:rPr sz="1600" b="0">
                <a:solidFill>
                  <a:srgbClr val="000000"/>
                </a:solidFill>
                <a:latin typeface="Georgia"/>
              </a:rPr>
              <a:t>the format, not</a:t>
            </a:r>
          </a:p>
          <a:p>
            <a:pPr>
              <a:spcAft>
                <a:spcPts val="300"/>
              </a:spcAft>
            </a:pPr>
            <a:r>
              <a:rPr sz="1600" b="0">
                <a:solidFill>
                  <a:srgbClr val="000000"/>
                </a:solidFill>
                <a:latin typeface="Georgia"/>
              </a:rPr>
              <a:t>math correctness.</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Human review</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Check keys, alignment,</a:t>
            </a:r>
          </a:p>
          <a:p>
            <a:pPr>
              <a:spcAft>
                <a:spcPts val="300"/>
              </a:spcAft>
            </a:pPr>
            <a:r>
              <a:rPr sz="1600" b="0">
                <a:solidFill>
                  <a:srgbClr val="000000"/>
                </a:solidFill>
                <a:latin typeface="Georgia"/>
              </a:rPr>
              <a:t>distractors, and</a:t>
            </a:r>
          </a:p>
          <a:p>
            <a:pPr>
              <a:spcAft>
                <a:spcPts val="300"/>
              </a:spcAft>
            </a:pPr>
            <a:r>
              <a:rPr sz="1600" b="0">
                <a:solidFill>
                  <a:srgbClr val="000000"/>
                </a:solidFill>
                <a:latin typeface="Georgia"/>
              </a:rPr>
              <a:t>answer-revealing hints.</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Wei et al. (2022), arXiv:2201.11903. Local effectiveness remains unmeasured.</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VALIDATION ARCHITECTURE</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Use three checks, anchored in independently checked answers.</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1. Contract checks</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Required fields,</a:t>
            </a:r>
          </a:p>
          <a:p>
            <a:pPr>
              <a:spcAft>
                <a:spcPts val="300"/>
              </a:spcAft>
            </a:pPr>
            <a:r>
              <a:rPr sz="1600" b="0">
                <a:solidFill>
                  <a:srgbClr val="000000"/>
                </a:solidFill>
                <a:latin typeface="Georgia"/>
              </a:rPr>
              <a:t>choices, keys, and</a:t>
            </a:r>
          </a:p>
          <a:p>
            <a:pPr>
              <a:spcAft>
                <a:spcPts val="300"/>
              </a:spcAft>
            </a:pPr>
            <a:r>
              <a:rPr sz="1600" b="0">
                <a:solidFill>
                  <a:srgbClr val="000000"/>
                </a:solidFill>
                <a:latin typeface="Georgia"/>
              </a:rPr>
              <a:t>answer flow.</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2. AI reviewer</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Second provider call.</a:t>
            </a:r>
          </a:p>
          <a:p>
            <a:pPr>
              <a:spcAft>
                <a:spcPts val="300"/>
              </a:spcAft>
            </a:pPr>
            <a:r>
              <a:rPr sz="1600" b="0">
                <a:solidFill>
                  <a:srgbClr val="000000"/>
                </a:solidFill>
                <a:latin typeface="Georgia"/>
              </a:rPr>
              <a:t>Implemented and opt-in.</a:t>
            </a:r>
          </a:p>
          <a:p>
            <a:pPr>
              <a:spcAft>
                <a:spcPts val="300"/>
              </a:spcAft>
            </a:pPr>
            <a:r>
              <a:rPr sz="1600" b="0">
                <a:solidFill>
                  <a:srgbClr val="000000"/>
                </a:solidFill>
                <a:latin typeface="Georgia"/>
              </a:rPr>
              <a:t>Accuracy not yet</a:t>
            </a:r>
          </a:p>
          <a:p>
            <a:pPr>
              <a:spcAft>
                <a:spcPts val="300"/>
              </a:spcAft>
            </a:pPr>
            <a:r>
              <a:rPr sz="1600" b="0">
                <a:solidFill>
                  <a:srgbClr val="000000"/>
                </a:solidFill>
                <a:latin typeface="Georgia"/>
              </a:rPr>
              <a:t>benchmarked.</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3. Reference + tutor</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Solve independently.</a:t>
            </a:r>
          </a:p>
          <a:p>
            <a:pPr>
              <a:spcAft>
                <a:spcPts val="300"/>
              </a:spcAft>
            </a:pPr>
            <a:r>
              <a:rPr sz="1600" b="0">
                <a:solidFill>
                  <a:srgbClr val="000000"/>
                </a:solidFill>
                <a:latin typeface="Georgia"/>
              </a:rPr>
              <a:t>Review diagnostic value.</a:t>
            </a:r>
          </a:p>
          <a:p>
            <a:pPr>
              <a:spcAft>
                <a:spcPts val="300"/>
              </a:spcAft>
            </a:pPr>
            <a:r>
              <a:rPr sz="1600" b="0">
                <a:solidFill>
                  <a:srgbClr val="000000"/>
                </a:solidFill>
                <a:latin typeface="Georgia"/>
              </a:rPr>
              <a:t>Count missed errors</a:t>
            </a:r>
          </a:p>
          <a:p>
            <a:pPr>
              <a:spcAft>
                <a:spcPts val="300"/>
              </a:spcAft>
            </a:pPr>
            <a:r>
              <a:rPr sz="1600" b="0">
                <a:solidFill>
                  <a:srgbClr val="000000"/>
                </a:solidFill>
                <a:latin typeface="Georgia"/>
              </a:rPr>
              <a:t>and false flags.</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Report confidence is a heuristic, not a calibrated accuracy probability.</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AI agreement is not ground truth. Confirm possible gaps with the student.</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ENGINEERING VERIFICATION</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The handoff works in repeatable offline tests.</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111 offline tests</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16 test files.</a:t>
            </a:r>
          </a:p>
          <a:p>
            <a:pPr>
              <a:spcAft>
                <a:spcPts val="300"/>
              </a:spcAft>
            </a:pPr>
            <a:r>
              <a:rPr sz="1600" b="0">
                <a:solidFill>
                  <a:srgbClr val="000000"/>
                </a:solidFill>
                <a:latin typeface="Georgia"/>
              </a:rPr>
              <a:t>Reference arithmetic,</a:t>
            </a:r>
          </a:p>
          <a:p>
            <a:pPr>
              <a:spcAft>
                <a:spcPts val="300"/>
              </a:spcAft>
            </a:pPr>
            <a:r>
              <a:rPr sz="1600" b="0">
                <a:solidFill>
                  <a:srgbClr val="000000"/>
                </a:solidFill>
                <a:latin typeface="Georgia"/>
              </a:rPr>
              <a:t>flow, storage, UI,</a:t>
            </a:r>
          </a:p>
          <a:p>
            <a:pPr>
              <a:spcAft>
                <a:spcPts val="300"/>
              </a:spcAft>
            </a:pPr>
            <a:r>
              <a:rPr sz="1600" b="0">
                <a:solidFill>
                  <a:srgbClr val="000000"/>
                </a:solidFill>
                <a:latin typeface="Georgia"/>
              </a:rPr>
              <a:t>whiteboard, feedback.</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3 browser checks</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Two handoff flows.</a:t>
            </a:r>
          </a:p>
          <a:p>
            <a:pPr>
              <a:spcAft>
                <a:spcPts val="300"/>
              </a:spcAft>
            </a:pPr>
            <a:r>
              <a:rPr sz="1600" b="0">
                <a:solidFill>
                  <a:srgbClr val="000000"/>
                </a:solidFill>
                <a:latin typeface="Georgia"/>
              </a:rPr>
              <a:t>One deck navigation,</a:t>
            </a:r>
          </a:p>
          <a:p>
            <a:pPr>
              <a:spcAft>
                <a:spcPts val="300"/>
              </a:spcAft>
            </a:pPr>
            <a:r>
              <a:rPr sz="1600" b="0">
                <a:solidFill>
                  <a:srgbClr val="000000"/>
                </a:solidFill>
                <a:latin typeface="Georgia"/>
              </a:rPr>
              <a:t>mobile, and print test.</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Build checks</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Production build,</a:t>
            </a:r>
          </a:p>
          <a:p>
            <a:pPr>
              <a:spcAft>
                <a:spcPts val="300"/>
              </a:spcAft>
            </a:pPr>
            <a:r>
              <a:rPr sz="1600" b="0">
                <a:solidFill>
                  <a:srgbClr val="000000"/>
                </a:solidFill>
                <a:latin typeface="Georgia"/>
              </a:rPr>
              <a:t>typecheck, and</a:t>
            </a:r>
          </a:p>
          <a:p>
            <a:pPr>
              <a:spcAft>
                <a:spcPts val="300"/>
              </a:spcAft>
            </a:pPr>
            <a:r>
              <a:rPr sz="1600" b="0">
                <a:solidFill>
                  <a:srgbClr val="000000"/>
                </a:solidFill>
                <a:latin typeface="Georgia"/>
              </a:rPr>
              <a:t>changed-code lint</a:t>
            </a:r>
          </a:p>
          <a:p>
            <a:pPr>
              <a:spcAft>
                <a:spcPts val="300"/>
              </a:spcAft>
            </a:pPr>
            <a:r>
              <a:rPr sz="1600" b="0">
                <a:solidFill>
                  <a:srgbClr val="000000"/>
                </a:solidFill>
                <a:latin typeface="Georgia"/>
              </a:rPr>
              <a:t>passed.</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Engineering checks, not students or independently graded generated probes.</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Verification: 1 November 2026. Mock AI and synthetic inputs.</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REFERENCE SET; LIVE EVALUATION PENDING</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Start with eight checked answers, then grade live outputs.</a:t>
            </a:r>
          </a:p>
        </p:txBody>
      </p:sp>
      <p:graphicFrame>
        <p:nvGraphicFramePr>
          <p:cNvPr id="4" name="Table 3"/>
          <p:cNvGraphicFramePr>
            <a:graphicFrameLocks noGrp="1"/>
          </p:cNvGraphicFramePr>
          <p:nvPr/>
        </p:nvGraphicFramePr>
        <p:xfrm>
          <a:off x="640080" y="1691640"/>
          <a:ext cx="7863840" cy="2670048"/>
        </p:xfrm>
        <a:graphic>
          <a:graphicData uri="http://schemas.openxmlformats.org/drawingml/2006/table">
            <a:tbl>
              <a:tblPr firstRow="1" bandRow="1">
                <a:tableStyleId>{5C22544A-7EE6-4342-B048-85BDC9FD1C3A}</a:tableStyleId>
              </a:tblPr>
              <a:tblGrid>
                <a:gridCol w="3931920"/>
                <a:gridCol w="3931920"/>
              </a:tblGrid>
              <a:tr h="296672">
                <a:tc>
                  <a:txBody>
                    <a:bodyPr/>
                    <a:lstStyle/>
                    <a:p>
                      <a:r>
                        <a:rPr sz="1300" b="1">
                          <a:solidFill>
                            <a:srgbClr val="FFFFFF"/>
                          </a:solidFill>
                          <a:latin typeface="Arial"/>
                        </a:rPr>
                        <a:t>REFERENCE PROBLEM</a:t>
                      </a:r>
                    </a:p>
                  </a:txBody>
                  <a:tcPr marT="32004" marB="32004">
                    <a:solidFill>
                      <a:srgbClr val="8F7B87"/>
                    </a:solidFill>
                  </a:tcPr>
                </a:tc>
                <a:tc>
                  <a:txBody>
                    <a:bodyPr/>
                    <a:lstStyle/>
                    <a:p>
                      <a:r>
                        <a:rPr sz="1300" b="1">
                          <a:solidFill>
                            <a:srgbClr val="FFFFFF"/>
                          </a:solidFill>
                          <a:latin typeface="Arial"/>
                        </a:rPr>
                        <a:t>CHECKED ANSWER</a:t>
                      </a:r>
                    </a:p>
                  </a:txBody>
                  <a:tcPr marT="32004" marB="32004">
                    <a:solidFill>
                      <a:srgbClr val="8F7B87"/>
                    </a:solidFill>
                  </a:tcPr>
                </a:tc>
              </a:tr>
              <a:tr h="296672">
                <a:tc>
                  <a:txBody>
                    <a:bodyPr/>
                    <a:lstStyle/>
                    <a:p>
                      <a:r>
                        <a:rPr sz="1300" b="0">
                          <a:solidFill>
                            <a:srgbClr val="000000"/>
                          </a:solidFill>
                          <a:latin typeface="Arial"/>
                        </a:rPr>
                        <a:t>2(x + 3) = 14</a:t>
                      </a:r>
                    </a:p>
                  </a:txBody>
                  <a:tcPr marT="32004" marB="32004">
                    <a:solidFill>
                      <a:srgbClr val="F3EFEA"/>
                    </a:solidFill>
                  </a:tcPr>
                </a:tc>
                <a:tc>
                  <a:txBody>
                    <a:bodyPr/>
                    <a:lstStyle/>
                    <a:p>
                      <a:r>
                        <a:rPr sz="1300" b="0">
                          <a:solidFill>
                            <a:srgbClr val="000000"/>
                          </a:solidFill>
                          <a:latin typeface="Arial"/>
                        </a:rPr>
                        <a:t>x = 4</a:t>
                      </a:r>
                    </a:p>
                  </a:txBody>
                  <a:tcPr marT="32004" marB="32004">
                    <a:solidFill>
                      <a:srgbClr val="F3EFEA"/>
                    </a:solidFill>
                  </a:tcPr>
                </a:tc>
              </a:tr>
              <a:tr h="296672">
                <a:tc>
                  <a:txBody>
                    <a:bodyPr/>
                    <a:lstStyle/>
                    <a:p>
                      <a:r>
                        <a:rPr sz="1300" b="0">
                          <a:solidFill>
                            <a:srgbClr val="000000"/>
                          </a:solidFill>
                          <a:latin typeface="Arial"/>
                        </a:rPr>
                        <a:t>x^2 + 5x + 6</a:t>
                      </a:r>
                    </a:p>
                  </a:txBody>
                  <a:tcPr marT="32004" marB="32004">
                    <a:solidFill>
                      <a:srgbClr val="F3EFEA"/>
                    </a:solidFill>
                  </a:tcPr>
                </a:tc>
                <a:tc>
                  <a:txBody>
                    <a:bodyPr/>
                    <a:lstStyle/>
                    <a:p>
                      <a:r>
                        <a:rPr sz="1300" b="0">
                          <a:solidFill>
                            <a:srgbClr val="000000"/>
                          </a:solidFill>
                          <a:latin typeface="Arial"/>
                        </a:rPr>
                        <a:t>(x + 2)(x + 3)</a:t>
                      </a:r>
                    </a:p>
                  </a:txBody>
                  <a:tcPr marT="32004" marB="32004">
                    <a:solidFill>
                      <a:srgbClr val="F3EFEA"/>
                    </a:solidFill>
                  </a:tcPr>
                </a:tc>
              </a:tr>
              <a:tr h="296672">
                <a:tc>
                  <a:txBody>
                    <a:bodyPr/>
                    <a:lstStyle/>
                    <a:p>
                      <a:r>
                        <a:rPr sz="1300" b="0">
                          <a:solidFill>
                            <a:srgbClr val="000000"/>
                          </a:solidFill>
                          <a:latin typeface="Arial"/>
                        </a:rPr>
                        <a:t>Right triangle: legs 3 and 4</a:t>
                      </a:r>
                    </a:p>
                  </a:txBody>
                  <a:tcPr marT="32004" marB="32004">
                    <a:solidFill>
                      <a:srgbClr val="F3EFEA"/>
                    </a:solidFill>
                  </a:tcPr>
                </a:tc>
                <a:tc>
                  <a:txBody>
                    <a:bodyPr/>
                    <a:lstStyle/>
                    <a:p>
                      <a:r>
                        <a:rPr sz="1300" b="0">
                          <a:solidFill>
                            <a:srgbClr val="000000"/>
                          </a:solidFill>
                          <a:latin typeface="Arial"/>
                        </a:rPr>
                        <a:t>Hypotenuse = 5 cm</a:t>
                      </a:r>
                    </a:p>
                  </a:txBody>
                  <a:tcPr marT="32004" marB="32004">
                    <a:solidFill>
                      <a:srgbClr val="F3EFEA"/>
                    </a:solidFill>
                  </a:tcPr>
                </a:tc>
              </a:tr>
              <a:tr h="296672">
                <a:tc>
                  <a:txBody>
                    <a:bodyPr/>
                    <a:lstStyle/>
                    <a:p>
                      <a:r>
                        <a:rPr sz="1300" b="0">
                          <a:solidFill>
                            <a:srgbClr val="000000"/>
                          </a:solidFill>
                          <a:latin typeface="Arial"/>
                        </a:rPr>
                        <a:t>Opposite 5, hypotenuse 13</a:t>
                      </a:r>
                    </a:p>
                  </a:txBody>
                  <a:tcPr marT="32004" marB="32004">
                    <a:solidFill>
                      <a:srgbClr val="F3EFEA"/>
                    </a:solidFill>
                  </a:tcPr>
                </a:tc>
                <a:tc>
                  <a:txBody>
                    <a:bodyPr/>
                    <a:lstStyle/>
                    <a:p>
                      <a:r>
                        <a:rPr sz="1300" b="0">
                          <a:solidFill>
                            <a:srgbClr val="000000"/>
                          </a:solidFill>
                          <a:latin typeface="Arial"/>
                        </a:rPr>
                        <a:t>sin(theta) = 5/13</a:t>
                      </a:r>
                    </a:p>
                  </a:txBody>
                  <a:tcPr marT="32004" marB="32004">
                    <a:solidFill>
                      <a:srgbClr val="F3EFEA"/>
                    </a:solidFill>
                  </a:tcPr>
                </a:tc>
              </a:tr>
              <a:tr h="296672">
                <a:tc>
                  <a:txBody>
                    <a:bodyPr/>
                    <a:lstStyle/>
                    <a:p>
                      <a:r>
                        <a:rPr sz="1300" b="0">
                          <a:solidFill>
                            <a:srgbClr val="000000"/>
                          </a:solidFill>
                          <a:latin typeface="Arial"/>
                        </a:rPr>
                        <a:t>2 cups / 12 cookies; make 30</a:t>
                      </a:r>
                    </a:p>
                  </a:txBody>
                  <a:tcPr marT="32004" marB="32004">
                    <a:solidFill>
                      <a:srgbClr val="F3EFEA"/>
                    </a:solidFill>
                  </a:tcPr>
                </a:tc>
                <a:tc>
                  <a:txBody>
                    <a:bodyPr/>
                    <a:lstStyle/>
                    <a:p>
                      <a:r>
                        <a:rPr sz="1300" b="0">
                          <a:solidFill>
                            <a:srgbClr val="000000"/>
                          </a:solidFill>
                          <a:latin typeface="Arial"/>
                        </a:rPr>
                        <a:t>5 cups</a:t>
                      </a:r>
                    </a:p>
                  </a:txBody>
                  <a:tcPr marT="32004" marB="32004">
                    <a:solidFill>
                      <a:srgbClr val="F3EFEA"/>
                    </a:solidFill>
                  </a:tcPr>
                </a:tc>
              </a:tr>
              <a:tr h="296672">
                <a:tc>
                  <a:txBody>
                    <a:bodyPr/>
                    <a:lstStyle/>
                    <a:p>
                      <a:r>
                        <a:rPr sz="1300" b="0">
                          <a:solidFill>
                            <a:srgbClr val="000000"/>
                          </a:solidFill>
                          <a:latin typeface="Arial"/>
                        </a:rPr>
                        <a:t>y = 2x + 1; y = -x + 7</a:t>
                      </a:r>
                    </a:p>
                  </a:txBody>
                  <a:tcPr marT="32004" marB="32004">
                    <a:solidFill>
                      <a:srgbClr val="F3EFEA"/>
                    </a:solidFill>
                  </a:tcPr>
                </a:tc>
                <a:tc>
                  <a:txBody>
                    <a:bodyPr/>
                    <a:lstStyle/>
                    <a:p>
                      <a:r>
                        <a:rPr sz="1300" b="0">
                          <a:solidFill>
                            <a:srgbClr val="000000"/>
                          </a:solidFill>
                          <a:latin typeface="Arial"/>
                        </a:rPr>
                        <a:t>(x, y) = (2, 5)</a:t>
                      </a:r>
                    </a:p>
                  </a:txBody>
                  <a:tcPr marT="32004" marB="32004">
                    <a:solidFill>
                      <a:srgbClr val="F3EFEA"/>
                    </a:solidFill>
                  </a:tcPr>
                </a:tc>
              </a:tr>
              <a:tr h="296672">
                <a:tc>
                  <a:txBody>
                    <a:bodyPr/>
                    <a:lstStyle/>
                    <a:p>
                      <a:r>
                        <a:rPr sz="1300" b="0">
                          <a:solidFill>
                            <a:srgbClr val="000000"/>
                          </a:solidFill>
                          <a:latin typeface="Arial"/>
                        </a:rPr>
                        <a:t>Circle radius 7 cm</a:t>
                      </a:r>
                    </a:p>
                  </a:txBody>
                  <a:tcPr marT="32004" marB="32004">
                    <a:solidFill>
                      <a:srgbClr val="F3EFEA"/>
                    </a:solidFill>
                  </a:tcPr>
                </a:tc>
                <a:tc>
                  <a:txBody>
                    <a:bodyPr/>
                    <a:lstStyle/>
                    <a:p>
                      <a:r>
                        <a:rPr sz="1300" b="0">
                          <a:solidFill>
                            <a:srgbClr val="000000"/>
                          </a:solidFill>
                          <a:latin typeface="Arial"/>
                        </a:rPr>
                        <a:t>153.9 cm^2 (1 decimal)</a:t>
                      </a:r>
                    </a:p>
                  </a:txBody>
                  <a:tcPr marT="32004" marB="32004">
                    <a:solidFill>
                      <a:srgbClr val="F3EFEA"/>
                    </a:solidFill>
                  </a:tcPr>
                </a:tc>
              </a:tr>
              <a:tr h="296672">
                <a:tc>
                  <a:txBody>
                    <a:bodyPr/>
                    <a:lstStyle/>
                    <a:p>
                      <a:r>
                        <a:rPr sz="1300" b="0">
                          <a:solidFill>
                            <a:srgbClr val="000000"/>
                          </a:solidFill>
                          <a:latin typeface="Arial"/>
                        </a:rPr>
                        <a:t>(2x^3)^2 / 4x^2</a:t>
                      </a:r>
                    </a:p>
                  </a:txBody>
                  <a:tcPr marT="32004" marB="32004">
                    <a:solidFill>
                      <a:srgbClr val="F3EFEA"/>
                    </a:solidFill>
                  </a:tcPr>
                </a:tc>
                <a:tc>
                  <a:txBody>
                    <a:bodyPr/>
                    <a:lstStyle/>
                    <a:p>
                      <a:r>
                        <a:rPr sz="1300" b="0">
                          <a:solidFill>
                            <a:srgbClr val="000000"/>
                          </a:solidFill>
                          <a:latin typeface="Arial"/>
                        </a:rPr>
                        <a:t>x^4, with x != 0</a:t>
                      </a:r>
                    </a:p>
                  </a:txBody>
                  <a:tcPr marT="32004" marB="32004">
                    <a:solidFill>
                      <a:srgbClr val="F3EFEA"/>
                    </a:solidFill>
                  </a:tcPr>
                </a:tc>
              </a:tr>
            </a:tbl>
          </a:graphicData>
        </a:graphic>
      </p:graphicFrame>
      <p:sp>
        <p:nvSpPr>
          <p:cNvPr id="5" name="TextBox 4"/>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Small project-authored reference set. No live-model accuracy percentage.</a:t>
            </a:r>
          </a:p>
        </p:txBody>
      </p:sp>
      <p:sp>
        <p:nvSpPr>
          <p:cNvPr id="6" name="TextBox 5"/>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TUTOR QUESTIONNAIRE STATUS</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No tutor responses yet. The human-value claim remains open.</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0 responses</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Confirmed by the</a:t>
            </a:r>
          </a:p>
          <a:p>
            <a:pPr>
              <a:spcAft>
                <a:spcPts val="300"/>
              </a:spcAft>
            </a:pPr>
            <a:r>
              <a:rPr sz="1600" b="0">
                <a:solidFill>
                  <a:srgbClr val="000000"/>
                </a:solidFill>
                <a:latin typeface="Georgia"/>
              </a:rPr>
              <a:t>project owner.</a:t>
            </a:r>
          </a:p>
          <a:p>
            <a:pPr>
              <a:spcAft>
                <a:spcPts val="300"/>
              </a:spcAft>
            </a:pPr>
          </a:p>
          <a:p>
            <a:pPr>
              <a:spcAft>
                <a:spcPts val="300"/>
              </a:spcAft>
            </a:pPr>
            <a:r>
              <a:rPr sz="1600" b="0">
                <a:solidFill>
                  <a:srgbClr val="000000"/>
                </a:solidFill>
                <a:latin typeface="Georgia"/>
              </a:rPr>
              <a:t>No tutor findings</a:t>
            </a:r>
          </a:p>
          <a:p>
            <a:pPr>
              <a:spcAft>
                <a:spcPts val="300"/>
              </a:spcAft>
            </a:pPr>
            <a:r>
              <a:rPr sz="1600" b="0">
                <a:solidFill>
                  <a:srgbClr val="000000"/>
                </a:solidFill>
                <a:latin typeface="Georgia"/>
              </a:rPr>
              <a:t>to analyze yet.</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External questionnaire</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Needs and layouts.</a:t>
            </a:r>
          </a:p>
          <a:p>
            <a:pPr>
              <a:spcAft>
                <a:spcPts val="300"/>
              </a:spcAft>
            </a:pPr>
            <a:r>
              <a:rPr sz="1600" b="0">
                <a:solidFill>
                  <a:srgbClr val="000000"/>
                </a:solidFill>
                <a:latin typeface="Georgia"/>
              </a:rPr>
              <a:t>Already distributed.</a:t>
            </a:r>
          </a:p>
          <a:p>
            <a:pPr>
              <a:spcAft>
                <a:spcPts val="300"/>
              </a:spcAft>
            </a:pPr>
            <a:r>
              <a:rPr sz="1600" b="0">
                <a:solidFill>
                  <a:srgbClr val="000000"/>
                </a:solidFill>
                <a:latin typeface="Georgia"/>
              </a:rPr>
              <a:t>Current UI differs</a:t>
            </a:r>
          </a:p>
          <a:p>
            <a:pPr>
              <a:spcAft>
                <a:spcPts val="300"/>
              </a:spcAft>
            </a:pPr>
            <a:r>
              <a:rPr sz="1600" b="0">
                <a:solidFill>
                  <a:srgbClr val="000000"/>
                </a:solidFill>
                <a:latin typeface="Georgia"/>
              </a:rPr>
              <a:t>from early mockups.</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In-app feedback</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Form checked and fixed.</a:t>
            </a:r>
          </a:p>
          <a:p>
            <a:pPr>
              <a:spcAft>
                <a:spcPts val="300"/>
              </a:spcAft>
            </a:pPr>
            <a:r>
              <a:rPr sz="1600" b="0">
                <a:solidFill>
                  <a:srgbClr val="000000"/>
                </a:solidFill>
                <a:latin typeface="Georgia"/>
              </a:rPr>
              <a:t>Usefulness, accuracy,</a:t>
            </a:r>
          </a:p>
          <a:p>
            <a:pPr>
              <a:spcAft>
                <a:spcPts val="300"/>
              </a:spcAft>
            </a:pPr>
            <a:r>
              <a:rPr sz="1600" b="0">
                <a:solidFill>
                  <a:srgbClr val="000000"/>
                </a:solidFill>
                <a:latin typeface="Georgia"/>
              </a:rPr>
              <a:t>and probe ratings.</a:t>
            </a:r>
          </a:p>
          <a:p>
            <a:pPr>
              <a:spcAft>
                <a:spcPts val="300"/>
              </a:spcAft>
            </a:pPr>
            <a:r>
              <a:rPr sz="1600" b="0">
                <a:solidFill>
                  <a:srgbClr val="000000"/>
                </a:solidFill>
                <a:latin typeface="Georgia"/>
              </a:rPr>
              <a:t>Collection is pending.</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Next: measure correct interpretation within 10-15 seconds, not ratings alone.</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No completed tutor feedback responses yet. Test feedback is synthetic.</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NEXT STAKEHOLDER DECISION</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Approve a bounded evaluation before expanding the product.</a:t>
            </a:r>
          </a:p>
        </p:txBody>
      </p:sp>
      <p:sp>
        <p:nvSpPr>
          <p:cNvPr id="4" name="Rectangle 3"/>
          <p:cNvSpPr/>
          <p:nvPr/>
        </p:nvSpPr>
        <p:spPr>
          <a:xfrm>
            <a:off x="640080"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First: accuracy</a:t>
            </a:r>
          </a:p>
        </p:txBody>
      </p:sp>
      <p:sp>
        <p:nvSpPr>
          <p:cNvPr id="6" name="TextBox 5"/>
          <p:cNvSpPr txBox="1"/>
          <p:nvPr/>
        </p:nvSpPr>
        <p:spPr>
          <a:xfrm>
            <a:off x="777240"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Review generated items.</a:t>
            </a:r>
          </a:p>
          <a:p>
            <a:pPr>
              <a:spcAft>
                <a:spcPts val="300"/>
              </a:spcAft>
            </a:pPr>
            <a:r>
              <a:rPr sz="1600" b="0">
                <a:solidFill>
                  <a:srgbClr val="000000"/>
                </a:solidFill>
                <a:latin typeface="Georgia"/>
              </a:rPr>
              <a:t>Test the AI reviewer</a:t>
            </a:r>
          </a:p>
          <a:p>
            <a:pPr>
              <a:spcAft>
                <a:spcPts val="300"/>
              </a:spcAft>
            </a:pPr>
            <a:r>
              <a:rPr sz="1600" b="0">
                <a:solidFill>
                  <a:srgbClr val="000000"/>
                </a:solidFill>
                <a:latin typeface="Georgia"/>
              </a:rPr>
              <a:t>with known errors.</a:t>
            </a:r>
          </a:p>
        </p:txBody>
      </p:sp>
      <p:sp>
        <p:nvSpPr>
          <p:cNvPr id="7" name="Rectangle 6"/>
          <p:cNvSpPr/>
          <p:nvPr/>
        </p:nvSpPr>
        <p:spPr>
          <a:xfrm>
            <a:off x="3334512"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1672"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Then: tutor value</a:t>
            </a:r>
          </a:p>
        </p:txBody>
      </p:sp>
      <p:sp>
        <p:nvSpPr>
          <p:cNvPr id="9" name="TextBox 8"/>
          <p:cNvSpPr txBox="1"/>
          <p:nvPr/>
        </p:nvSpPr>
        <p:spPr>
          <a:xfrm>
            <a:off x="3471672"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Collect feedback.</a:t>
            </a:r>
          </a:p>
          <a:p>
            <a:pPr>
              <a:spcAft>
                <a:spcPts val="300"/>
              </a:spcAft>
            </a:pPr>
            <a:r>
              <a:rPr sz="1600" b="0">
                <a:solidFill>
                  <a:srgbClr val="000000"/>
                </a:solidFill>
                <a:latin typeface="Georgia"/>
              </a:rPr>
              <a:t>Measure correctness</a:t>
            </a:r>
          </a:p>
          <a:p>
            <a:pPr>
              <a:spcAft>
                <a:spcPts val="300"/>
              </a:spcAft>
            </a:pPr>
            <a:r>
              <a:rPr sz="1600" b="0">
                <a:solidFill>
                  <a:srgbClr val="000000"/>
                </a:solidFill>
                <a:latin typeface="Georgia"/>
              </a:rPr>
              <a:t>and interpretation time.</a:t>
            </a:r>
          </a:p>
        </p:txBody>
      </p:sp>
      <p:sp>
        <p:nvSpPr>
          <p:cNvPr id="10" name="Rectangle 9"/>
          <p:cNvSpPr/>
          <p:nvPr/>
        </p:nvSpPr>
        <p:spPr>
          <a:xfrm>
            <a:off x="6028944" y="1783080"/>
            <a:ext cx="2474976" cy="2423160"/>
          </a:xfrm>
          <a:prstGeom prst="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66104" y="1947672"/>
            <a:ext cx="2200656" cy="502920"/>
          </a:xfrm>
          <a:prstGeom prst="rect">
            <a:avLst/>
          </a:prstGeom>
          <a:noFill/>
        </p:spPr>
        <p:txBody>
          <a:bodyPr wrap="square" lIns="36576" rIns="36576" tIns="0" bIns="0">
            <a:spAutoFit/>
          </a:bodyPr>
          <a:lstStyle/>
          <a:p>
            <a:pPr>
              <a:spcAft>
                <a:spcPts val="600"/>
              </a:spcAft>
            </a:pPr>
            <a:r>
              <a:rPr sz="1700" b="1">
                <a:solidFill>
                  <a:srgbClr val="8F7B87"/>
                </a:solidFill>
                <a:latin typeface="Arial"/>
              </a:rPr>
              <a:t>Then: supervised pilot</a:t>
            </a:r>
          </a:p>
        </p:txBody>
      </p:sp>
      <p:sp>
        <p:nvSpPr>
          <p:cNvPr id="12" name="TextBox 11"/>
          <p:cNvSpPr txBox="1"/>
          <p:nvPr/>
        </p:nvSpPr>
        <p:spPr>
          <a:xfrm>
            <a:off x="6166104" y="2596896"/>
            <a:ext cx="2200656" cy="1463040"/>
          </a:xfrm>
          <a:prstGeom prst="rect">
            <a:avLst/>
          </a:prstGeom>
          <a:noFill/>
        </p:spPr>
        <p:txBody>
          <a:bodyPr wrap="square" lIns="36576" rIns="36576" tIns="0" bIns="0">
            <a:spAutoFit/>
          </a:bodyPr>
          <a:lstStyle/>
          <a:p>
            <a:pPr>
              <a:spcAft>
                <a:spcPts val="300"/>
              </a:spcAft>
            </a:pPr>
            <a:r>
              <a:rPr sz="1600" b="0">
                <a:solidFill>
                  <a:srgbClr val="000000"/>
                </a:solidFill>
                <a:latin typeface="Georgia"/>
              </a:rPr>
              <a:t>Resolve errors.</a:t>
            </a:r>
          </a:p>
          <a:p>
            <a:pPr>
              <a:spcAft>
                <a:spcPts val="300"/>
              </a:spcAft>
            </a:pPr>
            <a:r>
              <a:rPr sz="1600" b="0">
                <a:solidFill>
                  <a:srgbClr val="000000"/>
                </a:solidFill>
                <a:latin typeface="Georgia"/>
              </a:rPr>
              <a:t>Agree success criteria</a:t>
            </a:r>
          </a:p>
          <a:p>
            <a:pPr>
              <a:spcAft>
                <a:spcPts val="300"/>
              </a:spcAft>
            </a:pPr>
            <a:r>
              <a:rPr sz="1600" b="0">
                <a:solidFill>
                  <a:srgbClr val="000000"/>
                </a:solidFill>
                <a:latin typeface="Georgia"/>
              </a:rPr>
              <a:t>and privacy requirements.</a:t>
            </a:r>
          </a:p>
        </p:txBody>
      </p:sp>
      <p:sp>
        <p:nvSpPr>
          <p:cNvPr id="13" name="TextBox 12"/>
          <p:cNvSpPr txBox="1"/>
          <p:nvPr/>
        </p:nvSpPr>
        <p:spPr>
          <a:xfrm>
            <a:off x="640080" y="4352544"/>
            <a:ext cx="7863840" cy="256032"/>
          </a:xfrm>
          <a:prstGeom prst="rect">
            <a:avLst/>
          </a:prstGeom>
          <a:noFill/>
        </p:spPr>
        <p:txBody>
          <a:bodyPr wrap="square" lIns="36576" rIns="36576" tIns="0" bIns="0">
            <a:spAutoFit/>
          </a:bodyPr>
          <a:lstStyle/>
          <a:p>
            <a:pPr>
              <a:spcAft>
                <a:spcPts val="600"/>
              </a:spcAft>
            </a:pPr>
            <a:r>
              <a:rPr sz="1000" b="0">
                <a:solidFill>
                  <a:srgbClr val="8F7B87"/>
                </a:solidFill>
                <a:latin typeface="Arial"/>
              </a:rPr>
              <a:t>Research justifies the experiment. Results must justify the rollout.</a:t>
            </a:r>
          </a:p>
        </p:txBody>
      </p:sp>
      <p:sp>
        <p:nvSpPr>
          <p:cNvPr id="14" name="TextBox 13"/>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Ask: a math reviewer, participating tutors, and an agreed evaluation protocol.</a:t>
            </a:r>
          </a:p>
        </p:txBody>
      </p:sp>
      <p:sp>
        <p:nvSpPr>
          <p:cNvPr id="15" name="TextBox 14"/>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
            <a:ext cx="7863840" cy="274320"/>
          </a:xfrm>
          <a:prstGeom prst="rect">
            <a:avLst/>
          </a:prstGeom>
          <a:noFill/>
        </p:spPr>
        <p:txBody>
          <a:bodyPr wrap="square" lIns="36576" rIns="36576" tIns="0" bIns="0">
            <a:spAutoFit/>
          </a:bodyPr>
          <a:lstStyle/>
          <a:p>
            <a:pPr>
              <a:spcAft>
                <a:spcPts val="600"/>
              </a:spcAft>
            </a:pPr>
            <a:r>
              <a:rPr sz="1000" b="1">
                <a:solidFill>
                  <a:srgbClr val="8F7B87"/>
                </a:solidFill>
                <a:latin typeface="Arial"/>
              </a:rPr>
              <a:t>REFERENCES AND METHODS</a:t>
            </a:r>
          </a:p>
        </p:txBody>
      </p:sp>
      <p:sp>
        <p:nvSpPr>
          <p:cNvPr id="3" name="TextBox 2"/>
          <p:cNvSpPr txBox="1"/>
          <p:nvPr/>
        </p:nvSpPr>
        <p:spPr>
          <a:xfrm>
            <a:off x="640080" y="603504"/>
            <a:ext cx="7863840" cy="1051560"/>
          </a:xfrm>
          <a:prstGeom prst="rect">
            <a:avLst/>
          </a:prstGeom>
          <a:noFill/>
        </p:spPr>
        <p:txBody>
          <a:bodyPr wrap="square" lIns="36576" rIns="36576" tIns="0" bIns="0">
            <a:spAutoFit/>
          </a:bodyPr>
          <a:lstStyle/>
          <a:p>
            <a:pPr>
              <a:spcAft>
                <a:spcPts val="600"/>
              </a:spcAft>
            </a:pPr>
            <a:r>
              <a:rPr sz="2500" b="1">
                <a:solidFill>
                  <a:srgbClr val="000000"/>
                </a:solidFill>
                <a:latin typeface="Arial"/>
              </a:rPr>
              <a:t>Every claim has a source and a limit.</a:t>
            </a:r>
          </a:p>
        </p:txBody>
      </p:sp>
      <p:sp>
        <p:nvSpPr>
          <p:cNvPr id="4" name="TextBox 3"/>
          <p:cNvSpPr txBox="1"/>
          <p:nvPr/>
        </p:nvSpPr>
        <p:spPr>
          <a:xfrm>
            <a:off x="640080" y="1700784"/>
            <a:ext cx="7863840" cy="329184"/>
          </a:xfrm>
          <a:prstGeom prst="rect">
            <a:avLst/>
          </a:prstGeom>
          <a:noFill/>
        </p:spPr>
        <p:txBody>
          <a:bodyPr wrap="square" lIns="36576" rIns="36576" tIns="0" bIns="0">
            <a:spAutoFit/>
          </a:bodyPr>
          <a:lstStyle/>
          <a:p>
            <a:pPr>
              <a:spcAft>
                <a:spcPts val="600"/>
              </a:spcAft>
            </a:pPr>
            <a:r>
              <a:rPr sz="1500" b="1">
                <a:solidFill>
                  <a:srgbClr val="000000"/>
                </a:solidFill>
                <a:latin typeface="Arial"/>
              </a:rPr>
              <a:t>EEF (2021): formative assessment and feedback</a:t>
            </a:r>
          </a:p>
        </p:txBody>
      </p:sp>
      <p:sp>
        <p:nvSpPr>
          <p:cNvPr id="5" name="TextBox 4"/>
          <p:cNvSpPr txBox="1"/>
          <p:nvPr/>
        </p:nvSpPr>
        <p:spPr>
          <a:xfrm>
            <a:off x="640080" y="2002536"/>
            <a:ext cx="7863840" cy="228600"/>
          </a:xfrm>
          <a:prstGeom prst="rect">
            <a:avLst/>
          </a:prstGeom>
          <a:noFill/>
        </p:spPr>
        <p:txBody>
          <a:bodyPr wrap="square" lIns="36576" rIns="36576" tIns="0" bIns="0">
            <a:spAutoFit/>
          </a:bodyPr>
          <a:lstStyle/>
          <a:p>
            <a:pPr>
              <a:spcAft>
                <a:spcPts val="600"/>
              </a:spcAft>
            </a:pPr>
            <a:r>
              <a:rPr sz="1000" b="0">
                <a:solidFill>
                  <a:srgbClr val="8F7B87"/>
                </a:solidFill>
                <a:latin typeface="Arial"/>
                <a:hlinkClick r:id="rId3"/>
              </a:rPr>
              <a:t>https://educationendowmentfoundation.org.uk/education-evidence/guidance-reports/feedback</a:t>
            </a:r>
          </a:p>
        </p:txBody>
      </p:sp>
      <p:sp>
        <p:nvSpPr>
          <p:cNvPr id="6" name="TextBox 5"/>
          <p:cNvSpPr txBox="1"/>
          <p:nvPr/>
        </p:nvSpPr>
        <p:spPr>
          <a:xfrm>
            <a:off x="640080" y="2313432"/>
            <a:ext cx="7863840" cy="329184"/>
          </a:xfrm>
          <a:prstGeom prst="rect">
            <a:avLst/>
          </a:prstGeom>
          <a:noFill/>
        </p:spPr>
        <p:txBody>
          <a:bodyPr wrap="square" lIns="36576" rIns="36576" tIns="0" bIns="0">
            <a:spAutoFit/>
          </a:bodyPr>
          <a:lstStyle/>
          <a:p>
            <a:pPr>
              <a:spcAft>
                <a:spcPts val="600"/>
              </a:spcAft>
            </a:pPr>
            <a:r>
              <a:rPr sz="1500" b="1">
                <a:solidFill>
                  <a:srgbClr val="000000"/>
                </a:solidFill>
                <a:latin typeface="Arial"/>
              </a:rPr>
              <a:t>Wei et al. (2022): model reasoning benchmarks</a:t>
            </a:r>
          </a:p>
        </p:txBody>
      </p:sp>
      <p:sp>
        <p:nvSpPr>
          <p:cNvPr id="7" name="TextBox 6"/>
          <p:cNvSpPr txBox="1"/>
          <p:nvPr/>
        </p:nvSpPr>
        <p:spPr>
          <a:xfrm>
            <a:off x="640080" y="2615184"/>
            <a:ext cx="7863840" cy="228600"/>
          </a:xfrm>
          <a:prstGeom prst="rect">
            <a:avLst/>
          </a:prstGeom>
          <a:noFill/>
        </p:spPr>
        <p:txBody>
          <a:bodyPr wrap="square" lIns="36576" rIns="36576" tIns="0" bIns="0">
            <a:spAutoFit/>
          </a:bodyPr>
          <a:lstStyle/>
          <a:p>
            <a:pPr>
              <a:spcAft>
                <a:spcPts val="600"/>
              </a:spcAft>
            </a:pPr>
            <a:r>
              <a:rPr sz="1000" b="0">
                <a:solidFill>
                  <a:srgbClr val="8F7B87"/>
                </a:solidFill>
                <a:latin typeface="Arial"/>
                <a:hlinkClick r:id="rId4"/>
              </a:rPr>
              <a:t>https://arxiv.org/abs/2201.11903</a:t>
            </a:r>
          </a:p>
        </p:txBody>
      </p:sp>
      <p:sp>
        <p:nvSpPr>
          <p:cNvPr id="8" name="TextBox 7"/>
          <p:cNvSpPr txBox="1"/>
          <p:nvPr/>
        </p:nvSpPr>
        <p:spPr>
          <a:xfrm>
            <a:off x="640080" y="2926080"/>
            <a:ext cx="7863840" cy="329184"/>
          </a:xfrm>
          <a:prstGeom prst="rect">
            <a:avLst/>
          </a:prstGeom>
          <a:noFill/>
        </p:spPr>
        <p:txBody>
          <a:bodyPr wrap="square" lIns="36576" rIns="36576" tIns="0" bIns="0">
            <a:spAutoFit/>
          </a:bodyPr>
          <a:lstStyle/>
          <a:p>
            <a:pPr>
              <a:spcAft>
                <a:spcPts val="600"/>
              </a:spcAft>
            </a:pPr>
            <a:r>
              <a:rPr sz="1500" b="1">
                <a:solidFill>
                  <a:srgbClr val="000000"/>
                </a:solidFill>
                <a:latin typeface="Arial"/>
              </a:rPr>
              <a:t>Ontario MTH1W: curriculum context, not certified item provenance</a:t>
            </a:r>
          </a:p>
        </p:txBody>
      </p:sp>
      <p:sp>
        <p:nvSpPr>
          <p:cNvPr id="9" name="TextBox 8"/>
          <p:cNvSpPr txBox="1"/>
          <p:nvPr/>
        </p:nvSpPr>
        <p:spPr>
          <a:xfrm>
            <a:off x="640080" y="3227832"/>
            <a:ext cx="7863840" cy="228600"/>
          </a:xfrm>
          <a:prstGeom prst="rect">
            <a:avLst/>
          </a:prstGeom>
          <a:noFill/>
        </p:spPr>
        <p:txBody>
          <a:bodyPr wrap="square" lIns="36576" rIns="36576" tIns="0" bIns="0">
            <a:spAutoFit/>
          </a:bodyPr>
          <a:lstStyle/>
          <a:p>
            <a:pPr>
              <a:spcAft>
                <a:spcPts val="600"/>
              </a:spcAft>
            </a:pPr>
            <a:r>
              <a:rPr sz="1000" b="0">
                <a:solidFill>
                  <a:srgbClr val="8F7B87"/>
                </a:solidFill>
                <a:latin typeface="Arial"/>
                <a:hlinkClick r:id="rId5"/>
              </a:rPr>
              <a:t>https://www.dcp.edu.gov.on.ca/en/curriculum/secondary-mathematics/courses/mth1w</a:t>
            </a:r>
          </a:p>
        </p:txBody>
      </p:sp>
      <p:sp>
        <p:nvSpPr>
          <p:cNvPr id="10" name="TextBox 9"/>
          <p:cNvSpPr txBox="1"/>
          <p:nvPr/>
        </p:nvSpPr>
        <p:spPr>
          <a:xfrm>
            <a:off x="640080" y="3538728"/>
            <a:ext cx="7863840" cy="329184"/>
          </a:xfrm>
          <a:prstGeom prst="rect">
            <a:avLst/>
          </a:prstGeom>
          <a:noFill/>
        </p:spPr>
        <p:txBody>
          <a:bodyPr wrap="square" lIns="36576" rIns="36576" tIns="0" bIns="0">
            <a:spAutoFit/>
          </a:bodyPr>
          <a:lstStyle/>
          <a:p>
            <a:pPr>
              <a:spcAft>
                <a:spcPts val="600"/>
              </a:spcAft>
            </a:pPr>
            <a:r>
              <a:rPr sz="1500" b="1">
                <a:solidFill>
                  <a:srgbClr val="000000"/>
                </a:solidFill>
                <a:latin typeface="Arial"/>
              </a:rPr>
              <a:t>Michael Alley: assertion-evidence presentation method</a:t>
            </a:r>
          </a:p>
        </p:txBody>
      </p:sp>
      <p:sp>
        <p:nvSpPr>
          <p:cNvPr id="11" name="TextBox 10"/>
          <p:cNvSpPr txBox="1"/>
          <p:nvPr/>
        </p:nvSpPr>
        <p:spPr>
          <a:xfrm>
            <a:off x="640080" y="3840480"/>
            <a:ext cx="7863840" cy="228600"/>
          </a:xfrm>
          <a:prstGeom prst="rect">
            <a:avLst/>
          </a:prstGeom>
          <a:noFill/>
        </p:spPr>
        <p:txBody>
          <a:bodyPr wrap="square" lIns="36576" rIns="36576" tIns="0" bIns="0">
            <a:spAutoFit/>
          </a:bodyPr>
          <a:lstStyle/>
          <a:p>
            <a:pPr>
              <a:spcAft>
                <a:spcPts val="600"/>
              </a:spcAft>
            </a:pPr>
            <a:r>
              <a:rPr sz="1000" b="0">
                <a:solidFill>
                  <a:srgbClr val="8F7B87"/>
                </a:solidFill>
                <a:latin typeface="Arial"/>
                <a:hlinkClick r:id="rId6"/>
              </a:rPr>
              <a:t>https://www.assertion-evidence.com/</a:t>
            </a:r>
          </a:p>
        </p:txBody>
      </p:sp>
      <p:sp>
        <p:nvSpPr>
          <p:cNvPr id="12" name="TextBox 11"/>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Local tests are engineering evidence. Tutor and live-model outcomes remain pending.</a:t>
            </a:r>
          </a:p>
        </p:txBody>
      </p:sp>
      <p:sp>
        <p:nvSpPr>
          <p:cNvPr id="13" name="TextBox 12"/>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12 / 13</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4"/>
          <p:cNvSpPr txBox="1"/>
          <p:nvPr>
            <p:ph type="title"/>
          </p:nvPr>
        </p:nvSpPr>
        <p:spPr>
          <a:xfrm>
            <a:off x="2318100" y="113175"/>
            <a:ext cx="45078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CREDITS</a:t>
            </a:r>
            <a:endParaRPr/>
          </a:p>
        </p:txBody>
      </p:sp>
      <p:sp>
        <p:nvSpPr>
          <p:cNvPr id="364" name="Google Shape;364;p34"/>
          <p:cNvSpPr txBox="1"/>
          <p:nvPr>
            <p:ph idx="1" type="body"/>
          </p:nvPr>
        </p:nvSpPr>
        <p:spPr>
          <a:xfrm>
            <a:off x="617100" y="1269863"/>
            <a:ext cx="7909800" cy="3215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400"/>
              <a:t>Special thanks to all the people who made and released these awesome resources for free:</a:t>
            </a:r>
            <a:endParaRPr sz="2400"/>
          </a:p>
          <a:p>
            <a:pPr indent="-381000" lvl="0" marL="457200" rtl="0" algn="l">
              <a:lnSpc>
                <a:spcPct val="115000"/>
              </a:lnSpc>
              <a:spcBef>
                <a:spcPts val="600"/>
              </a:spcBef>
              <a:spcAft>
                <a:spcPts val="0"/>
              </a:spcAft>
              <a:buClr>
                <a:schemeClr val="dk1"/>
              </a:buClr>
              <a:buSzPts val="2400"/>
              <a:buChar char="○"/>
            </a:pPr>
            <a:r>
              <a:rPr lang="en" sz="2400"/>
              <a:t>Presentation template by </a:t>
            </a:r>
            <a:r>
              <a:rPr lang="en" sz="2400" u="sng">
                <a:hlinkClick r:id="rId3"/>
              </a:rPr>
              <a:t>SlidesCarnival</a:t>
            </a:r>
            <a:endParaRPr sz="2400"/>
          </a:p>
          <a:p>
            <a:pPr indent="-381000" lvl="0" marL="457200" rtl="0" algn="l">
              <a:lnSpc>
                <a:spcPct val="115000"/>
              </a:lnSpc>
              <a:spcBef>
                <a:spcPts val="0"/>
              </a:spcBef>
              <a:spcAft>
                <a:spcPts val="0"/>
              </a:spcAft>
              <a:buClr>
                <a:schemeClr val="dk1"/>
              </a:buClr>
              <a:buSzPts val="2400"/>
              <a:buChar char="○"/>
            </a:pPr>
            <a:r>
              <a:rPr lang="en" sz="2400"/>
              <a:t>Photographs by </a:t>
            </a:r>
            <a:r>
              <a:rPr lang="en" sz="2400" u="sng">
                <a:hlinkClick r:id="rId4"/>
              </a:rPr>
              <a:t>Unsplash</a:t>
            </a:r>
            <a:endParaRPr sz="2400"/>
          </a:p>
          <a:p>
            <a:pPr indent="-381000" lvl="0" marL="457200" rtl="0" algn="l">
              <a:lnSpc>
                <a:spcPct val="115000"/>
              </a:lnSpc>
              <a:spcBef>
                <a:spcPts val="0"/>
              </a:spcBef>
              <a:spcAft>
                <a:spcPts val="0"/>
              </a:spcAft>
              <a:buClr>
                <a:schemeClr val="dk1"/>
              </a:buClr>
              <a:buSzPts val="2400"/>
              <a:buChar char="○"/>
            </a:pPr>
            <a:r>
              <a:rPr lang="en" sz="2400"/>
              <a:t>Backgrounds by </a:t>
            </a:r>
            <a:r>
              <a:rPr lang="en" sz="2400" u="sng">
                <a:hlinkClick r:id="rId5"/>
              </a:rPr>
              <a:t>SubtlePatterns</a:t>
            </a:r>
            <a:endParaRPr sz="2400"/>
          </a:p>
        </p:txBody>
      </p:sp>
      <p:sp>
        <p:nvSpPr>
          <p:cNvPr id="365" name="Google Shape;365;p34"/>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66" name="TextBox 365"/>
          <p:cNvSpPr txBox="1"/>
          <p:nvPr/>
        </p:nvSpPr>
        <p:spPr>
          <a:xfrm>
            <a:off x="640080" y="3749039"/>
            <a:ext cx="7863840" cy="612648"/>
          </a:xfrm>
          <a:prstGeom prst="rect">
            <a:avLst/>
          </a:prstGeom>
          <a:noFill/>
        </p:spPr>
        <p:txBody>
          <a:bodyPr wrap="square" lIns="36576" rIns="36576" tIns="0" bIns="0">
            <a:spAutoFit/>
          </a:bodyPr>
          <a:lstStyle/>
          <a:p>
            <a:pPr>
              <a:spcAft>
                <a:spcPts val="600"/>
              </a:spcAft>
            </a:pPr>
            <a:r>
              <a:rPr sz="1200" b="0">
                <a:solidFill>
                  <a:srgbClr val="8F7B87"/>
                </a:solidFill>
                <a:latin typeface="Arial"/>
              </a:rPr>
              <a:t>Beatrice Google Slides / PowerPoint template, adapted for Mathify.</a:t>
            </a:r>
          </a:p>
          <a:p>
            <a:pPr>
              <a:spcAft>
                <a:spcPts val="600"/>
              </a:spcAft>
            </a:pPr>
            <a:r>
              <a:rPr sz="1200" b="0">
                <a:solidFill>
                  <a:srgbClr val="8F7B87"/>
                </a:solidFill>
                <a:latin typeface="Arial"/>
              </a:rPr>
              <a:t>CC BY 4.0. Colors retained; type adapted to Arial / Georgia for compatibility.</a:t>
            </a:r>
          </a:p>
        </p:txBody>
      </p:sp>
      <p:sp>
        <p:nvSpPr>
          <p:cNvPr id="367" name="TextBox 366"/>
          <p:cNvSpPr txBox="1"/>
          <p:nvPr/>
        </p:nvSpPr>
        <p:spPr>
          <a:xfrm>
            <a:off x="640080" y="4389120"/>
            <a:ext cx="7863840" cy="228600"/>
          </a:xfrm>
          <a:prstGeom prst="rect">
            <a:avLst/>
          </a:prstGeom>
          <a:noFill/>
        </p:spPr>
        <p:txBody>
          <a:bodyPr wrap="square" lIns="36576" rIns="36576" tIns="0" bIns="0">
            <a:spAutoFit/>
          </a:bodyPr>
          <a:lstStyle/>
          <a:p>
            <a:pPr>
              <a:spcAft>
                <a:spcPts val="600"/>
              </a:spcAft>
            </a:pPr>
            <a:r>
              <a:rPr sz="1000" b="0">
                <a:solidFill>
                  <a:srgbClr val="8F7B87"/>
                </a:solidFill>
                <a:latin typeface="Arial"/>
                <a:hlinkClick r:id="rId6"/>
              </a:rPr>
              <a:t>slidescarnival.com/template/beatrice-free-presentation-template/66</a:t>
            </a:r>
          </a:p>
        </p:txBody>
      </p:sp>
      <p:sp>
        <p:nvSpPr>
          <p:cNvPr id="368" name="TextBox 367"/>
          <p:cNvSpPr txBox="1"/>
          <p:nvPr/>
        </p:nvSpPr>
        <p:spPr>
          <a:xfrm>
            <a:off x="640080" y="4681728"/>
            <a:ext cx="722376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Presentation template by SlidesCarnival. Original resource credits retained.</a:t>
            </a:r>
          </a:p>
        </p:txBody>
      </p:sp>
      <p:sp>
        <p:nvSpPr>
          <p:cNvPr id="369" name="TextBox 368"/>
          <p:cNvSpPr txBox="1"/>
          <p:nvPr/>
        </p:nvSpPr>
        <p:spPr>
          <a:xfrm>
            <a:off x="8001000" y="4681728"/>
            <a:ext cx="548640" cy="274320"/>
          </a:xfrm>
          <a:prstGeom prst="rect">
            <a:avLst/>
          </a:prstGeom>
          <a:noFill/>
        </p:spPr>
        <p:txBody>
          <a:bodyPr wrap="square" lIns="36576" rIns="36576" tIns="0" bIns="0">
            <a:spAutoFit/>
          </a:bodyPr>
          <a:lstStyle/>
          <a:p>
            <a:pPr>
              <a:spcAft>
                <a:spcPts val="600"/>
              </a:spcAft>
            </a:pPr>
            <a:r>
              <a:rPr sz="900" b="0">
                <a:solidFill>
                  <a:srgbClr val="8F7B87"/>
                </a:solidFill>
                <a:latin typeface="Arial"/>
              </a:rPr>
              <a:t>13 / 13</a:t>
            </a:r>
          </a:p>
        </p:txBody>
      </p:sp>
    </p:spTree>
  </p:cSld>
  <p:clrMapOvr>
    <a:masterClrMapping/>
  </p:clrMapOvr>
</p:sld>
</file>

<file path=ppt/theme/theme1.xml><?xml version="1.0" encoding="utf-8"?>
<a:theme xmlns:a="http://schemas.openxmlformats.org/drawingml/2006/main" xmlns:r="http://schemas.openxmlformats.org/officeDocument/2006/relationships" name="Beatrice template">
  <a:themeElements>
    <a:clrScheme name="Custom 347">
      <a:dk1>
        <a:srgbClr val="1D1D1B"/>
      </a:dk1>
      <a:lt1>
        <a:srgbClr val="F3EFEA"/>
      </a:lt1>
      <a:dk2>
        <a:srgbClr val="434343"/>
      </a:dk2>
      <a:lt2>
        <a:srgbClr val="FFFFFF"/>
      </a:lt2>
      <a:accent1>
        <a:srgbClr val="8F7B87"/>
      </a:accent1>
      <a:accent2>
        <a:srgbClr val="A797A1"/>
      </a:accent2>
      <a:accent3>
        <a:srgbClr val="C0B5BC"/>
      </a:accent3>
      <a:accent4>
        <a:srgbClr val="E4DDE1"/>
      </a:accent4>
      <a:accent5>
        <a:srgbClr val="EFECED"/>
      </a:accent5>
      <a:accent6>
        <a:srgbClr val="F3EFEA"/>
      </a:accent6>
      <a:hlink>
        <a:srgbClr val="1D1D1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Mathify Tutor Brief: Research and Evidence</dc:title>
  <cp:lastModifiedBy>python-pptx</cp:lastModifiedBy>
  <cp:revision>1</cp:revision>
  <dcterms:modified xsi:type="dcterms:W3CDTF">2026-11-01T04:45:52Z</dcterms:modified>
  <dc:subject>No tutor responses yet.</dc:subject>
  <dc:creator>Mathify project team</dc:creator>
  <dc:description>Adapted from SlidesCarnival Beatrice, CC BY 4.0.</dc:description>
</cp:coreProperties>
</file>